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Readex Pro" pitchFamily="2" charset="-78"/>
      <p:regular r:id="rId25"/>
      <p:bold r:id="rId26"/>
    </p:embeddedFont>
    <p:embeddedFont>
      <p:font typeface="Readex Pro Light" pitchFamily="2" charset="-78"/>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8ED9858-D163-4338-9E88-1F424354888F}">
  <a:tblStyle styleId="{B8ED9858-D163-4338-9E88-1F424354888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نقدّم بيان السُّنّة ضمن المسار الرابع: أدوات المعرفة والتحقق لتمكين المعرّفين بالإسلام. يبدأ المستخدم بسؤال طبيعي، ثم يصل إلى النص ومصدره وحالة الدليل. هذا عرض نموذج أولي قابل للفحص، مع بيان ما يحتاج الاستكمال.</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الاقتراح الأصلي المرفق؛ قالب عروض المشاركين المرفق</a:t>
            </a:r>
            <a:endParaRPr/>
          </a:p>
          <a:p>
            <a:pPr marL="0" lvl="0" indent="0" algn="l">
              <a:spcBef>
                <a:spcPts val="0"/>
              </a:spcBef>
              <a:spcAft>
                <a:spcPts val="0"/>
              </a:spcAft>
              <a:buNone/>
            </a:pPr>
            <a:r>
              <a:rPr sz="1200"/>
              <a:t>planning/hadith_product_blueprint.md</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الفكرة بدأت من حاجة بحثية رآها الفريق في إعداد الدراسات الحديثية والتشجير. لا نقدّم زمن «أيام إلى دقائق» بوصفه نتيجة مقاسة. معيارنا: تحسين الوصول والتحقق، وإظهار المصدر وحالة الدليل، والإحالة عندما لا تكفي الأدلة.</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الاقتراح الأصلي، الشرائح 2–6 و9</a:t>
            </a:r>
            <a:endParaRPr/>
          </a:p>
          <a:p>
            <a:pPr marL="0" lvl="0" indent="0" algn="l">
              <a:spcBef>
                <a:spcPts val="0"/>
              </a:spcBef>
              <a:spcAft>
                <a:spcPts val="0"/>
              </a:spcAft>
              <a:buNone/>
            </a:pPr>
            <a:r>
              <a:rPr sz="1200"/>
              <a:t>planning/sources/hackathon-brief.pdf</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المستويات الثلاثة هي مدخل موحّد لخدمة المعرّفين بالإسلام، ثم التوسع إلى معرفة الحديث والبحث المتخصص. الإعدادات المتخصصة هي تعليمات وأدوات على نماذج أساسية؛ لا ندّعي تدريب نموذج تأسيسي جديد.</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planning/hadith_product_blueprint.md</a:t>
            </a:r>
            <a:endParaRPr/>
          </a:p>
          <a:p>
            <a:pPr marL="0" lvl="0" indent="0" algn="l">
              <a:spcBef>
                <a:spcPts val="0"/>
              </a:spcBef>
              <a:spcAft>
                <a:spcPts val="0"/>
              </a:spcAft>
              <a:buNone/>
            </a:pPr>
            <a:r>
              <a:rPr sz="1200"/>
              <a:t>poc/theme/</a:t>
            </a:r>
            <a:endParaRPr/>
          </a:p>
          <a:p>
            <a:pPr marL="0" lvl="0" indent="0" algn="l">
              <a:spcBef>
                <a:spcPts val="0"/>
              </a:spcBef>
              <a:spcAft>
                <a:spcPts val="0"/>
              </a:spcAft>
              <a:buNone/>
            </a:pPr>
            <a:r>
              <a:rPr sz="1200"/>
              <a:t>planning/model_exports/</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هذه لقطة فعلية للواجهة المحلية وليست رسمًا تخيليًا. طوّرنا مسارين تجريبيين إلى جانب واجهة Open WebUI الأصلية، مع تبديل بينها. نحتفظ بمربع المحادثة ونستخدم الموضوعات والحالات لتقليل عبء كتابة الطلب.</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poc/theme/screenshots/bayan-current-journey.png</a:t>
            </a:r>
            <a:endParaRPr/>
          </a:p>
          <a:p>
            <a:pPr marL="0" lvl="0" indent="0" algn="l">
              <a:spcBef>
                <a:spcPts val="0"/>
              </a:spcBef>
              <a:spcAft>
                <a:spcPts val="0"/>
              </a:spcAft>
              <a:buNone/>
            </a:pPr>
            <a:r>
              <a:rPr sz="1200"/>
              <a:t>https://docs.openwebui.com/</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مثال العرض: الرحمة وحسن الخلق، جمهور متعرّف على الإسلام، وصيغة سؤال وجواب. تظهر المصادر أولًا، وتبقى المادة التعليمية المقترحة قيد المراجعة العلمية. وجود عقود المحتوى في مساحة العمل لا يعني أن جميع نسخ الأدوات مفعلة حاليًا في التشغيل.</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poc/theme/screenshots/bayan-p1-mobile.png</a:t>
            </a:r>
            <a:endParaRPr/>
          </a:p>
          <a:p>
            <a:pPr marL="0" lvl="0" indent="0" algn="l">
              <a:spcBef>
                <a:spcPts val="0"/>
              </a:spcBef>
              <a:spcAft>
                <a:spcPts val="0"/>
              </a:spcAft>
              <a:buNone/>
            </a:pPr>
            <a:r>
              <a:rPr sz="1200"/>
              <a:t>tools/hadith_bayan_topics_tool.py</a:t>
            </a:r>
            <a:endParaRPr/>
          </a:p>
          <a:p>
            <a:pPr marL="0" lvl="0" indent="0" algn="l">
              <a:spcBef>
                <a:spcPts val="0"/>
              </a:spcBef>
              <a:spcAft>
                <a:spcPts val="0"/>
              </a:spcAft>
              <a:buNone/>
            </a:pPr>
            <a:r>
              <a:rPr sz="1200"/>
              <a:t>planning/agent_1_round2_delivery_report.md</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بدأ التحليل بموضوعات تخدم أسئلة المستفيد، ثم اختيرت شواهد لها معرفات ثابتة. تشمل الحزمة ثلاثة أنواع من الجمهور وثلاث صيغ عرض. لا ندّعي أن هذه الموضوعات تصنيف شامل لجميع أبواب الكتب الستة؛ إنها نواة تعليمية منتقاة.</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planning/agent_1_round2_delivery_report.md</a:t>
            </a:r>
            <a:endParaRPr/>
          </a:p>
          <a:p>
            <a:pPr marL="0" lvl="0" indent="0" algn="l">
              <a:spcBef>
                <a:spcPts val="0"/>
              </a:spcBef>
              <a:spcAft>
                <a:spcPts val="0"/>
              </a:spcAft>
              <a:buNone/>
            </a:pPr>
            <a:r>
              <a:rPr sz="1200"/>
              <a:t>scratch/final_deck_build/evidence-check.json</a:t>
            </a:r>
            <a:endParaRPr/>
          </a:p>
          <a:p>
            <a:pPr marL="0" lvl="0" indent="0" algn="l">
              <a:spcBef>
                <a:spcPts val="0"/>
              </a:spcBef>
              <a:spcAft>
                <a:spcPts val="0"/>
              </a:spcAft>
              <a:buNone/>
            </a:pPr>
            <a:r>
              <a:rPr sz="1200"/>
              <a:t>poc/phrase_search/</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هذه حالات تبنيناها من تجارب المحادثة. تم فحص استدعاء الأدوات في محادثات فعلية، مع بقاء تقييم صحة كل استنتاج علمي مستقلًا. دور الحالة الجاهزة اختيار إعداد مناسب وكتابة طلب واضح، ثم العودة إلى الأدلة. لا يساوي نجاح استدعاء أداة اعتماد كل مخرجاتها.</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planning/runtime_inventory_2026-10-06.json</a:t>
            </a:r>
            <a:endParaRPr/>
          </a:p>
          <a:p>
            <a:pPr marL="0" lvl="0" indent="0" algn="l">
              <a:spcBef>
                <a:spcPts val="0"/>
              </a:spcBef>
              <a:spcAft>
                <a:spcPts val="0"/>
              </a:spcAft>
              <a:buNone/>
            </a:pPr>
            <a:r>
              <a:rPr sz="1200"/>
              <a:t>planning/round2_acceptance_review.md</a:t>
            </a:r>
            <a:endParaRPr/>
          </a:p>
          <a:p>
            <a:pPr marL="0" lvl="0" indent="0" algn="l">
              <a:spcBef>
                <a:spcPts val="0"/>
              </a:spcBef>
              <a:spcAft>
                <a:spcPts val="0"/>
              </a:spcAft>
              <a:buNone/>
            </a:pPr>
            <a:r>
              <a:rPr sz="1200"/>
              <a:t>poc/theme/</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مثال أصلي يجمع ح والتحويل وطريقين وعبارتي عن أبيه وعن جده. اتجاه الرسم يعرض تسلسل السند من بداية الرواية إلى نهايتها. الأسماء مجردة من التشكيل للتيسير؛ الضمائر محفوظة كما هي دون تعيين غير موثق. هذا رسم تحريري قابل للتعديل من النص، وليس شهادة بصحة الاستخراج الآلي الشامل. الفرع الثاني: إسحاق وابن أبي خلف، عن زكرياء، عن عبيد الله، عن زيد؛ يلتقي مع عمرو عند سعيد.</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occurrence_id: itqan:muslim:32:8:6900c9057c27</a:t>
            </a:r>
            <a:endParaRPr/>
          </a:p>
          <a:p>
            <a:pPr marL="0" lvl="0" indent="0" algn="l">
              <a:spcBef>
                <a:spcPts val="0"/>
              </a:spcBef>
              <a:spcAft>
                <a:spcPts val="0"/>
              </a:spcAft>
              <a:buNone/>
            </a:pPr>
            <a:r>
              <a:rPr sz="1200"/>
              <a:t>https://github.com/R3GENESI5/Itqan/blob/199d870da5b726356b4a8dbaa096140cffb7d0ab/app/data/sunni/muslim/32.json</a:t>
            </a:r>
            <a:endParaRPr/>
          </a:p>
          <a:p>
            <a:pPr marL="0" lvl="0" indent="0" algn="l">
              <a:spcBef>
                <a:spcPts val="0"/>
              </a:spcBef>
              <a:spcAft>
                <a:spcPts val="0"/>
              </a:spcAft>
              <a:buNone/>
            </a:pPr>
            <a:r>
              <a:rPr sz="1200"/>
              <a:t>scratch/final_deck_build/kinship_examples.json</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هذه العائلات البحثية تحوّل البحث إلى قصة قابلة للفحص: مواضع أصلية، اختلاف ألفاظ، مدارات، وأدلة. ملف الكسوف الحالي يتضمن ثمانية سجلات من أبي داود؛ لا نعرضه بوصفه تغطية مكتملة للكتب الستة رغم نطاق البحث المقصود. شبكة شاملة بين الكتب تبقى مرتبطة بحدود المطابقة وتوثيق كل رابط.</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planning/report_families/family_01_niyyah.json</a:t>
            </a:r>
            <a:endParaRPr/>
          </a:p>
          <a:p>
            <a:pPr marL="0" lvl="0" indent="0" algn="l">
              <a:spcBef>
                <a:spcPts val="0"/>
              </a:spcBef>
              <a:spcAft>
                <a:spcPts val="0"/>
              </a:spcAft>
              <a:buNone/>
            </a:pPr>
            <a:r>
              <a:rPr sz="1200"/>
              <a:t>planning/report_families/family_02_khayran_aw_liyasmut.json</a:t>
            </a:r>
            <a:endParaRPr/>
          </a:p>
          <a:p>
            <a:pPr marL="0" lvl="0" indent="0" algn="l">
              <a:spcBef>
                <a:spcPts val="0"/>
              </a:spcBef>
              <a:spcAft>
                <a:spcPts val="0"/>
              </a:spcAft>
              <a:buNone/>
            </a:pPr>
            <a:r>
              <a:rPr sz="1200"/>
              <a:t>planning/report_families/family_03_kusuf_tahweel.json</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الاسترجاع قبل الإجابة هو نهجنا الحالي. أدوات البحث والتخريج والشرح والرجال والإسناد تتشارك عقد استجابة. الواجهة مبنية فوق Open WebUI المتاح المصدر، ولم نبن محرك المحادثة من الصفر. Native tool calling وواجهات API مثبتة، لكن MCP والنظام المستقل متعدد الوكلاء ليسا ضمن الأدلة الحالية على تشغيل Hadith الحي.</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https://docs.openwebui.com/</a:t>
            </a:r>
            <a:endParaRPr/>
          </a:p>
          <a:p>
            <a:pPr marL="0" lvl="0" indent="0" algn="l">
              <a:spcBef>
                <a:spcPts val="0"/>
              </a:spcBef>
              <a:spcAft>
                <a:spcPts val="0"/>
              </a:spcAft>
              <a:buNone/>
            </a:pPr>
            <a:r>
              <a:rPr sz="1200"/>
              <a:t>https://github.com/open-webui/open-webui</a:t>
            </a:r>
            <a:endParaRPr/>
          </a:p>
          <a:p>
            <a:pPr marL="0" lvl="0" indent="0" algn="l">
              <a:spcBef>
                <a:spcPts val="0"/>
              </a:spcBef>
              <a:spcAft>
                <a:spcPts val="0"/>
              </a:spcAft>
              <a:buNone/>
            </a:pPr>
            <a:r>
              <a:rPr sz="1200"/>
              <a:t>planning/runtime_inventory_2026-10-06.json</a:t>
            </a:r>
            <a:endParaRPr/>
          </a:p>
          <a:p>
            <a:pPr marL="0" lvl="0" indent="0" algn="l">
              <a:spcBef>
                <a:spcPts val="0"/>
              </a:spcBef>
              <a:spcAft>
                <a:spcPts val="0"/>
              </a:spcAft>
              <a:buNone/>
            </a:pPr>
            <a:r>
              <a:rPr sz="1200"/>
              <a:t>tools/hadith_contract_helper.py</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عقد الاستجابة يقدّم status وdata وevidence وcoverage وwarnings وdataset_version وretrieved_at. لا تُستنتج رتبة راوٍ من رتبة في مصدر آخر، ولا تُحذف الحلقة المجهولة لإظهار اتصال لم يثبته النص. المراجعة متعددة النماذج تساعد التطوير، والاعتماد العلمي يحتاج متخصصًا مسؤولًا.</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tools/hadith_contract_helper.py</a:t>
            </a:r>
            <a:endParaRPr/>
          </a:p>
          <a:p>
            <a:pPr marL="0" lvl="0" indent="0" algn="l">
              <a:spcBef>
                <a:spcPts val="0"/>
              </a:spcBef>
              <a:spcAft>
                <a:spcPts val="0"/>
              </a:spcAft>
              <a:buNone/>
            </a:pPr>
            <a:r>
              <a:rPr sz="1200"/>
              <a:t>planning/agent_1_round2_delivery_report.md</a:t>
            </a:r>
            <a:endParaRPr/>
          </a:p>
          <a:p>
            <a:pPr marL="0" lvl="0" indent="0" algn="l">
              <a:spcBef>
                <a:spcPts val="0"/>
              </a:spcBef>
              <a:spcAft>
                <a:spcPts val="0"/>
              </a:spcAft>
              <a:buNone/>
            </a:pPr>
            <a:r>
              <a:rPr sz="1200"/>
              <a:t>scratch/final_deck_build/evidence-check.json</a:t>
            </a:r>
            <a:endParaRPr/>
          </a:p>
          <a:p>
            <a:pPr marL="0" lvl="0" indent="0" algn="l">
              <a:spcBef>
                <a:spcPts val="0"/>
              </a:spcBef>
              <a:spcAft>
                <a:spcPts val="0"/>
              </a:spcAft>
              <a:buNone/>
            </a:pPr>
            <a:r>
              <a:rPr sz="1200"/>
              <a:t>tools/hadith_narrator_tool.py</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الدرر السنية والطبعات المعتمدة عبر الشاملة هما المرجعان المذكوران في إرشادات المسابقة. لا ندّعي ربطًا حيًا كاملًا بالشاملة. HadeethEnc مصدر شروح إضافي؛ وItqan بنية بيانات مساعدة وليست جهة تصحيح للحديث. العدد سجلات في الفهرس، يشمل تكرر مواضع الرواية ولا يعني أحاديث فريدة.</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https://dorar.net/hadith</a:t>
            </a:r>
            <a:endParaRPr/>
          </a:p>
          <a:p>
            <a:pPr marL="0" lvl="0" indent="0" algn="l">
              <a:spcBef>
                <a:spcPts val="0"/>
              </a:spcBef>
              <a:spcAft>
                <a:spcPts val="0"/>
              </a:spcAft>
              <a:buNone/>
            </a:pPr>
            <a:r>
              <a:rPr sz="1200"/>
              <a:t>https://shamela.ws</a:t>
            </a:r>
            <a:endParaRPr/>
          </a:p>
          <a:p>
            <a:pPr marL="0" lvl="0" indent="0" algn="l">
              <a:spcBef>
                <a:spcPts val="0"/>
              </a:spcBef>
              <a:spcAft>
                <a:spcPts val="0"/>
              </a:spcAft>
              <a:buNone/>
            </a:pPr>
            <a:r>
              <a:rPr sz="1200"/>
              <a:t>https://hadeethenc.com/api-docs/</a:t>
            </a:r>
            <a:endParaRPr/>
          </a:p>
          <a:p>
            <a:pPr marL="0" lvl="0" indent="0" algn="l">
              <a:spcBef>
                <a:spcPts val="0"/>
              </a:spcBef>
              <a:spcAft>
                <a:spcPts val="0"/>
              </a:spcAft>
              <a:buNone/>
            </a:pPr>
            <a:r>
              <a:rPr sz="1200"/>
              <a:t>https://github.com/R3GENESI5/Itqan</a:t>
            </a:r>
            <a:endParaRPr/>
          </a:p>
          <a:p>
            <a:pPr marL="0" lvl="0" indent="0" algn="l">
              <a:spcBef>
                <a:spcPts val="0"/>
              </a:spcBef>
              <a:spcAft>
                <a:spcPts val="0"/>
              </a:spcAft>
              <a:buNone/>
            </a:pPr>
            <a:r>
              <a:rPr sz="1200"/>
              <a:t>planning/sources/hackathon-brief.pdf</a:t>
            </a:r>
            <a:endParaRPr/>
          </a:p>
          <a:p>
            <a:pPr marL="0" lvl="0" indent="0" algn="l">
              <a:spcBef>
                <a:spcPts val="0"/>
              </a:spcBef>
              <a:spcAft>
                <a:spcPts val="0"/>
              </a:spcAft>
              <a:buNone/>
            </a:pPr>
            <a:r>
              <a:rPr sz="1200"/>
              <a:t>poc/phrase_search/search_index.sqlite</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شغّلنا test_hadith_backend.py: سبعة اختبارات، ستة نجحت وواحد فشل لأن valid_res عاد unavailable بدل ok. لا نجزم بسبب الشبكة دون فحص. شغّلنا test_bayan_topics.py: اثنا عشر اختبارًا ناجحًا. أعيد تشغيل planning/review_round2.py وأثبت 13 اقتباسًا حرفيًا، ورفض المعرف غير الصالح دون شبكة، واختلاف محتوى الجمهور. لا تخلط هذه اللقطة بتقرير تقييم سابق على بصمات مختلفة.</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tests/test_hadith_backend.py</a:t>
            </a:r>
            <a:endParaRPr/>
          </a:p>
          <a:p>
            <a:pPr marL="0" lvl="0" indent="0" algn="l">
              <a:spcBef>
                <a:spcPts val="0"/>
              </a:spcBef>
              <a:spcAft>
                <a:spcPts val="0"/>
              </a:spcAft>
              <a:buNone/>
            </a:pPr>
            <a:r>
              <a:rPr sz="1200"/>
              <a:t>tests/test_bayan_topics.py</a:t>
            </a:r>
            <a:endParaRPr/>
          </a:p>
          <a:p>
            <a:pPr marL="0" lvl="0" indent="0" algn="l">
              <a:spcBef>
                <a:spcPts val="0"/>
              </a:spcBef>
              <a:spcAft>
                <a:spcPts val="0"/>
              </a:spcAft>
              <a:buNone/>
            </a:pPr>
            <a:r>
              <a:rPr sz="1200"/>
              <a:t>scratch/final_deck_build/evidence-check.json</a:t>
            </a:r>
            <a:endParaRPr/>
          </a:p>
          <a:p>
            <a:pPr marL="0" lvl="0" indent="0" algn="l">
              <a:spcBef>
                <a:spcPts val="0"/>
              </a:spcBef>
              <a:spcAft>
                <a:spcPts val="0"/>
              </a:spcAft>
              <a:buNone/>
            </a:pPr>
            <a:r>
              <a:rPr sz="1200"/>
              <a:t>planning/agent_1_round2_delivery_report.md</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نقترح قياسًا قبليًا وبعديًا على مجموعة صغيرة: زمن العثور على النص، صحة العزو، فهم حالة الدليل، وإنجاز المهمة دون مساعدة. يراجع متخصص صحة النتائج البحثية. أي نسب تحسن أو ادعاء توفير أيام عمل سيضاف بعد قياس فعلي موثق.</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معيار نجاح المسار في الاقتراح الأصلي</a:t>
            </a:r>
            <a:endParaRPr/>
          </a:p>
          <a:p>
            <a:pPr marL="0" lvl="0" indent="0" algn="l">
              <a:spcBef>
                <a:spcPts val="0"/>
              </a:spcBef>
              <a:spcAft>
                <a:spcPts val="0"/>
              </a:spcAft>
              <a:buNone/>
            </a:pPr>
            <a:r>
              <a:rPr sz="1200"/>
              <a:t>planning/next_implementation_plan.md</a:t>
            </a:r>
            <a:endParaRPr/>
          </a:p>
          <a:p>
            <a:pPr marL="0" lvl="0" indent="0" algn="l">
              <a:spcBef>
                <a:spcPts val="0"/>
              </a:spcBef>
              <a:spcAft>
                <a:spcPts val="0"/>
              </a:spcAft>
              <a:buNone/>
            </a:pPr>
            <a:r>
              <a:rPr sz="1200"/>
              <a:t>هذه خطة تقييم مقترحة من الفريق، وليست بيانات مستخدمين منجزة</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دور Hermes وOpenClaw كما أوضحه محمد: الإعداد، تجربة مشاريع بديلة حتى اعتماد Open WebUI، والمساعدة في رفع المشروع وتهيئة البيئة. لا نعرضهما بوصفهما منسقين عاملين في محادثة Hadith الحالية. أسماء نماذج التطوير واردة من الفريق، ولم نثبت معرّفي Gemini وDeep. آخر جرد موثق لإعدادات محادثة Open WebUI يستخدم gpt-5.4-mini. مراجعة نموذج لآخر ليست اعتمادًا علميًا مستقلًا.</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إفادة م. محمد البشتاوي في هذه المحادثة</a:t>
            </a:r>
            <a:endParaRPr/>
          </a:p>
          <a:p>
            <a:pPr marL="0" lvl="0" indent="0" algn="l">
              <a:spcBef>
                <a:spcPts val="0"/>
              </a:spcBef>
              <a:spcAft>
                <a:spcPts val="0"/>
              </a:spcAft>
              <a:buNone/>
            </a:pPr>
            <a:r>
              <a:rPr sz="1200"/>
              <a:t>planning/runtime_inventory_2026-10-06.json</a:t>
            </a:r>
            <a:endParaRPr/>
          </a:p>
          <a:p>
            <a:pPr marL="0" lvl="0" indent="0" algn="l">
              <a:spcBef>
                <a:spcPts val="0"/>
              </a:spcBef>
              <a:spcAft>
                <a:spcPts val="0"/>
              </a:spcAft>
              <a:buNone/>
            </a:pPr>
            <a:r>
              <a:rPr sz="1200"/>
              <a:t>planning/round2_acceptance_review.md</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النسخة المعروضة نموذج محلي. لم يزود الفريق رابط نشر عام في هذه المحادثة؛ المستودع متاح كعنوان قدّمه الفريق ويجب تجربة الوصول إليه من حساب محكّم. تكاليف النموذج وزمن الاستجابة تختلف حسب المزود وحجم المهمة، ولذلك نحتاج سجل تشغيل وميزانية استخدام فعلية قبل إعلان أرقام.</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planning/next_implementation_plan.md</a:t>
            </a:r>
            <a:endParaRPr/>
          </a:p>
          <a:p>
            <a:pPr marL="0" lvl="0" indent="0" algn="l">
              <a:spcBef>
                <a:spcPts val="0"/>
              </a:spcBef>
              <a:spcAft>
                <a:spcPts val="0"/>
              </a:spcAft>
              <a:buNone/>
            </a:pPr>
            <a:r>
              <a:rPr sz="1200"/>
              <a:t>planning/agent_4_release_tasks.md</a:t>
            </a:r>
            <a:endParaRPr/>
          </a:p>
          <a:p>
            <a:pPr marL="0" lvl="0" indent="0" algn="l">
              <a:spcBef>
                <a:spcPts val="0"/>
              </a:spcBef>
              <a:spcAft>
                <a:spcPts val="0"/>
              </a:spcAft>
              <a:buNone/>
            </a:pPr>
            <a:r>
              <a:rPr sz="1200"/>
              <a:t>https://github.com/talhodhud/Hadith</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نجري تجربة تشغيل قبل التحكيم. إذا تعذر مصدر خارجي نوضح حالته ونفتح الشواهد المحلية واللقطات المسجلة، ولا نعرض اللقطة المسجلة بوصفها اتصالًا حيًا. مثال الرسم هنا تحريري من النص، ويمكن إظهاره كعينة حين لا يكون رسم المنتج قد اجتاز مراجعة كاملة.</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poc/theme/screenshots/</a:t>
            </a:r>
            <a:endParaRPr/>
          </a:p>
          <a:p>
            <a:pPr marL="0" lvl="0" indent="0" algn="l">
              <a:spcBef>
                <a:spcPts val="0"/>
              </a:spcBef>
              <a:spcAft>
                <a:spcPts val="0"/>
              </a:spcAft>
              <a:buNone/>
            </a:pPr>
            <a:r>
              <a:rPr sz="1200"/>
              <a:t>scratch/final_deck_build/kinship_examples.json</a:t>
            </a:r>
            <a:endParaRPr/>
          </a:p>
          <a:p>
            <a:pPr marL="0" lvl="0" indent="0" algn="l">
              <a:spcBef>
                <a:spcPts val="0"/>
              </a:spcBef>
              <a:spcAft>
                <a:spcPts val="0"/>
              </a:spcAft>
              <a:buNone/>
            </a:pPr>
            <a:r>
              <a:rPr sz="1200"/>
              <a:t>tests/test_hadith_backend.py</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نختم بدعوة لفحص رحلة كاملة: سؤال، نص، مصدر، وحالة دليل. رابط المستودع قدّمه الفريق. يُراجع الوصول العام قبل التسليم؛ لم يتم التحقق من نجاح النشر العام. الشرائح التالية ملاحق تفصيلية للأسئلة.</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https://github.com/talhodhud/Hadith</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الأوزان من المستخدم، ولا تمثل تقديرًا لدرجة المشروع. خصصنا مساحة لإظهار الفائدة العملية والأدلة، لا لمجرد تعداد التقنيات.</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معايير التحكيم النهائي التي نقلها المستخدم في المحادثة</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هذا تمييز بين الإمكان المعماري وحالة النسخة المحلية. جرد التشغيل السابق يحتاج تحديثًا بعد استيراد الإصلاحات. لا يجوز تحويل أسماء المكونات في خارطة الطريق إلى ادعاء بأن جميعها تعمل حاليًا.</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planning/runtime_inventory_2026-10-06.json</a:t>
            </a:r>
            <a:endParaRPr/>
          </a:p>
          <a:p>
            <a:pPr marL="0" lvl="0" indent="0" algn="l">
              <a:spcBef>
                <a:spcPts val="0"/>
              </a:spcBef>
              <a:spcAft>
                <a:spcPts val="0"/>
              </a:spcAft>
              <a:buNone/>
            </a:pPr>
            <a:r>
              <a:rPr sz="1200"/>
              <a:t>planning/agent_1_round2_delivery_report.md</a:t>
            </a:r>
            <a:endParaRPr/>
          </a:p>
          <a:p>
            <a:pPr marL="0" lvl="0" indent="0" algn="l">
              <a:spcBef>
                <a:spcPts val="0"/>
              </a:spcBef>
              <a:spcAft>
                <a:spcPts val="0"/>
              </a:spcAft>
              <a:buNone/>
            </a:pPr>
            <a:r>
              <a:rPr sz="1200"/>
              <a:t>planning/evaluation/acceptance_report.md</a:t>
            </a:r>
            <a:endParaRPr/>
          </a:p>
          <a:p>
            <a:pPr marL="0" lvl="0" indent="0" algn="l">
              <a:spcBef>
                <a:spcPts val="0"/>
              </a:spcBef>
              <a:spcAft>
                <a:spcPts val="0"/>
              </a:spcAft>
              <a:buNone/>
            </a:pPr>
            <a:r>
              <a:rPr sz="1200"/>
              <a:t>إفادة الفريق عن Hermes وOpenClaw</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المرجعان المحددان للتحقق في إرشادات التحدي هما الدرر السنية والطبعات المعتمدة من كتب السنة عبر الشاملة. Itqan هو مصدر هيكلة واستيراد رقمي، وحقوقه ونسبته محفوظة لمؤلفه. حقوق Open WebUI وترخيصه ونسبته محفوظة لأصحابه. لا يعني إدراج المصدر رعايةً أو شراكةً مع الفريق. راجع شروط تراخيص البيانات والتوزيع عند النشر.</a:t>
            </a:r>
            <a:endParaRPr/>
          </a:p>
          <a:p>
            <a:pPr marL="0" lvl="0" indent="0" algn="l">
              <a:spcBef>
                <a:spcPts val="0"/>
              </a:spcBef>
              <a:spcAft>
                <a:spcPts val="0"/>
              </a:spcAft>
              <a:buNone/>
            </a:pPr>
            <a:endParaRPr sz="1200"/>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https://islamicaich.org/files/HackathonFile/da2OrbRMEsNrIQaoq8z6jEv26opKXdQmq1i0XfXo.pdf</a:t>
            </a:r>
            <a:endParaRPr/>
          </a:p>
          <a:p>
            <a:pPr marL="0" lvl="0" indent="0" algn="l">
              <a:spcBef>
                <a:spcPts val="0"/>
              </a:spcBef>
              <a:spcAft>
                <a:spcPts val="0"/>
              </a:spcAft>
              <a:buNone/>
            </a:pPr>
            <a:r>
              <a:rPr sz="1200"/>
              <a:t>https://dorar.net/hadith</a:t>
            </a:r>
            <a:endParaRPr/>
          </a:p>
          <a:p>
            <a:pPr marL="0" lvl="0" indent="0" algn="l">
              <a:spcBef>
                <a:spcPts val="0"/>
              </a:spcBef>
              <a:spcAft>
                <a:spcPts val="0"/>
              </a:spcAft>
              <a:buNone/>
            </a:pPr>
            <a:r>
              <a:rPr sz="1200"/>
              <a:t>https://shamela.ws</a:t>
            </a:r>
            <a:endParaRPr/>
          </a:p>
          <a:p>
            <a:pPr marL="0" lvl="0" indent="0" algn="l">
              <a:spcBef>
                <a:spcPts val="0"/>
              </a:spcBef>
              <a:spcAft>
                <a:spcPts val="0"/>
              </a:spcAft>
              <a:buNone/>
            </a:pPr>
            <a:r>
              <a:rPr sz="1200"/>
              <a:t>https://hadeethenc.com/api-docs/</a:t>
            </a:r>
            <a:endParaRPr/>
          </a:p>
          <a:p>
            <a:pPr marL="0" lvl="0" indent="0" algn="l">
              <a:spcBef>
                <a:spcPts val="0"/>
              </a:spcBef>
              <a:spcAft>
                <a:spcPts val="0"/>
              </a:spcAft>
              <a:buNone/>
            </a:pPr>
            <a:r>
              <a:rPr sz="1200"/>
              <a:t>https://github.com/R3GENESI5/Itqan</a:t>
            </a:r>
            <a:endParaRPr/>
          </a:p>
          <a:p>
            <a:pPr marL="0" lvl="0" indent="0" algn="l">
              <a:spcBef>
                <a:spcPts val="0"/>
              </a:spcBef>
              <a:spcAft>
                <a:spcPts val="0"/>
              </a:spcAft>
              <a:buNone/>
            </a:pPr>
            <a:r>
              <a:rPr sz="1200"/>
              <a:t>https://docs.openwebui.com/</a:t>
            </a:r>
            <a:endParaRPr/>
          </a:p>
          <a:p>
            <a:pPr marL="0" lvl="0" indent="0" algn="l">
              <a:spcBef>
                <a:spcPts val="0"/>
              </a:spcBef>
              <a:spcAft>
                <a:spcPts val="0"/>
              </a:spcAft>
              <a:buNone/>
            </a:pPr>
            <a:r>
              <a:rPr sz="1200"/>
              <a:t>https://github.com/talhodhud/Hadith</a:t>
            </a:r>
            <a:endParaRPr/>
          </a:p>
          <a:p>
            <a:pPr marL="0" lvl="0" indent="0" algn="l">
              <a:spcBef>
                <a:spcPts val="0"/>
              </a:spcBef>
              <a:spcAft>
                <a:spcPts val="0"/>
              </a:spcAft>
              <a:buNone/>
            </a:pPr>
            <a:r>
              <a:rPr sz="1200"/>
              <a:t>قالب المشاركين المرفق</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sz="1200"/>
              <a:t>نص المصدر الكامل:</a:t>
            </a:r>
            <a:endParaRPr/>
          </a:p>
          <a:p>
            <a:pPr marL="0" lvl="0" indent="0" algn="l">
              <a:spcBef>
                <a:spcPts val="0"/>
              </a:spcBef>
              <a:spcAft>
                <a:spcPts val="0"/>
              </a:spcAft>
              <a:buNone/>
            </a:pPr>
            <a:r>
              <a:t>وَحَدَّثَنَا مُحَمَّدُ بْنُ عَبَّادٍ، حَدَّثَنَا سُفْيَانُ، عَنْ عَمْرٍو، ح وَحَدَّثَنَا إِسْحَاقُ بْنُ إِبْرَاهِيمَ، وَابْنُ أَبِي خَلَفٍ عَنْ زَكَرِيَّاءَ بْنِ عَدِيٍّ، أَخْبَرَنَا عُبَيْدُ اللَّهِ، عَنْ زَيْدِ بْنِ أَبِي أُنَيْسَةَ، كِلاَهُمَا عَنْ سَعِيدِ بْنِ أَبِي بُرْدَةَ، عَنْ أَبِيهِ، عَنْ جَدِّهِ، عَنِ النَّبِيِّ صلى الله عليه وسلم ‏.‏ نَحْوَ حَدِيثِ شُعْبَةَ وَلَيْسَ فِي حَدِيثِ زَيْدِ بْنِ أَبِي أُنَيْسَةَ ‏</a:t>
            </a:r>
            <a:endParaRPr sz="1200"/>
          </a:p>
          <a:p>
            <a:pPr marL="0" lvl="0" indent="0" algn="l">
              <a:spcBef>
                <a:spcPts val="0"/>
              </a:spcBef>
              <a:spcAft>
                <a:spcPts val="0"/>
              </a:spcAft>
              <a:buNone/>
            </a:pPr>
            <a:r>
              <a:rPr sz="1200"/>
              <a:t>"‏ وَتَطَاوَعَا وَلاَ تَخْتَلِفَا ‏"‏ ‏.‏</a:t>
            </a:r>
            <a:endParaRPr/>
          </a:p>
          <a:p>
            <a:pPr marL="0" lvl="0" indent="0" algn="l">
              <a:spcBef>
                <a:spcPts val="0"/>
              </a:spcBef>
              <a:spcAft>
                <a:spcPts val="0"/>
              </a:spcAft>
              <a:buNone/>
            </a:pPr>
            <a:endParaRPr/>
          </a:p>
          <a:p>
            <a:pPr marL="0" lvl="0" indent="0" algn="l">
              <a:spcBef>
                <a:spcPts val="0"/>
              </a:spcBef>
              <a:spcAft>
                <a:spcPts val="0"/>
              </a:spcAft>
              <a:buNone/>
            </a:pPr>
            <a:r>
              <a:rPr sz="1200"/>
              <a:t>النقل في الشريحة مقتطف من السند فقط. علامات الاقتباس وفواصل الأسطر تحريرية. يظهر في بقية السجل اختلاف لفظ «وتطاوعا ولا تختلفا». لا نملأ المتن المحال إليه من الذاكرة.</a:t>
            </a:r>
            <a:endParaRPr/>
          </a:p>
          <a:p>
            <a:pPr marL="0" lvl="0" indent="0" algn="l">
              <a:spcBef>
                <a:spcPts val="0"/>
              </a:spcBef>
              <a:spcAft>
                <a:spcPts val="0"/>
              </a:spcAft>
              <a:buNone/>
            </a:pPr>
            <a:endParaRPr/>
          </a:p>
          <a:p>
            <a:pPr marL="0" lvl="0" indent="0" algn="l">
              <a:spcBef>
                <a:spcPts val="0"/>
              </a:spcBef>
              <a:spcAft>
                <a:spcPts val="0"/>
              </a:spcAft>
              <a:buNone/>
            </a:pPr>
            <a:r>
              <a:rPr sz="1200"/>
              <a:t>المصادر والأدلة:</a:t>
            </a:r>
            <a:endParaRPr/>
          </a:p>
          <a:p>
            <a:pPr marL="0" lvl="0" indent="0" algn="l">
              <a:spcBef>
                <a:spcPts val="0"/>
              </a:spcBef>
              <a:spcAft>
                <a:spcPts val="0"/>
              </a:spcAft>
              <a:buNone/>
            </a:pPr>
            <a:r>
              <a:rPr sz="1200"/>
              <a:t>https://github.com/R3GENESI5/Itqan/blob/199d870da5b726356b4a8dbaa096140cffb7d0ab/app/data/sunni/muslim/32.json</a:t>
            </a:r>
            <a:endParaRPr/>
          </a:p>
          <a:p>
            <a:pPr marL="0" lvl="0" indent="0" algn="l">
              <a:spcBef>
                <a:spcPts val="0"/>
              </a:spcBef>
              <a:spcAft>
                <a:spcPts val="0"/>
              </a:spcAft>
              <a:buNone/>
            </a:pPr>
            <a:r>
              <a:rPr sz="1200"/>
              <a:t>itqan:muslim:32:8:6900c9057c27</a:t>
            </a:r>
            <a:endParaRPr/>
          </a:p>
          <a:p>
            <a:pPr marL="0" lvl="0" indent="0" algn="l">
              <a:spcBef>
                <a:spcPts val="0"/>
              </a:spcBef>
              <a:spcAft>
                <a:spcPts val="0"/>
              </a:spcAft>
              <a:buNone/>
            </a:pPr>
            <a:r>
              <a:rPr sz="1200"/>
              <a:t>text_sha256: 6900c9057c27ab8d65f980fe6c427c02d87694fdf5f3b96465ef3491dfd9c5b5</a:t>
            </a:r>
            <a:endParaRPr/>
          </a:p>
          <a:p>
            <a:pPr marL="0" lvl="0" indent="0" algn="l">
              <a:spcBef>
                <a:spcPts val="0"/>
              </a:spcBef>
              <a:spcAft>
                <a:spcPts val="0"/>
              </a:spcAft>
              <a:buNone/>
            </a:pPr>
            <a:endParaRPr/>
          </a:p>
          <a:p>
            <a:pPr marL="0" lvl="0" indent="0" algn="l">
              <a:spcBef>
                <a:spcPts val="0"/>
              </a:spcBef>
              <a:spcAft>
                <a:spcPts val="0"/>
              </a:spcAft>
              <a:buNone/>
            </a:pPr>
            <a:r>
              <a:rPr sz="1200"/>
              <a:t>تاريخ لقطة الأدلة: 6 أكتوبر 2026. اختبارات البرمجيات لا تمنح اعتمادًا علميًا.</a:t>
            </a:r>
            <a:endParaRPr/>
          </a:p>
          <a:p>
            <a:pPr marL="0" lvl="0" indent="0" algn="l">
              <a:spcBef>
                <a:spcPts val="0"/>
              </a:spcBef>
              <a:spcAft>
                <a:spcPts val="0"/>
              </a:spcAft>
              <a:buNone/>
            </a:pPr>
            <a:r>
              <a:rPr sz="1200"/>
              <a:t>فريق الهدهد 403 — م. محمد البشتاوي</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غلاف المشروع">
  <p:cSld name="غلاف المشروع">
    <p:bg>
      <p:bgPr>
        <a:solidFill>
          <a:srgbClr val="12183F"/>
        </a:solidFill>
        <a:effectLst/>
      </p:bgPr>
    </p:bg>
    <p:spTree>
      <p:nvGrpSpPr>
        <p:cNvPr id="1" name=""/>
        <p:cNvGrpSpPr/>
        <p:nvPr/>
      </p:nvGrpSpPr>
      <p:grpSpPr>
        <a:xfrm>
          <a:off x="0" y="0"/>
          <a:ext cx="0" cy="0"/>
          <a:chOff x="0" y="0"/>
          <a:chExt cx="0" cy="0"/>
        </a:xfrm>
      </p:grpSpPr>
      <p:pic>
        <p:nvPicPr>
          <p:cNvPr id="24" name="Google Shape;12;p34"/>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25" name="Google Shape;13;p34"/>
          <p:cNvPicPr>
            <a:picLocks noChangeAspect="1"/>
          </p:cNvPicPr>
          <p:nvPr/>
        </p:nvPicPr>
        <p:blipFill rotWithShape="1">
          <a:blip r:embed="rId3">
            <a:alphaModFix/>
          </a:blip>
          <a:srcRect/>
          <a:stretch/>
        </p:blipFill>
        <p:spPr>
          <a:xfrm>
            <a:off x="1066800" y="876872"/>
            <a:ext cx="6572250" cy="1684781"/>
          </a:xfrm>
          <a:prstGeom prst="rect">
            <a:avLst/>
          </a:prstGeom>
          <a:ln>
            <a:noFill/>
          </a:ln>
        </p:spPr>
      </p:pic>
      <p:pic>
        <p:nvPicPr>
          <p:cNvPr id="26" name="Google Shape;14;p34"/>
          <p:cNvPicPr>
            <a:picLocks noChangeAspect="1"/>
          </p:cNvPicPr>
          <p:nvPr/>
        </p:nvPicPr>
        <p:blipFill rotWithShape="1">
          <a:blip r:embed="rId4">
            <a:alphaModFix/>
          </a:blip>
          <a:srcRect/>
          <a:stretch/>
        </p:blipFill>
        <p:spPr>
          <a:xfrm>
            <a:off x="14954250" y="840995"/>
            <a:ext cx="2190750" cy="1385061"/>
          </a:xfrm>
          <a:prstGeom prst="rect">
            <a:avLst/>
          </a:prstGeom>
          <a:ln>
            <a:noFill/>
          </a:ln>
        </p:spPr>
      </p:pic>
      <p:pic>
        <p:nvPicPr>
          <p:cNvPr id="27" name="Google Shape;15;p34"/>
          <p:cNvPicPr>
            <a:picLocks noChangeAspect="1"/>
          </p:cNvPicPr>
          <p:nvPr/>
        </p:nvPicPr>
        <p:blipFill rotWithShape="1">
          <a:blip r:embed="rId5">
            <a:alphaModFix/>
          </a:blip>
          <a:srcRect/>
          <a:stretch/>
        </p:blipFill>
        <p:spPr>
          <a:xfrm>
            <a:off x="1078258" y="3190875"/>
            <a:ext cx="6701734" cy="6191250"/>
          </a:xfrm>
          <a:prstGeom prst="rect">
            <a:avLst/>
          </a:prstGeom>
          <a:ln>
            <a:noFill/>
          </a:ln>
        </p:spPr>
      </p:pic>
      <p:sp>
        <p:nvSpPr>
          <p:cNvPr id="16" name="Google Shape;16;p34">
            <a:extLst>
              <a:ext uri="{FF2B5EF4-FFF2-40B4-BE49-F238E27FC236}">
                <a16:creationId xmlns:a16="http://schemas.microsoft.com/office/drawing/2014/main" id="{D2DEABB0-428B-42A2-8205-25F4D5017097}"/>
              </a:ext>
            </a:extLst>
          </p:cNvPr>
          <p:cNvSpPr>
            <a:spLocks noGrp="1"/>
          </p:cNvSpPr>
          <p:nvPr>
            <p:ph type="title"/>
          </p:nvPr>
        </p:nvSpPr>
        <p:spPr>
          <a:xfrm>
            <a:off x="8096250" y="3524250"/>
            <a:ext cx="9048750" cy="1333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7" name="Google Shape;17;p34">
            <a:extLst>
              <a:ext uri="{FF2B5EF4-FFF2-40B4-BE49-F238E27FC236}">
                <a16:creationId xmlns:a16="http://schemas.microsoft.com/office/drawing/2014/main" id="{534E7EB4-C6B9-4FD2-93B7-824E6F56DD1B}"/>
              </a:ext>
            </a:extLst>
          </p:cNvPr>
          <p:cNvSpPr>
            <a:spLocks noGrp="1"/>
          </p:cNvSpPr>
          <p:nvPr>
            <p:ph type="body" idx="1"/>
          </p:nvPr>
        </p:nvSpPr>
        <p:spPr>
          <a:xfrm>
            <a:off x="8096250" y="5334000"/>
            <a:ext cx="9048750" cy="16192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8" name="Google Shape;18;p34">
            <a:extLst>
              <a:ext uri="{FF2B5EF4-FFF2-40B4-BE49-F238E27FC236}">
                <a16:creationId xmlns:a16="http://schemas.microsoft.com/office/drawing/2014/main" id="{CE3B9ED5-C74B-41A3-A990-8567AB51D119}"/>
              </a:ext>
            </a:extLst>
          </p:cNvPr>
          <p:cNvSpPr>
            <a:spLocks noGrp="1"/>
          </p:cNvSpPr>
          <p:nvPr>
            <p:ph type="body" idx="2"/>
          </p:nvPr>
        </p:nvSpPr>
        <p:spPr>
          <a:xfrm>
            <a:off x="8953500" y="7762875"/>
            <a:ext cx="8191500" cy="714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9" name="Google Shape;19;p34">
            <a:extLst>
              <a:ext uri="{FF2B5EF4-FFF2-40B4-BE49-F238E27FC236}">
                <a16:creationId xmlns:a16="http://schemas.microsoft.com/office/drawing/2014/main" id="{3AB76606-106A-4F52-8B42-672ED214A1F8}"/>
              </a:ext>
            </a:extLst>
          </p:cNvPr>
          <p:cNvSpPr>
            <a:spLocks noGrp="1"/>
          </p:cNvSpPr>
          <p:nvPr>
            <p:ph type="body" idx="3"/>
          </p:nvPr>
        </p:nvSpPr>
        <p:spPr>
          <a:xfrm>
            <a:off x="1066800" y="9391650"/>
            <a:ext cx="5429250" cy="4953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محتويات العرض">
  <p:cSld name="محتويات العرض">
    <p:bg>
      <p:bgPr>
        <a:solidFill>
          <a:srgbClr val="12183F"/>
        </a:solidFill>
        <a:effectLst/>
      </p:bgPr>
    </p:bg>
    <p:spTree>
      <p:nvGrpSpPr>
        <p:cNvPr id="1" name=""/>
        <p:cNvGrpSpPr/>
        <p:nvPr/>
      </p:nvGrpSpPr>
      <p:grpSpPr>
        <a:xfrm>
          <a:off x="0" y="0"/>
          <a:ext cx="0" cy="0"/>
          <a:chOff x="0" y="0"/>
          <a:chExt cx="0" cy="0"/>
        </a:xfrm>
      </p:grpSpPr>
      <p:pic>
        <p:nvPicPr>
          <p:cNvPr id="47" name="Google Shape;21;p35"/>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48" name="Google Shape;22;p35"/>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23" name="Google Shape;23;p35">
            <a:extLst>
              <a:ext uri="{FF2B5EF4-FFF2-40B4-BE49-F238E27FC236}">
                <a16:creationId xmlns:a16="http://schemas.microsoft.com/office/drawing/2014/main" id="{E984ACE6-1500-4B92-9EA8-8DB7B911801B}"/>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4" name="Google Shape;24;p35">
            <a:extLst>
              <a:ext uri="{FF2B5EF4-FFF2-40B4-BE49-F238E27FC236}">
                <a16:creationId xmlns:a16="http://schemas.microsoft.com/office/drawing/2014/main" id="{ACC52F56-A2D4-4009-9521-07849EE64658}"/>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5" name="Google Shape;25;p35">
            <a:extLst>
              <a:ext uri="{FF2B5EF4-FFF2-40B4-BE49-F238E27FC236}">
                <a16:creationId xmlns:a16="http://schemas.microsoft.com/office/drawing/2014/main" id="{CA9B0B4E-C7BB-4818-A0EC-E442CC7A8F82}"/>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26" name="Google Shape;26;p35">
            <a:extLst>
              <a:ext uri="{FF2B5EF4-FFF2-40B4-BE49-F238E27FC236}">
                <a16:creationId xmlns:a16="http://schemas.microsoft.com/office/drawing/2014/main" id="{EF4CF721-9E71-43AA-8A49-F1297240615B}"/>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7" name="Google Shape;27;p35">
            <a:extLst>
              <a:ext uri="{FF2B5EF4-FFF2-40B4-BE49-F238E27FC236}">
                <a16:creationId xmlns:a16="http://schemas.microsoft.com/office/drawing/2014/main" id="{C11F6D50-E5F9-4BFA-9A97-12F8998B5B54}"/>
              </a:ext>
            </a:extLst>
          </p:cNvPr>
          <p:cNvSpPr>
            <a:spLocks noGrp="1"/>
          </p:cNvSpPr>
          <p:nvPr>
            <p:ph type="body" idx="2"/>
          </p:nvPr>
        </p:nvSpPr>
        <p:spPr>
          <a:xfrm>
            <a:off x="12382500" y="3857625"/>
            <a:ext cx="4476750" cy="7239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8" name="Google Shape;28;p35">
            <a:extLst>
              <a:ext uri="{FF2B5EF4-FFF2-40B4-BE49-F238E27FC236}">
                <a16:creationId xmlns:a16="http://schemas.microsoft.com/office/drawing/2014/main" id="{E9B9ABC0-E91D-4519-9204-BFC297B2868C}"/>
              </a:ext>
            </a:extLst>
          </p:cNvPr>
          <p:cNvSpPr>
            <a:spLocks noGrp="1"/>
          </p:cNvSpPr>
          <p:nvPr>
            <p:ph type="body" idx="3"/>
          </p:nvPr>
        </p:nvSpPr>
        <p:spPr>
          <a:xfrm>
            <a:off x="12382500" y="4724400"/>
            <a:ext cx="44767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 name="Google Shape;29;p35">
            <a:extLst>
              <a:ext uri="{FF2B5EF4-FFF2-40B4-BE49-F238E27FC236}">
                <a16:creationId xmlns:a16="http://schemas.microsoft.com/office/drawing/2014/main" id="{F6CB87F4-A552-4A44-9574-2F8FD4266624}"/>
              </a:ext>
            </a:extLst>
          </p:cNvPr>
          <p:cNvSpPr>
            <a:spLocks noGrp="1"/>
          </p:cNvSpPr>
          <p:nvPr>
            <p:ph type="body" idx="4"/>
          </p:nvPr>
        </p:nvSpPr>
        <p:spPr>
          <a:xfrm>
            <a:off x="12382500" y="5419725"/>
            <a:ext cx="4476750" cy="7810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0" name="Google Shape;30;p35">
            <a:extLst>
              <a:ext uri="{FF2B5EF4-FFF2-40B4-BE49-F238E27FC236}">
                <a16:creationId xmlns:a16="http://schemas.microsoft.com/office/drawing/2014/main" id="{90B6ED10-22D7-40B8-81F5-55661B49B30C}"/>
              </a:ext>
            </a:extLst>
          </p:cNvPr>
          <p:cNvSpPr>
            <a:spLocks noGrp="1"/>
          </p:cNvSpPr>
          <p:nvPr>
            <p:ph type="body" idx="5"/>
          </p:nvPr>
        </p:nvSpPr>
        <p:spPr>
          <a:xfrm>
            <a:off x="7048500" y="3857625"/>
            <a:ext cx="4476750" cy="7239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1" name="Google Shape;31;p35">
            <a:extLst>
              <a:ext uri="{FF2B5EF4-FFF2-40B4-BE49-F238E27FC236}">
                <a16:creationId xmlns:a16="http://schemas.microsoft.com/office/drawing/2014/main" id="{597A93F4-90FC-4D6C-B881-12AC8D6C031D}"/>
              </a:ext>
            </a:extLst>
          </p:cNvPr>
          <p:cNvSpPr>
            <a:spLocks noGrp="1"/>
          </p:cNvSpPr>
          <p:nvPr>
            <p:ph type="body" idx="6"/>
          </p:nvPr>
        </p:nvSpPr>
        <p:spPr>
          <a:xfrm>
            <a:off x="7048500" y="4724400"/>
            <a:ext cx="44767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2" name="Google Shape;32;p35">
            <a:extLst>
              <a:ext uri="{FF2B5EF4-FFF2-40B4-BE49-F238E27FC236}">
                <a16:creationId xmlns:a16="http://schemas.microsoft.com/office/drawing/2014/main" id="{666247A9-DCFF-4BED-AB63-C5B0B1EE2CD4}"/>
              </a:ext>
            </a:extLst>
          </p:cNvPr>
          <p:cNvSpPr>
            <a:spLocks noGrp="1"/>
          </p:cNvSpPr>
          <p:nvPr>
            <p:ph type="body" idx="7"/>
          </p:nvPr>
        </p:nvSpPr>
        <p:spPr>
          <a:xfrm>
            <a:off x="7048500" y="5419725"/>
            <a:ext cx="4476750" cy="7810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3" name="Google Shape;33;p35">
            <a:extLst>
              <a:ext uri="{FF2B5EF4-FFF2-40B4-BE49-F238E27FC236}">
                <a16:creationId xmlns:a16="http://schemas.microsoft.com/office/drawing/2014/main" id="{AEB0456F-9E8B-4F0F-AD65-471E8572654F}"/>
              </a:ext>
            </a:extLst>
          </p:cNvPr>
          <p:cNvSpPr>
            <a:spLocks noGrp="1"/>
          </p:cNvSpPr>
          <p:nvPr>
            <p:ph type="body" idx="8"/>
          </p:nvPr>
        </p:nvSpPr>
        <p:spPr>
          <a:xfrm>
            <a:off x="1714500" y="3857625"/>
            <a:ext cx="4476750" cy="7239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4" name="Google Shape;34;p35">
            <a:extLst>
              <a:ext uri="{FF2B5EF4-FFF2-40B4-BE49-F238E27FC236}">
                <a16:creationId xmlns:a16="http://schemas.microsoft.com/office/drawing/2014/main" id="{B2B23928-24B0-43EB-9725-6014592B0BDB}"/>
              </a:ext>
            </a:extLst>
          </p:cNvPr>
          <p:cNvSpPr>
            <a:spLocks noGrp="1"/>
          </p:cNvSpPr>
          <p:nvPr>
            <p:ph type="body" idx="9"/>
          </p:nvPr>
        </p:nvSpPr>
        <p:spPr>
          <a:xfrm>
            <a:off x="1714500" y="4724400"/>
            <a:ext cx="44767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5" name="Google Shape;35;p35">
            <a:extLst>
              <a:ext uri="{FF2B5EF4-FFF2-40B4-BE49-F238E27FC236}">
                <a16:creationId xmlns:a16="http://schemas.microsoft.com/office/drawing/2014/main" id="{D6B1B188-4F36-4CED-84B0-63A7A32D4E6F}"/>
              </a:ext>
            </a:extLst>
          </p:cNvPr>
          <p:cNvSpPr>
            <a:spLocks noGrp="1"/>
          </p:cNvSpPr>
          <p:nvPr>
            <p:ph type="body" idx="13"/>
          </p:nvPr>
        </p:nvSpPr>
        <p:spPr>
          <a:xfrm>
            <a:off x="1714500" y="5419725"/>
            <a:ext cx="4476750" cy="7810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6" name="Google Shape;36;p35">
            <a:extLst>
              <a:ext uri="{FF2B5EF4-FFF2-40B4-BE49-F238E27FC236}">
                <a16:creationId xmlns:a16="http://schemas.microsoft.com/office/drawing/2014/main" id="{064340F6-5542-420C-8E6C-F4C5B6DA0C63}"/>
              </a:ext>
            </a:extLst>
          </p:cNvPr>
          <p:cNvSpPr>
            <a:spLocks noGrp="1"/>
          </p:cNvSpPr>
          <p:nvPr>
            <p:ph type="body" idx="14"/>
          </p:nvPr>
        </p:nvSpPr>
        <p:spPr>
          <a:xfrm>
            <a:off x="12382500" y="6524625"/>
            <a:ext cx="4476750" cy="7239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7" name="Google Shape;37;p35">
            <a:extLst>
              <a:ext uri="{FF2B5EF4-FFF2-40B4-BE49-F238E27FC236}">
                <a16:creationId xmlns:a16="http://schemas.microsoft.com/office/drawing/2014/main" id="{EDECDD2B-6D55-4D33-9297-15E8C39A3678}"/>
              </a:ext>
            </a:extLst>
          </p:cNvPr>
          <p:cNvSpPr>
            <a:spLocks noGrp="1"/>
          </p:cNvSpPr>
          <p:nvPr>
            <p:ph type="body" idx="15"/>
          </p:nvPr>
        </p:nvSpPr>
        <p:spPr>
          <a:xfrm>
            <a:off x="12382500" y="7391400"/>
            <a:ext cx="44767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8" name="Google Shape;38;p35">
            <a:extLst>
              <a:ext uri="{FF2B5EF4-FFF2-40B4-BE49-F238E27FC236}">
                <a16:creationId xmlns:a16="http://schemas.microsoft.com/office/drawing/2014/main" id="{537109C3-15A6-4639-A994-E7BC7F459616}"/>
              </a:ext>
            </a:extLst>
          </p:cNvPr>
          <p:cNvSpPr>
            <a:spLocks noGrp="1"/>
          </p:cNvSpPr>
          <p:nvPr>
            <p:ph type="body" idx="16"/>
          </p:nvPr>
        </p:nvSpPr>
        <p:spPr>
          <a:xfrm>
            <a:off x="12382500" y="8086725"/>
            <a:ext cx="4476750" cy="7810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9" name="Google Shape;39;p35">
            <a:extLst>
              <a:ext uri="{FF2B5EF4-FFF2-40B4-BE49-F238E27FC236}">
                <a16:creationId xmlns:a16="http://schemas.microsoft.com/office/drawing/2014/main" id="{7AE103A1-8C1F-49DE-AA7F-B515DB46A8D5}"/>
              </a:ext>
            </a:extLst>
          </p:cNvPr>
          <p:cNvSpPr>
            <a:spLocks noGrp="1"/>
          </p:cNvSpPr>
          <p:nvPr>
            <p:ph type="body" idx="17"/>
          </p:nvPr>
        </p:nvSpPr>
        <p:spPr>
          <a:xfrm>
            <a:off x="7048500" y="6524625"/>
            <a:ext cx="4476750" cy="7239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40" name="Google Shape;40;p35">
            <a:extLst>
              <a:ext uri="{FF2B5EF4-FFF2-40B4-BE49-F238E27FC236}">
                <a16:creationId xmlns:a16="http://schemas.microsoft.com/office/drawing/2014/main" id="{4C460F61-25AF-4F3D-9B5B-6299A1D2AB41}"/>
              </a:ext>
            </a:extLst>
          </p:cNvPr>
          <p:cNvSpPr>
            <a:spLocks noGrp="1"/>
          </p:cNvSpPr>
          <p:nvPr>
            <p:ph type="body" idx="18"/>
          </p:nvPr>
        </p:nvSpPr>
        <p:spPr>
          <a:xfrm>
            <a:off x="7048500" y="7391400"/>
            <a:ext cx="44767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41" name="Google Shape;41;p35">
            <a:extLst>
              <a:ext uri="{FF2B5EF4-FFF2-40B4-BE49-F238E27FC236}">
                <a16:creationId xmlns:a16="http://schemas.microsoft.com/office/drawing/2014/main" id="{A8038532-19C1-47DB-A98D-2C2E56F2CF71}"/>
              </a:ext>
            </a:extLst>
          </p:cNvPr>
          <p:cNvSpPr>
            <a:spLocks noGrp="1"/>
          </p:cNvSpPr>
          <p:nvPr>
            <p:ph type="body" idx="19"/>
          </p:nvPr>
        </p:nvSpPr>
        <p:spPr>
          <a:xfrm>
            <a:off x="7048500" y="8086725"/>
            <a:ext cx="4476750" cy="7810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42" name="Google Shape;42;p35">
            <a:extLst>
              <a:ext uri="{FF2B5EF4-FFF2-40B4-BE49-F238E27FC236}">
                <a16:creationId xmlns:a16="http://schemas.microsoft.com/office/drawing/2014/main" id="{E3BFB345-962B-4DFA-9605-58FBC4D90D24}"/>
              </a:ext>
            </a:extLst>
          </p:cNvPr>
          <p:cNvSpPr>
            <a:spLocks noGrp="1"/>
          </p:cNvSpPr>
          <p:nvPr>
            <p:ph type="body" idx="20"/>
          </p:nvPr>
        </p:nvSpPr>
        <p:spPr>
          <a:xfrm>
            <a:off x="1714500" y="6524625"/>
            <a:ext cx="4476750" cy="7239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43" name="Google Shape;43;p35">
            <a:extLst>
              <a:ext uri="{FF2B5EF4-FFF2-40B4-BE49-F238E27FC236}">
                <a16:creationId xmlns:a16="http://schemas.microsoft.com/office/drawing/2014/main" id="{1AB2EC04-470B-48AC-95CE-F0D20AAD1F6B}"/>
              </a:ext>
            </a:extLst>
          </p:cNvPr>
          <p:cNvSpPr>
            <a:spLocks noGrp="1"/>
          </p:cNvSpPr>
          <p:nvPr>
            <p:ph type="body" idx="21"/>
          </p:nvPr>
        </p:nvSpPr>
        <p:spPr>
          <a:xfrm>
            <a:off x="1714500" y="7391400"/>
            <a:ext cx="44767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44" name="Google Shape;44;p35">
            <a:extLst>
              <a:ext uri="{FF2B5EF4-FFF2-40B4-BE49-F238E27FC236}">
                <a16:creationId xmlns:a16="http://schemas.microsoft.com/office/drawing/2014/main" id="{B09FD038-9C21-4252-9871-0C4F93E2270F}"/>
              </a:ext>
            </a:extLst>
          </p:cNvPr>
          <p:cNvSpPr>
            <a:spLocks noGrp="1"/>
          </p:cNvSpPr>
          <p:nvPr>
            <p:ph type="body" idx="22"/>
          </p:nvPr>
        </p:nvSpPr>
        <p:spPr>
          <a:xfrm>
            <a:off x="1714500" y="8086725"/>
            <a:ext cx="4476750" cy="7810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فاصل قسم">
  <p:cSld name="فاصل قسم">
    <p:bg>
      <p:bgPr>
        <a:solidFill>
          <a:srgbClr val="12183F"/>
        </a:solidFill>
        <a:effectLst/>
      </p:bgPr>
    </p:bg>
    <p:spTree>
      <p:nvGrpSpPr>
        <p:cNvPr id="1" name=""/>
        <p:cNvGrpSpPr/>
        <p:nvPr/>
      </p:nvGrpSpPr>
      <p:grpSpPr>
        <a:xfrm>
          <a:off x="0" y="0"/>
          <a:ext cx="0" cy="0"/>
          <a:chOff x="0" y="0"/>
          <a:chExt cx="0" cy="0"/>
        </a:xfrm>
      </p:grpSpPr>
      <p:pic>
        <p:nvPicPr>
          <p:cNvPr id="53" name="Google Shape;46;p36"/>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54" name="Google Shape;47;p36"/>
          <p:cNvPicPr>
            <a:picLocks noChangeAspect="1"/>
          </p:cNvPicPr>
          <p:nvPr/>
        </p:nvPicPr>
        <p:blipFill rotWithShape="1">
          <a:blip r:embed="rId3">
            <a:alphaModFix/>
          </a:blip>
          <a:srcRect/>
          <a:stretch/>
        </p:blipFill>
        <p:spPr>
          <a:xfrm>
            <a:off x="1066800" y="687391"/>
            <a:ext cx="4000500" cy="1025519"/>
          </a:xfrm>
          <a:prstGeom prst="rect">
            <a:avLst/>
          </a:prstGeom>
          <a:ln>
            <a:noFill/>
          </a:ln>
        </p:spPr>
      </p:pic>
      <p:sp>
        <p:nvSpPr>
          <p:cNvPr id="48" name="Google Shape;48;p36">
            <a:extLst>
              <a:ext uri="{FF2B5EF4-FFF2-40B4-BE49-F238E27FC236}">
                <a16:creationId xmlns:a16="http://schemas.microsoft.com/office/drawing/2014/main" id="{7B49B35A-AF06-45FF-8EB0-5AD91DE07D2F}"/>
              </a:ext>
            </a:extLst>
          </p:cNvPr>
          <p:cNvSpPr>
            <a:spLocks noGrp="1"/>
          </p:cNvSpPr>
          <p:nvPr>
            <p:ph type="body" idx="1"/>
          </p:nvPr>
        </p:nvSpPr>
        <p:spPr>
          <a:xfrm>
            <a:off x="13430250" y="3143250"/>
            <a:ext cx="3619500" cy="12382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49" name="Google Shape;49;p36">
            <a:extLst>
              <a:ext uri="{FF2B5EF4-FFF2-40B4-BE49-F238E27FC236}">
                <a16:creationId xmlns:a16="http://schemas.microsoft.com/office/drawing/2014/main" id="{8B9E62EA-1579-4EE7-B7A9-0C039E80B17F}"/>
              </a:ext>
            </a:extLst>
          </p:cNvPr>
          <p:cNvSpPr>
            <a:spLocks noGrp="1"/>
          </p:cNvSpPr>
          <p:nvPr>
            <p:ph type="title"/>
          </p:nvPr>
        </p:nvSpPr>
        <p:spPr>
          <a:xfrm>
            <a:off x="4953000" y="4810125"/>
            <a:ext cx="12096750" cy="123825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50" name="Google Shape;50;p36">
            <a:extLst>
              <a:ext uri="{FF2B5EF4-FFF2-40B4-BE49-F238E27FC236}">
                <a16:creationId xmlns:a16="http://schemas.microsoft.com/office/drawing/2014/main" id="{9DE2468C-73A1-437C-8D1D-5B98E4FA83B7}"/>
              </a:ext>
            </a:extLst>
          </p:cNvPr>
          <p:cNvSpPr>
            <a:spLocks noGrp="1"/>
          </p:cNvSpPr>
          <p:nvPr>
            <p:ph type="body" idx="2"/>
          </p:nvPr>
        </p:nvSpPr>
        <p:spPr>
          <a:xfrm>
            <a:off x="6667500" y="6572250"/>
            <a:ext cx="10382250" cy="10477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أربع نقاط">
  <p:cSld name="أربع نقاط">
    <p:bg>
      <p:bgPr>
        <a:solidFill>
          <a:srgbClr val="12183F"/>
        </a:solidFill>
        <a:effectLst/>
      </p:bgPr>
    </p:bg>
    <p:spTree>
      <p:nvGrpSpPr>
        <p:cNvPr id="1" name=""/>
        <p:cNvGrpSpPr/>
        <p:nvPr/>
      </p:nvGrpSpPr>
      <p:grpSpPr>
        <a:xfrm>
          <a:off x="0" y="0"/>
          <a:ext cx="0" cy="0"/>
          <a:chOff x="0" y="0"/>
          <a:chExt cx="0" cy="0"/>
        </a:xfrm>
      </p:grpSpPr>
      <p:pic>
        <p:nvPicPr>
          <p:cNvPr id="69" name="Google Shape;52;p37"/>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70" name="Google Shape;53;p37"/>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54" name="Google Shape;54;p37">
            <a:extLst>
              <a:ext uri="{FF2B5EF4-FFF2-40B4-BE49-F238E27FC236}">
                <a16:creationId xmlns:a16="http://schemas.microsoft.com/office/drawing/2014/main" id="{0E86983D-9ACE-4E21-9EF6-0E3D383C8452}"/>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55" name="Google Shape;55;p37">
            <a:extLst>
              <a:ext uri="{FF2B5EF4-FFF2-40B4-BE49-F238E27FC236}">
                <a16:creationId xmlns:a16="http://schemas.microsoft.com/office/drawing/2014/main" id="{A0D34BC8-A307-4E46-8DF9-F389EADAF695}"/>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56" name="Google Shape;56;p37">
            <a:extLst>
              <a:ext uri="{FF2B5EF4-FFF2-40B4-BE49-F238E27FC236}">
                <a16:creationId xmlns:a16="http://schemas.microsoft.com/office/drawing/2014/main" id="{34F1F254-281C-4E88-9FC0-83261875A016}"/>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57" name="Google Shape;57;p37">
            <a:extLst>
              <a:ext uri="{FF2B5EF4-FFF2-40B4-BE49-F238E27FC236}">
                <a16:creationId xmlns:a16="http://schemas.microsoft.com/office/drawing/2014/main" id="{0E776A1C-5C00-4DCA-9AC6-9A38B1B3E5CE}"/>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58" name="Google Shape;58;p37">
            <a:extLst>
              <a:ext uri="{FF2B5EF4-FFF2-40B4-BE49-F238E27FC236}">
                <a16:creationId xmlns:a16="http://schemas.microsoft.com/office/drawing/2014/main" id="{CF2579F7-E1A4-442D-8C61-325EB9D74A08}"/>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59" name="Google Shape;59;p37">
            <a:extLst>
              <a:ext uri="{FF2B5EF4-FFF2-40B4-BE49-F238E27FC236}">
                <a16:creationId xmlns:a16="http://schemas.microsoft.com/office/drawing/2014/main" id="{895EF06F-20D6-4AED-A37B-7D5F3E02F250}"/>
              </a:ext>
            </a:extLst>
          </p:cNvPr>
          <p:cNvSpPr>
            <a:spLocks noGrp="1"/>
          </p:cNvSpPr>
          <p:nvPr>
            <p:ph type="body" idx="3"/>
          </p:nvPr>
        </p:nvSpPr>
        <p:spPr>
          <a:xfrm>
            <a:off x="9810750" y="3952875"/>
            <a:ext cx="73342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60" name="Google Shape;60;p37">
            <a:extLst>
              <a:ext uri="{FF2B5EF4-FFF2-40B4-BE49-F238E27FC236}">
                <a16:creationId xmlns:a16="http://schemas.microsoft.com/office/drawing/2014/main" id="{10A29626-1BB3-46EF-8E83-3CE75A4BE14A}"/>
              </a:ext>
            </a:extLst>
          </p:cNvPr>
          <p:cNvSpPr>
            <a:spLocks noGrp="1"/>
          </p:cNvSpPr>
          <p:nvPr>
            <p:ph type="body" idx="4"/>
          </p:nvPr>
        </p:nvSpPr>
        <p:spPr>
          <a:xfrm>
            <a:off x="9810750" y="4657725"/>
            <a:ext cx="73342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61" name="Google Shape;61;p37">
            <a:extLst>
              <a:ext uri="{FF2B5EF4-FFF2-40B4-BE49-F238E27FC236}">
                <a16:creationId xmlns:a16="http://schemas.microsoft.com/office/drawing/2014/main" id="{96082BF1-A27E-4D82-9F3E-0A8EF6080AC0}"/>
              </a:ext>
            </a:extLst>
          </p:cNvPr>
          <p:cNvSpPr>
            <a:spLocks noGrp="1"/>
          </p:cNvSpPr>
          <p:nvPr>
            <p:ph type="body" idx="5"/>
          </p:nvPr>
        </p:nvSpPr>
        <p:spPr>
          <a:xfrm>
            <a:off x="1714500" y="3952875"/>
            <a:ext cx="69532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62" name="Google Shape;62;p37">
            <a:extLst>
              <a:ext uri="{FF2B5EF4-FFF2-40B4-BE49-F238E27FC236}">
                <a16:creationId xmlns:a16="http://schemas.microsoft.com/office/drawing/2014/main" id="{3DCB330B-1CFF-4B00-8040-B134EC32CBB8}"/>
              </a:ext>
            </a:extLst>
          </p:cNvPr>
          <p:cNvSpPr>
            <a:spLocks noGrp="1"/>
          </p:cNvSpPr>
          <p:nvPr>
            <p:ph type="body" idx="6"/>
          </p:nvPr>
        </p:nvSpPr>
        <p:spPr>
          <a:xfrm>
            <a:off x="1714500" y="4657725"/>
            <a:ext cx="69532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63" name="Google Shape;63;p37">
            <a:extLst>
              <a:ext uri="{FF2B5EF4-FFF2-40B4-BE49-F238E27FC236}">
                <a16:creationId xmlns:a16="http://schemas.microsoft.com/office/drawing/2014/main" id="{004E5F67-BB59-4429-97E4-AC64BD877297}"/>
              </a:ext>
            </a:extLst>
          </p:cNvPr>
          <p:cNvSpPr>
            <a:spLocks noGrp="1"/>
          </p:cNvSpPr>
          <p:nvPr>
            <p:ph type="body" idx="7"/>
          </p:nvPr>
        </p:nvSpPr>
        <p:spPr>
          <a:xfrm>
            <a:off x="9810750" y="6619875"/>
            <a:ext cx="73342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64" name="Google Shape;64;p37">
            <a:extLst>
              <a:ext uri="{FF2B5EF4-FFF2-40B4-BE49-F238E27FC236}">
                <a16:creationId xmlns:a16="http://schemas.microsoft.com/office/drawing/2014/main" id="{694C2A56-E552-47FE-A74F-DABCB7F3806A}"/>
              </a:ext>
            </a:extLst>
          </p:cNvPr>
          <p:cNvSpPr>
            <a:spLocks noGrp="1"/>
          </p:cNvSpPr>
          <p:nvPr>
            <p:ph type="body" idx="8"/>
          </p:nvPr>
        </p:nvSpPr>
        <p:spPr>
          <a:xfrm>
            <a:off x="9810750" y="7324725"/>
            <a:ext cx="73342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65" name="Google Shape;65;p37">
            <a:extLst>
              <a:ext uri="{FF2B5EF4-FFF2-40B4-BE49-F238E27FC236}">
                <a16:creationId xmlns:a16="http://schemas.microsoft.com/office/drawing/2014/main" id="{D4EC5861-5B43-40AF-A5E5-22547A019DD5}"/>
              </a:ext>
            </a:extLst>
          </p:cNvPr>
          <p:cNvSpPr>
            <a:spLocks noGrp="1"/>
          </p:cNvSpPr>
          <p:nvPr>
            <p:ph type="body" idx="9"/>
          </p:nvPr>
        </p:nvSpPr>
        <p:spPr>
          <a:xfrm>
            <a:off x="1714500" y="6619875"/>
            <a:ext cx="69532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66" name="Google Shape;66;p37">
            <a:extLst>
              <a:ext uri="{FF2B5EF4-FFF2-40B4-BE49-F238E27FC236}">
                <a16:creationId xmlns:a16="http://schemas.microsoft.com/office/drawing/2014/main" id="{E002DC16-4D73-4378-999F-20709CEC2751}"/>
              </a:ext>
            </a:extLst>
          </p:cNvPr>
          <p:cNvSpPr>
            <a:spLocks noGrp="1"/>
          </p:cNvSpPr>
          <p:nvPr>
            <p:ph type="body" idx="13"/>
          </p:nvPr>
        </p:nvSpPr>
        <p:spPr>
          <a:xfrm>
            <a:off x="1714500" y="7324725"/>
            <a:ext cx="69532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نص رئيسي">
  <p:cSld name="نص رئيسي">
    <p:bg>
      <p:bgPr>
        <a:solidFill>
          <a:srgbClr val="12183F"/>
        </a:solidFill>
        <a:effectLst/>
      </p:bgPr>
    </p:bg>
    <p:spTree>
      <p:nvGrpSpPr>
        <p:cNvPr id="1" name=""/>
        <p:cNvGrpSpPr/>
        <p:nvPr/>
      </p:nvGrpSpPr>
      <p:grpSpPr>
        <a:xfrm>
          <a:off x="0" y="0"/>
          <a:ext cx="0" cy="0"/>
          <a:chOff x="0" y="0"/>
          <a:chExt cx="0" cy="0"/>
        </a:xfrm>
      </p:grpSpPr>
      <p:pic>
        <p:nvPicPr>
          <p:cNvPr id="79" name="Google Shape;68;p38"/>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80" name="Google Shape;69;p38"/>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70" name="Google Shape;70;p38">
            <a:extLst>
              <a:ext uri="{FF2B5EF4-FFF2-40B4-BE49-F238E27FC236}">
                <a16:creationId xmlns:a16="http://schemas.microsoft.com/office/drawing/2014/main" id="{12FA901C-14C6-4A5D-AE17-4B5A6437B7BF}"/>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71" name="Google Shape;71;p38">
            <a:extLst>
              <a:ext uri="{FF2B5EF4-FFF2-40B4-BE49-F238E27FC236}">
                <a16:creationId xmlns:a16="http://schemas.microsoft.com/office/drawing/2014/main" id="{94EE8AB9-985E-4BBB-BE5D-0A097F381DBF}"/>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72" name="Google Shape;72;p38">
            <a:extLst>
              <a:ext uri="{FF2B5EF4-FFF2-40B4-BE49-F238E27FC236}">
                <a16:creationId xmlns:a16="http://schemas.microsoft.com/office/drawing/2014/main" id="{CCE9B65E-3B0E-4C48-B69C-792213B8B71A}"/>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73" name="Google Shape;73;p38">
            <a:extLst>
              <a:ext uri="{FF2B5EF4-FFF2-40B4-BE49-F238E27FC236}">
                <a16:creationId xmlns:a16="http://schemas.microsoft.com/office/drawing/2014/main" id="{942660B7-8814-4AE1-921B-F2958DCA6680}"/>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74" name="Google Shape;74;p38">
            <a:extLst>
              <a:ext uri="{FF2B5EF4-FFF2-40B4-BE49-F238E27FC236}">
                <a16:creationId xmlns:a16="http://schemas.microsoft.com/office/drawing/2014/main" id="{527EF42A-8E6E-4A2F-B78B-B6991F923B6C}"/>
              </a:ext>
            </a:extLst>
          </p:cNvPr>
          <p:cNvSpPr>
            <a:spLocks noGrp="1"/>
          </p:cNvSpPr>
          <p:nvPr>
            <p:ph type="body" idx="2"/>
          </p:nvPr>
        </p:nvSpPr>
        <p:spPr>
          <a:xfrm>
            <a:off x="6191250" y="4000500"/>
            <a:ext cx="10953750" cy="2667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75" name="Google Shape;75;p38">
            <a:extLst>
              <a:ext uri="{FF2B5EF4-FFF2-40B4-BE49-F238E27FC236}">
                <a16:creationId xmlns:a16="http://schemas.microsoft.com/office/drawing/2014/main" id="{5652D16A-2595-4F1D-9E36-FF8C9B19A52C}"/>
              </a:ext>
            </a:extLst>
          </p:cNvPr>
          <p:cNvSpPr>
            <a:spLocks noGrp="1"/>
          </p:cNvSpPr>
          <p:nvPr>
            <p:ph type="body" idx="3"/>
          </p:nvPr>
        </p:nvSpPr>
        <p:spPr>
          <a:xfrm>
            <a:off x="6191250" y="7239000"/>
            <a:ext cx="109537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76" name="Google Shape;76;p38">
            <a:extLst>
              <a:ext uri="{FF2B5EF4-FFF2-40B4-BE49-F238E27FC236}">
                <a16:creationId xmlns:a16="http://schemas.microsoft.com/office/drawing/2014/main" id="{A08A8D8F-26D3-414D-89C9-C3CB86E725C9}"/>
              </a:ext>
            </a:extLst>
          </p:cNvPr>
          <p:cNvSpPr>
            <a:spLocks noGrp="1"/>
          </p:cNvSpPr>
          <p:nvPr>
            <p:ph type="body" idx="4"/>
          </p:nvPr>
        </p:nvSpPr>
        <p:spPr>
          <a:xfrm>
            <a:off x="6191250" y="8001000"/>
            <a:ext cx="10953750" cy="8572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نص وصورة عريضة">
  <p:cSld name="نص وصورة عريضة">
    <p:bg>
      <p:bgPr>
        <a:solidFill>
          <a:srgbClr val="12183F"/>
        </a:solidFill>
        <a:effectLst/>
      </p:bgPr>
    </p:bg>
    <p:spTree>
      <p:nvGrpSpPr>
        <p:cNvPr id="1" name=""/>
        <p:cNvGrpSpPr/>
        <p:nvPr/>
      </p:nvGrpSpPr>
      <p:grpSpPr>
        <a:xfrm>
          <a:off x="0" y="0"/>
          <a:ext cx="0" cy="0"/>
          <a:chOff x="0" y="0"/>
          <a:chExt cx="0" cy="0"/>
        </a:xfrm>
      </p:grpSpPr>
      <p:pic>
        <p:nvPicPr>
          <p:cNvPr id="91" name="Google Shape;78;p39"/>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92" name="Google Shape;79;p39"/>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80" name="Google Shape;80;p39">
            <a:extLst>
              <a:ext uri="{FF2B5EF4-FFF2-40B4-BE49-F238E27FC236}">
                <a16:creationId xmlns:a16="http://schemas.microsoft.com/office/drawing/2014/main" id="{9D1A89A9-83A6-4284-9D68-366E7964F596}"/>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81" name="Google Shape;81;p39">
            <a:extLst>
              <a:ext uri="{FF2B5EF4-FFF2-40B4-BE49-F238E27FC236}">
                <a16:creationId xmlns:a16="http://schemas.microsoft.com/office/drawing/2014/main" id="{6B9ABB3B-199A-480D-807C-04585C2D9796}"/>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82" name="Google Shape;82;p39">
            <a:extLst>
              <a:ext uri="{FF2B5EF4-FFF2-40B4-BE49-F238E27FC236}">
                <a16:creationId xmlns:a16="http://schemas.microsoft.com/office/drawing/2014/main" id="{7F5D7855-32DD-48CC-A7BF-A2418F1B892D}"/>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83" name="Google Shape;83;p39">
            <a:extLst>
              <a:ext uri="{FF2B5EF4-FFF2-40B4-BE49-F238E27FC236}">
                <a16:creationId xmlns:a16="http://schemas.microsoft.com/office/drawing/2014/main" id="{F509286A-834C-48EB-AD5D-A765390E1BC5}"/>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84" name="Google Shape;84;p39">
            <a:extLst>
              <a:ext uri="{FF2B5EF4-FFF2-40B4-BE49-F238E27FC236}">
                <a16:creationId xmlns:a16="http://schemas.microsoft.com/office/drawing/2014/main" id="{FE164D8A-9F75-4E4D-9E07-FC036CE78006}"/>
              </a:ext>
            </a:extLst>
          </p:cNvPr>
          <p:cNvSpPr>
            <a:spLocks noGrp="1"/>
          </p:cNvSpPr>
          <p:nvPr>
            <p:ph type="pic" idx="2"/>
          </p:nvPr>
        </p:nvSpPr>
        <p:spPr>
          <a:xfrm>
            <a:off x="1428750" y="4048125"/>
            <a:ext cx="8382000" cy="4714875"/>
          </a:xfrm>
          <a:prstGeom prst="rect">
            <a:avLst/>
          </a:prstGeom>
          <a:solidFill>
            <a:srgbClr val="161D48"/>
          </a:solidFill>
          <a:ln w="11425" cmpd="sng">
            <a:solidFill>
              <a:srgbClr val="4A5590"/>
            </a:solidFill>
            <a:prstDash val="solid"/>
            <a:headEnd type="none" w="sm" len="sm"/>
            <a:tailEnd type="none" w="sm" len="sm"/>
          </a:ln>
        </p:spPr>
      </p:sp>
      <p:sp>
        <p:nvSpPr>
          <p:cNvPr id="85" name="Google Shape;85;p39">
            <a:extLst>
              <a:ext uri="{FF2B5EF4-FFF2-40B4-BE49-F238E27FC236}">
                <a16:creationId xmlns:a16="http://schemas.microsoft.com/office/drawing/2014/main" id="{C497CA7C-E536-4247-AA37-8985E4447C17}"/>
              </a:ext>
            </a:extLst>
          </p:cNvPr>
          <p:cNvSpPr>
            <a:spLocks noGrp="1"/>
          </p:cNvSpPr>
          <p:nvPr>
            <p:ph type="body" idx="3"/>
          </p:nvPr>
        </p:nvSpPr>
        <p:spPr>
          <a:xfrm>
            <a:off x="10763250" y="4095750"/>
            <a:ext cx="63817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86" name="Google Shape;86;p39">
            <a:extLst>
              <a:ext uri="{FF2B5EF4-FFF2-40B4-BE49-F238E27FC236}">
                <a16:creationId xmlns:a16="http://schemas.microsoft.com/office/drawing/2014/main" id="{5D679F07-13A0-445A-8DBA-0273543556A1}"/>
              </a:ext>
            </a:extLst>
          </p:cNvPr>
          <p:cNvSpPr>
            <a:spLocks noGrp="1"/>
          </p:cNvSpPr>
          <p:nvPr>
            <p:ph type="body" idx="4"/>
          </p:nvPr>
        </p:nvSpPr>
        <p:spPr>
          <a:xfrm>
            <a:off x="10763250" y="4800600"/>
            <a:ext cx="63817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87" name="Google Shape;87;p39">
            <a:extLst>
              <a:ext uri="{FF2B5EF4-FFF2-40B4-BE49-F238E27FC236}">
                <a16:creationId xmlns:a16="http://schemas.microsoft.com/office/drawing/2014/main" id="{8CEC05A6-0B55-4EE6-AA76-B4C284CF3768}"/>
              </a:ext>
            </a:extLst>
          </p:cNvPr>
          <p:cNvSpPr>
            <a:spLocks noGrp="1"/>
          </p:cNvSpPr>
          <p:nvPr>
            <p:ph type="body" idx="5"/>
          </p:nvPr>
        </p:nvSpPr>
        <p:spPr>
          <a:xfrm>
            <a:off x="10763250" y="6667500"/>
            <a:ext cx="63817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88" name="Google Shape;88;p39">
            <a:extLst>
              <a:ext uri="{FF2B5EF4-FFF2-40B4-BE49-F238E27FC236}">
                <a16:creationId xmlns:a16="http://schemas.microsoft.com/office/drawing/2014/main" id="{93FF4A70-315A-41FA-A1C8-3622C685B918}"/>
              </a:ext>
            </a:extLst>
          </p:cNvPr>
          <p:cNvSpPr>
            <a:spLocks noGrp="1"/>
          </p:cNvSpPr>
          <p:nvPr>
            <p:ph type="body" idx="6"/>
          </p:nvPr>
        </p:nvSpPr>
        <p:spPr>
          <a:xfrm>
            <a:off x="10763250" y="7372350"/>
            <a:ext cx="63817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نص وصورة مربعة">
  <p:cSld name="نص وصورة مربعة">
    <p:bg>
      <p:bgPr>
        <a:solidFill>
          <a:srgbClr val="12183F"/>
        </a:solidFill>
        <a:effectLst/>
      </p:bgPr>
    </p:bg>
    <p:spTree>
      <p:nvGrpSpPr>
        <p:cNvPr id="1" name=""/>
        <p:cNvGrpSpPr/>
        <p:nvPr/>
      </p:nvGrpSpPr>
      <p:grpSpPr>
        <a:xfrm>
          <a:off x="0" y="0"/>
          <a:ext cx="0" cy="0"/>
          <a:chOff x="0" y="0"/>
          <a:chExt cx="0" cy="0"/>
        </a:xfrm>
      </p:grpSpPr>
      <p:pic>
        <p:nvPicPr>
          <p:cNvPr id="102" name="Google Shape;90;p40"/>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103" name="Google Shape;91;p40"/>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92" name="Google Shape;92;p40">
            <a:extLst>
              <a:ext uri="{FF2B5EF4-FFF2-40B4-BE49-F238E27FC236}">
                <a16:creationId xmlns:a16="http://schemas.microsoft.com/office/drawing/2014/main" id="{0A4D0302-D9C4-4B0E-BE5D-9FB75DF66D2E}"/>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93" name="Google Shape;93;p40">
            <a:extLst>
              <a:ext uri="{FF2B5EF4-FFF2-40B4-BE49-F238E27FC236}">
                <a16:creationId xmlns:a16="http://schemas.microsoft.com/office/drawing/2014/main" id="{2FB1D14F-BE43-46C1-B127-48FD9258CA53}"/>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94" name="Google Shape;94;p40">
            <a:extLst>
              <a:ext uri="{FF2B5EF4-FFF2-40B4-BE49-F238E27FC236}">
                <a16:creationId xmlns:a16="http://schemas.microsoft.com/office/drawing/2014/main" id="{DE6C4612-FB0F-4674-ACA6-6380C24BC832}"/>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95" name="Google Shape;95;p40">
            <a:extLst>
              <a:ext uri="{FF2B5EF4-FFF2-40B4-BE49-F238E27FC236}">
                <a16:creationId xmlns:a16="http://schemas.microsoft.com/office/drawing/2014/main" id="{1C620281-F1E0-4E1E-A8A3-4EC9B3484AE0}"/>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96" name="Google Shape;96;p40">
            <a:extLst>
              <a:ext uri="{FF2B5EF4-FFF2-40B4-BE49-F238E27FC236}">
                <a16:creationId xmlns:a16="http://schemas.microsoft.com/office/drawing/2014/main" id="{DACB8566-44B9-4D80-BF6A-1EFBEE2E34AF}"/>
              </a:ext>
            </a:extLst>
          </p:cNvPr>
          <p:cNvSpPr>
            <a:spLocks noGrp="1"/>
          </p:cNvSpPr>
          <p:nvPr>
            <p:ph type="pic" idx="2"/>
          </p:nvPr>
        </p:nvSpPr>
        <p:spPr>
          <a:xfrm>
            <a:off x="2190750" y="3476625"/>
            <a:ext cx="5715000" cy="5715000"/>
          </a:xfrm>
          <a:prstGeom prst="rect">
            <a:avLst/>
          </a:prstGeom>
          <a:solidFill>
            <a:srgbClr val="161D48"/>
          </a:solidFill>
          <a:ln w="11425" cmpd="sng">
            <a:solidFill>
              <a:srgbClr val="4A5590"/>
            </a:solidFill>
            <a:prstDash val="solid"/>
            <a:headEnd type="none" w="sm" len="sm"/>
            <a:tailEnd type="none" w="sm" len="sm"/>
          </a:ln>
        </p:spPr>
      </p:sp>
      <p:sp>
        <p:nvSpPr>
          <p:cNvPr id="97" name="Google Shape;97;p40">
            <a:extLst>
              <a:ext uri="{FF2B5EF4-FFF2-40B4-BE49-F238E27FC236}">
                <a16:creationId xmlns:a16="http://schemas.microsoft.com/office/drawing/2014/main" id="{F42DB63F-9DC7-43EC-9436-92D80155C202}"/>
              </a:ext>
            </a:extLst>
          </p:cNvPr>
          <p:cNvSpPr>
            <a:spLocks noGrp="1"/>
          </p:cNvSpPr>
          <p:nvPr>
            <p:ph type="body" idx="3"/>
          </p:nvPr>
        </p:nvSpPr>
        <p:spPr>
          <a:xfrm>
            <a:off x="10001250" y="3905250"/>
            <a:ext cx="7143750" cy="800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98" name="Google Shape;98;p40">
            <a:extLst>
              <a:ext uri="{FF2B5EF4-FFF2-40B4-BE49-F238E27FC236}">
                <a16:creationId xmlns:a16="http://schemas.microsoft.com/office/drawing/2014/main" id="{FDAA4988-B682-4C95-821C-567E1C164E54}"/>
              </a:ext>
            </a:extLst>
          </p:cNvPr>
          <p:cNvSpPr>
            <a:spLocks noGrp="1"/>
          </p:cNvSpPr>
          <p:nvPr>
            <p:ph type="body" idx="4"/>
          </p:nvPr>
        </p:nvSpPr>
        <p:spPr>
          <a:xfrm>
            <a:off x="10001250" y="5191125"/>
            <a:ext cx="7143750" cy="24288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99" name="Google Shape;99;p40">
            <a:extLst>
              <a:ext uri="{FF2B5EF4-FFF2-40B4-BE49-F238E27FC236}">
                <a16:creationId xmlns:a16="http://schemas.microsoft.com/office/drawing/2014/main" id="{0BE55AB1-C1A9-4C54-9A05-5B5A34C2B1E7}"/>
              </a:ext>
            </a:extLst>
          </p:cNvPr>
          <p:cNvSpPr>
            <a:spLocks noGrp="1"/>
          </p:cNvSpPr>
          <p:nvPr>
            <p:ph type="body" idx="5"/>
          </p:nvPr>
        </p:nvSpPr>
        <p:spPr>
          <a:xfrm>
            <a:off x="10001250" y="8048625"/>
            <a:ext cx="7143750" cy="7429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مؤشرات">
  <p:cSld name="مؤشرات">
    <p:bg>
      <p:bgPr>
        <a:solidFill>
          <a:srgbClr val="12183F"/>
        </a:solidFill>
        <a:effectLst/>
      </p:bgPr>
    </p:bg>
    <p:spTree>
      <p:nvGrpSpPr>
        <p:cNvPr id="1" name=""/>
        <p:cNvGrpSpPr/>
        <p:nvPr/>
      </p:nvGrpSpPr>
      <p:grpSpPr>
        <a:xfrm>
          <a:off x="0" y="0"/>
          <a:ext cx="0" cy="0"/>
          <a:chOff x="0" y="0"/>
          <a:chExt cx="0" cy="0"/>
        </a:xfrm>
      </p:grpSpPr>
      <p:pic>
        <p:nvPicPr>
          <p:cNvPr id="123" name="Google Shape;101;p41"/>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124" name="Google Shape;102;p41"/>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103" name="Google Shape;103;p41">
            <a:extLst>
              <a:ext uri="{FF2B5EF4-FFF2-40B4-BE49-F238E27FC236}">
                <a16:creationId xmlns:a16="http://schemas.microsoft.com/office/drawing/2014/main" id="{2657F108-2745-4246-900F-69310A81ACD4}"/>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04" name="Google Shape;104;p41">
            <a:extLst>
              <a:ext uri="{FF2B5EF4-FFF2-40B4-BE49-F238E27FC236}">
                <a16:creationId xmlns:a16="http://schemas.microsoft.com/office/drawing/2014/main" id="{1549BE18-7249-46B5-8004-DED1BA7D6058}"/>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05" name="Google Shape;105;p41">
            <a:extLst>
              <a:ext uri="{FF2B5EF4-FFF2-40B4-BE49-F238E27FC236}">
                <a16:creationId xmlns:a16="http://schemas.microsoft.com/office/drawing/2014/main" id="{636C9E9D-A74E-4396-A84C-014DB78AAB83}"/>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06" name="Google Shape;106;p41">
            <a:extLst>
              <a:ext uri="{FF2B5EF4-FFF2-40B4-BE49-F238E27FC236}">
                <a16:creationId xmlns:a16="http://schemas.microsoft.com/office/drawing/2014/main" id="{67A660AE-8FC8-40D4-9098-A3D628DBC751}"/>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107" name="Google Shape;107;p41">
            <a:extLst>
              <a:ext uri="{FF2B5EF4-FFF2-40B4-BE49-F238E27FC236}">
                <a16:creationId xmlns:a16="http://schemas.microsoft.com/office/drawing/2014/main" id="{50E03EB7-2CB0-4250-B86C-A1E259C44A7C}"/>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08" name="Google Shape;108;p41">
            <a:extLst>
              <a:ext uri="{FF2B5EF4-FFF2-40B4-BE49-F238E27FC236}">
                <a16:creationId xmlns:a16="http://schemas.microsoft.com/office/drawing/2014/main" id="{D2833A06-7AC8-4B37-B18D-E24E2815C6D4}"/>
              </a:ext>
            </a:extLst>
          </p:cNvPr>
          <p:cNvSpPr>
            <a:spLocks noGrp="1"/>
          </p:cNvSpPr>
          <p:nvPr>
            <p:ph type="body" idx="3"/>
          </p:nvPr>
        </p:nvSpPr>
        <p:spPr>
          <a:xfrm>
            <a:off x="13716000" y="4333875"/>
            <a:ext cx="3429000" cy="1524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09" name="Google Shape;109;p41">
            <a:extLst>
              <a:ext uri="{FF2B5EF4-FFF2-40B4-BE49-F238E27FC236}">
                <a16:creationId xmlns:a16="http://schemas.microsoft.com/office/drawing/2014/main" id="{245DEC0A-3B4D-47C3-AD71-30BE3D417CEB}"/>
              </a:ext>
            </a:extLst>
          </p:cNvPr>
          <p:cNvSpPr>
            <a:spLocks noGrp="1"/>
          </p:cNvSpPr>
          <p:nvPr>
            <p:ph type="body" idx="4"/>
          </p:nvPr>
        </p:nvSpPr>
        <p:spPr>
          <a:xfrm>
            <a:off x="13716000" y="6048375"/>
            <a:ext cx="3429000" cy="714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0" name="Google Shape;110;p41">
            <a:extLst>
              <a:ext uri="{FF2B5EF4-FFF2-40B4-BE49-F238E27FC236}">
                <a16:creationId xmlns:a16="http://schemas.microsoft.com/office/drawing/2014/main" id="{B0C2FFA0-86B5-4C5F-B190-5881F92F3EC4}"/>
              </a:ext>
            </a:extLst>
          </p:cNvPr>
          <p:cNvSpPr>
            <a:spLocks noGrp="1"/>
          </p:cNvSpPr>
          <p:nvPr>
            <p:ph type="body" idx="5"/>
          </p:nvPr>
        </p:nvSpPr>
        <p:spPr>
          <a:xfrm>
            <a:off x="13716000" y="7000875"/>
            <a:ext cx="3429000" cy="1000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1" name="Google Shape;111;p41">
            <a:extLst>
              <a:ext uri="{FF2B5EF4-FFF2-40B4-BE49-F238E27FC236}">
                <a16:creationId xmlns:a16="http://schemas.microsoft.com/office/drawing/2014/main" id="{3FE9724F-AD71-4117-BC67-8549AFB6A281}"/>
              </a:ext>
            </a:extLst>
          </p:cNvPr>
          <p:cNvSpPr>
            <a:spLocks noGrp="1"/>
          </p:cNvSpPr>
          <p:nvPr>
            <p:ph type="body" idx="6"/>
          </p:nvPr>
        </p:nvSpPr>
        <p:spPr>
          <a:xfrm>
            <a:off x="9715500" y="4333875"/>
            <a:ext cx="3429000" cy="1524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2" name="Google Shape;112;p41">
            <a:extLst>
              <a:ext uri="{FF2B5EF4-FFF2-40B4-BE49-F238E27FC236}">
                <a16:creationId xmlns:a16="http://schemas.microsoft.com/office/drawing/2014/main" id="{CCB14B90-8BA2-41E8-9C7C-E2E3680A7820}"/>
              </a:ext>
            </a:extLst>
          </p:cNvPr>
          <p:cNvSpPr>
            <a:spLocks noGrp="1"/>
          </p:cNvSpPr>
          <p:nvPr>
            <p:ph type="body" idx="7"/>
          </p:nvPr>
        </p:nvSpPr>
        <p:spPr>
          <a:xfrm>
            <a:off x="9715500" y="6048375"/>
            <a:ext cx="3429000" cy="714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3" name="Google Shape;113;p41">
            <a:extLst>
              <a:ext uri="{FF2B5EF4-FFF2-40B4-BE49-F238E27FC236}">
                <a16:creationId xmlns:a16="http://schemas.microsoft.com/office/drawing/2014/main" id="{3051974D-BA8C-49B9-9C85-90CD20826C43}"/>
              </a:ext>
            </a:extLst>
          </p:cNvPr>
          <p:cNvSpPr>
            <a:spLocks noGrp="1"/>
          </p:cNvSpPr>
          <p:nvPr>
            <p:ph type="body" idx="8"/>
          </p:nvPr>
        </p:nvSpPr>
        <p:spPr>
          <a:xfrm>
            <a:off x="9715500" y="7000875"/>
            <a:ext cx="3429000" cy="1000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4" name="Google Shape;114;p41">
            <a:extLst>
              <a:ext uri="{FF2B5EF4-FFF2-40B4-BE49-F238E27FC236}">
                <a16:creationId xmlns:a16="http://schemas.microsoft.com/office/drawing/2014/main" id="{5A211ABE-96C4-4456-A1A9-351C15343A6D}"/>
              </a:ext>
            </a:extLst>
          </p:cNvPr>
          <p:cNvSpPr>
            <a:spLocks noGrp="1"/>
          </p:cNvSpPr>
          <p:nvPr>
            <p:ph type="body" idx="9"/>
          </p:nvPr>
        </p:nvSpPr>
        <p:spPr>
          <a:xfrm>
            <a:off x="5715000" y="4333875"/>
            <a:ext cx="3429000" cy="1524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5" name="Google Shape;115;p41">
            <a:extLst>
              <a:ext uri="{FF2B5EF4-FFF2-40B4-BE49-F238E27FC236}">
                <a16:creationId xmlns:a16="http://schemas.microsoft.com/office/drawing/2014/main" id="{B14A2B49-A407-4EAB-8880-64318DECB709}"/>
              </a:ext>
            </a:extLst>
          </p:cNvPr>
          <p:cNvSpPr>
            <a:spLocks noGrp="1"/>
          </p:cNvSpPr>
          <p:nvPr>
            <p:ph type="body" idx="13"/>
          </p:nvPr>
        </p:nvSpPr>
        <p:spPr>
          <a:xfrm>
            <a:off x="5715000" y="6048375"/>
            <a:ext cx="3429000" cy="714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6" name="Google Shape;116;p41">
            <a:extLst>
              <a:ext uri="{FF2B5EF4-FFF2-40B4-BE49-F238E27FC236}">
                <a16:creationId xmlns:a16="http://schemas.microsoft.com/office/drawing/2014/main" id="{81BC0042-ECD1-4143-A4A3-1F126AC4E783}"/>
              </a:ext>
            </a:extLst>
          </p:cNvPr>
          <p:cNvSpPr>
            <a:spLocks noGrp="1"/>
          </p:cNvSpPr>
          <p:nvPr>
            <p:ph type="body" idx="14"/>
          </p:nvPr>
        </p:nvSpPr>
        <p:spPr>
          <a:xfrm>
            <a:off x="5715000" y="7000875"/>
            <a:ext cx="3429000" cy="1000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7" name="Google Shape;117;p41">
            <a:extLst>
              <a:ext uri="{FF2B5EF4-FFF2-40B4-BE49-F238E27FC236}">
                <a16:creationId xmlns:a16="http://schemas.microsoft.com/office/drawing/2014/main" id="{0E9B2CB3-7FA1-499F-8FC0-2D4B38FDD63C}"/>
              </a:ext>
            </a:extLst>
          </p:cNvPr>
          <p:cNvSpPr>
            <a:spLocks noGrp="1"/>
          </p:cNvSpPr>
          <p:nvPr>
            <p:ph type="body" idx="15"/>
          </p:nvPr>
        </p:nvSpPr>
        <p:spPr>
          <a:xfrm>
            <a:off x="1714500" y="4333875"/>
            <a:ext cx="3429000" cy="1524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8" name="Google Shape;118;p41">
            <a:extLst>
              <a:ext uri="{FF2B5EF4-FFF2-40B4-BE49-F238E27FC236}">
                <a16:creationId xmlns:a16="http://schemas.microsoft.com/office/drawing/2014/main" id="{1CB6F148-4D9C-42A3-AE7D-25D9A6139179}"/>
              </a:ext>
            </a:extLst>
          </p:cNvPr>
          <p:cNvSpPr>
            <a:spLocks noGrp="1"/>
          </p:cNvSpPr>
          <p:nvPr>
            <p:ph type="body" idx="16"/>
          </p:nvPr>
        </p:nvSpPr>
        <p:spPr>
          <a:xfrm>
            <a:off x="1714500" y="6048375"/>
            <a:ext cx="3429000" cy="714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19" name="Google Shape;119;p41">
            <a:extLst>
              <a:ext uri="{FF2B5EF4-FFF2-40B4-BE49-F238E27FC236}">
                <a16:creationId xmlns:a16="http://schemas.microsoft.com/office/drawing/2014/main" id="{545B9EE5-7528-4214-AA60-82B94ED48454}"/>
              </a:ext>
            </a:extLst>
          </p:cNvPr>
          <p:cNvSpPr>
            <a:spLocks noGrp="1"/>
          </p:cNvSpPr>
          <p:nvPr>
            <p:ph type="body" idx="17"/>
          </p:nvPr>
        </p:nvSpPr>
        <p:spPr>
          <a:xfrm>
            <a:off x="1714500" y="7000875"/>
            <a:ext cx="3429000" cy="1000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20" name="Google Shape;120;p41">
            <a:extLst>
              <a:ext uri="{FF2B5EF4-FFF2-40B4-BE49-F238E27FC236}">
                <a16:creationId xmlns:a16="http://schemas.microsoft.com/office/drawing/2014/main" id="{0E14F432-0B3A-41D7-ACEB-0B6B50B13A7E}"/>
              </a:ext>
            </a:extLst>
          </p:cNvPr>
          <p:cNvSpPr>
            <a:spLocks noGrp="1"/>
          </p:cNvSpPr>
          <p:nvPr>
            <p:ph type="body" idx="18"/>
          </p:nvPr>
        </p:nvSpPr>
        <p:spPr>
          <a:xfrm>
            <a:off x="1714500" y="8763000"/>
            <a:ext cx="15430500" cy="4762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رسالة رئيسية">
  <p:cSld name="رسالة رئيسية">
    <p:bg>
      <p:bgPr>
        <a:solidFill>
          <a:srgbClr val="F2F4FF"/>
        </a:solidFill>
        <a:effectLst/>
      </p:bgPr>
    </p:bg>
    <p:spTree>
      <p:nvGrpSpPr>
        <p:cNvPr id="1" name=""/>
        <p:cNvGrpSpPr/>
        <p:nvPr/>
      </p:nvGrpSpPr>
      <p:grpSpPr>
        <a:xfrm>
          <a:off x="0" y="0"/>
          <a:ext cx="0" cy="0"/>
          <a:chOff x="0" y="0"/>
          <a:chExt cx="0" cy="0"/>
        </a:xfrm>
      </p:grpSpPr>
      <p:pic>
        <p:nvPicPr>
          <p:cNvPr id="131" name="Google Shape;122;p42"/>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132" name="Google Shape;123;p42"/>
          <p:cNvPicPr>
            <a:picLocks noChangeAspect="1"/>
          </p:cNvPicPr>
          <p:nvPr/>
        </p:nvPicPr>
        <p:blipFill rotWithShape="1">
          <a:blip r:embed="rId3">
            <a:alphaModFix/>
          </a:blip>
          <a:srcRect/>
          <a:stretch/>
        </p:blipFill>
        <p:spPr>
          <a:xfrm>
            <a:off x="1069873" y="685800"/>
            <a:ext cx="3994355" cy="1238250"/>
          </a:xfrm>
          <a:prstGeom prst="rect">
            <a:avLst/>
          </a:prstGeom>
          <a:ln>
            <a:noFill/>
          </a:ln>
        </p:spPr>
      </p:pic>
      <p:sp>
        <p:nvSpPr>
          <p:cNvPr id="124" name="Google Shape;124;p42">
            <a:extLst>
              <a:ext uri="{FF2B5EF4-FFF2-40B4-BE49-F238E27FC236}">
                <a16:creationId xmlns:a16="http://schemas.microsoft.com/office/drawing/2014/main" id="{632FE702-4AE1-4BF8-97A1-C967D961CBDC}"/>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4A5590"/>
                </a:solidFill>
                <a:latin typeface="Readex Pro"/>
                <a:ea typeface="Readex Pro"/>
                <a:cs typeface="Readex Pro"/>
              </a:rPr>
              <a:t>تحدي الذكاء الاصطناعي في خدمة المحتوى الإسلامي</a:t>
            </a:r>
            <a:endParaRPr/>
          </a:p>
        </p:txBody>
      </p:sp>
      <p:sp>
        <p:nvSpPr>
          <p:cNvPr id="125" name="Google Shape;125;p42">
            <a:extLst>
              <a:ext uri="{FF2B5EF4-FFF2-40B4-BE49-F238E27FC236}">
                <a16:creationId xmlns:a16="http://schemas.microsoft.com/office/drawing/2014/main" id="{558D7CFD-4290-4158-9B73-F2E6D79B78D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4A5590"/>
                </a:solidFill>
                <a:latin typeface="Readex Pro"/>
                <a:ea typeface="Readex Pro"/>
                <a:cs typeface="Readex Pro"/>
              </a:defRPr>
            </a:lvl1pPr>
            <a:lvl2pPr marL="0" marR="0" indent="0" algn="l">
              <a:spcBef>
                <a:spcPts val="0"/>
              </a:spcBef>
              <a:buNone/>
              <a:defRPr sz="1800" b="0">
                <a:solidFill>
                  <a:srgbClr val="4A5590"/>
                </a:solidFill>
                <a:latin typeface="Readex Pro"/>
                <a:ea typeface="Readex Pro"/>
                <a:cs typeface="Readex Pro"/>
              </a:defRPr>
            </a:lvl2pPr>
            <a:lvl3pPr marL="0" marR="0" indent="0" algn="l">
              <a:spcBef>
                <a:spcPts val="0"/>
              </a:spcBef>
              <a:buNone/>
              <a:defRPr sz="1800" b="0">
                <a:solidFill>
                  <a:srgbClr val="4A5590"/>
                </a:solidFill>
                <a:latin typeface="Readex Pro"/>
                <a:ea typeface="Readex Pro"/>
                <a:cs typeface="Readex Pro"/>
              </a:defRPr>
            </a:lvl3pPr>
            <a:lvl4pPr marL="0" marR="0" indent="0" algn="l">
              <a:spcBef>
                <a:spcPts val="0"/>
              </a:spcBef>
              <a:buNone/>
              <a:defRPr sz="1800" b="0">
                <a:solidFill>
                  <a:srgbClr val="4A5590"/>
                </a:solidFill>
                <a:latin typeface="Readex Pro"/>
                <a:ea typeface="Readex Pro"/>
                <a:cs typeface="Readex Pro"/>
              </a:defRPr>
            </a:lvl4pPr>
            <a:lvl5pPr marL="0" marR="0" indent="0" algn="l">
              <a:spcBef>
                <a:spcPts val="0"/>
              </a:spcBef>
              <a:buNone/>
              <a:defRPr sz="1800" b="0">
                <a:solidFill>
                  <a:srgbClr val="4A5590"/>
                </a:solidFill>
                <a:latin typeface="Readex Pro"/>
                <a:ea typeface="Readex Pro"/>
                <a:cs typeface="Readex Pro"/>
              </a:defRPr>
            </a:lvl5pPr>
            <a:lvl6pPr marL="0" marR="0" indent="0" algn="l">
              <a:spcBef>
                <a:spcPts val="0"/>
              </a:spcBef>
              <a:buNone/>
              <a:defRPr sz="1800" b="0">
                <a:solidFill>
                  <a:srgbClr val="4A5590"/>
                </a:solidFill>
                <a:latin typeface="Readex Pro"/>
                <a:ea typeface="Readex Pro"/>
                <a:cs typeface="Readex Pro"/>
              </a:defRPr>
            </a:lvl6pPr>
            <a:lvl7pPr marL="0" marR="0" indent="0" algn="l">
              <a:spcBef>
                <a:spcPts val="0"/>
              </a:spcBef>
              <a:buNone/>
              <a:defRPr sz="1800" b="0">
                <a:solidFill>
                  <a:srgbClr val="4A5590"/>
                </a:solidFill>
                <a:latin typeface="Readex Pro"/>
                <a:ea typeface="Readex Pro"/>
                <a:cs typeface="Readex Pro"/>
              </a:defRPr>
            </a:lvl7pPr>
            <a:lvl8pPr marL="0" marR="0" indent="0" algn="l">
              <a:spcBef>
                <a:spcPts val="0"/>
              </a:spcBef>
              <a:buNone/>
              <a:defRPr sz="1800" b="0">
                <a:solidFill>
                  <a:srgbClr val="4A5590"/>
                </a:solidFill>
                <a:latin typeface="Readex Pro"/>
                <a:ea typeface="Readex Pro"/>
                <a:cs typeface="Readex Pro"/>
              </a:defRPr>
            </a:lvl8pPr>
            <a:lvl9pPr marL="0" marR="0" indent="0" algn="l">
              <a:spcBef>
                <a:spcPts val="0"/>
              </a:spcBef>
              <a:buNone/>
              <a:defRPr sz="1800" b="0">
                <a:solidFill>
                  <a:srgbClr val="4A5590"/>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26" name="Google Shape;126;p42">
            <a:extLst>
              <a:ext uri="{FF2B5EF4-FFF2-40B4-BE49-F238E27FC236}">
                <a16:creationId xmlns:a16="http://schemas.microsoft.com/office/drawing/2014/main" id="{4F186FE8-3E8D-42B0-B8D2-2449711A019C}"/>
              </a:ext>
            </a:extLst>
          </p:cNvPr>
          <p:cNvSpPr>
            <a:spLocks noGrp="1"/>
          </p:cNvSpPr>
          <p:nvPr>
            <p:ph type="title"/>
          </p:nvPr>
        </p:nvSpPr>
        <p:spPr>
          <a:xfrm>
            <a:off x="2476500" y="3143250"/>
            <a:ext cx="13335000" cy="295275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27" name="Google Shape;127;p42">
            <a:extLst>
              <a:ext uri="{FF2B5EF4-FFF2-40B4-BE49-F238E27FC236}">
                <a16:creationId xmlns:a16="http://schemas.microsoft.com/office/drawing/2014/main" id="{A449E65F-F2BC-47E1-A540-F4974DC7B765}"/>
              </a:ext>
            </a:extLst>
          </p:cNvPr>
          <p:cNvSpPr>
            <a:spLocks noGrp="1"/>
          </p:cNvSpPr>
          <p:nvPr>
            <p:ph type="body" idx="1"/>
          </p:nvPr>
        </p:nvSpPr>
        <p:spPr>
          <a:xfrm>
            <a:off x="3333750" y="6905625"/>
            <a:ext cx="11620500" cy="8572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28" name="Google Shape;128;p42">
            <a:extLst>
              <a:ext uri="{FF2B5EF4-FFF2-40B4-BE49-F238E27FC236}">
                <a16:creationId xmlns:a16="http://schemas.microsoft.com/office/drawing/2014/main" id="{E2D92F0C-22B5-4068-BA2D-73D16558B242}"/>
              </a:ext>
            </a:extLst>
          </p:cNvPr>
          <p:cNvSpPr>
            <a:spLocks noGrp="1"/>
          </p:cNvSpPr>
          <p:nvPr>
            <p:ph type="body" idx="2"/>
          </p:nvPr>
        </p:nvSpPr>
        <p:spPr>
          <a:xfrm>
            <a:off x="3333750" y="8239125"/>
            <a:ext cx="11620500" cy="5238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جدول داكن">
  <p:cSld name="جدول داكن">
    <p:bg>
      <p:bgPr>
        <a:solidFill>
          <a:srgbClr val="12183F"/>
        </a:solidFill>
        <a:effectLst/>
      </p:bgPr>
    </p:bg>
    <p:spTree>
      <p:nvGrpSpPr>
        <p:cNvPr id="1" name=""/>
        <p:cNvGrpSpPr/>
        <p:nvPr/>
      </p:nvGrpSpPr>
      <p:grpSpPr>
        <a:xfrm>
          <a:off x="0" y="0"/>
          <a:ext cx="0" cy="0"/>
          <a:chOff x="0" y="0"/>
          <a:chExt cx="0" cy="0"/>
        </a:xfrm>
      </p:grpSpPr>
      <p:pic>
        <p:nvPicPr>
          <p:cNvPr id="141" name="Google Shape;130;p43"/>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142" name="Google Shape;131;p43"/>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132" name="Google Shape;132;p43">
            <a:extLst>
              <a:ext uri="{FF2B5EF4-FFF2-40B4-BE49-F238E27FC236}">
                <a16:creationId xmlns:a16="http://schemas.microsoft.com/office/drawing/2014/main" id="{DFDBCDFC-E24B-4A64-942E-FBC53EBAE02A}"/>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33" name="Google Shape;133;p43">
            <a:extLst>
              <a:ext uri="{FF2B5EF4-FFF2-40B4-BE49-F238E27FC236}">
                <a16:creationId xmlns:a16="http://schemas.microsoft.com/office/drawing/2014/main" id="{26900DD5-0081-43EF-BF67-A62D072DC2DE}"/>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34" name="Google Shape;134;p43">
            <a:extLst>
              <a:ext uri="{FF2B5EF4-FFF2-40B4-BE49-F238E27FC236}">
                <a16:creationId xmlns:a16="http://schemas.microsoft.com/office/drawing/2014/main" id="{4FA457DB-4EAD-486A-9D06-070056D9AB5E}"/>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35" name="Google Shape;135;p43">
            <a:extLst>
              <a:ext uri="{FF2B5EF4-FFF2-40B4-BE49-F238E27FC236}">
                <a16:creationId xmlns:a16="http://schemas.microsoft.com/office/drawing/2014/main" id="{5597A125-1059-48D4-852F-B3D529EAD02B}"/>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136" name="Google Shape;136;p43">
            <a:extLst>
              <a:ext uri="{FF2B5EF4-FFF2-40B4-BE49-F238E27FC236}">
                <a16:creationId xmlns:a16="http://schemas.microsoft.com/office/drawing/2014/main" id="{5917F2DF-2002-4BB6-9B72-A8871BBFEFD3}"/>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37" name="Google Shape;137;p43">
            <a:extLst>
              <a:ext uri="{FF2B5EF4-FFF2-40B4-BE49-F238E27FC236}">
                <a16:creationId xmlns:a16="http://schemas.microsoft.com/office/drawing/2014/main" id="{BF2B45E6-B3C3-4981-90E3-DFF941A84EF7}"/>
              </a:ext>
            </a:extLst>
          </p:cNvPr>
          <p:cNvSpPr>
            <a:spLocks noGrp="1"/>
          </p:cNvSpPr>
          <p:nvPr>
            <p:ph type="body" idx="3"/>
          </p:nvPr>
        </p:nvSpPr>
        <p:spPr>
          <a:xfrm>
            <a:off x="1714500" y="8810625"/>
            <a:ext cx="15430500" cy="4572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38" name="Google Shape;138;p43">
            <a:extLst>
              <a:ext uri="{FF2B5EF4-FFF2-40B4-BE49-F238E27FC236}">
                <a16:creationId xmlns:a16="http://schemas.microsoft.com/office/drawing/2014/main" id="{9ECDD5A5-EABE-4C00-9AD7-7CE79EED73EE}"/>
              </a:ext>
            </a:extLst>
          </p:cNvPr>
          <p:cNvSpPr>
            <a:spLocks noGrp="1"/>
          </p:cNvSpPr>
          <p:nvPr>
            <p:ph type="tbl" idx="4"/>
          </p:nvPr>
        </p:nvSpPr>
        <p:spPr>
          <a:xfrm>
            <a:off x="1714500" y="3905250"/>
            <a:ext cx="15430500" cy="4476750"/>
          </a:xfrm>
          <a:prstGeom prst="rect">
            <a:avLst/>
          </a:prstGeom>
          <a:noFill/>
          <a:ln>
            <a:noFill/>
          </a:ln>
        </p:spPr>
        <p:txBody>
          <a:bodyPr spcFirstLastPara="1" wrap="square" lIns="254000" tIns="45700" rIns="254000" bIns="45700" anchor="ctr">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خط زمني">
  <p:cSld name="خط زمني">
    <p:bg>
      <p:bgPr>
        <a:solidFill>
          <a:srgbClr val="12183F"/>
        </a:solidFill>
        <a:effectLst/>
      </p:bgPr>
    </p:bg>
    <p:spTree>
      <p:nvGrpSpPr>
        <p:cNvPr id="1" name=""/>
        <p:cNvGrpSpPr/>
        <p:nvPr/>
      </p:nvGrpSpPr>
      <p:grpSpPr>
        <a:xfrm>
          <a:off x="0" y="0"/>
          <a:ext cx="0" cy="0"/>
          <a:chOff x="0" y="0"/>
          <a:chExt cx="0" cy="0"/>
        </a:xfrm>
      </p:grpSpPr>
      <p:pic>
        <p:nvPicPr>
          <p:cNvPr id="174" name="Google Shape;140;p44"/>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175" name="Google Shape;141;p44"/>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142" name="Google Shape;142;p44">
            <a:extLst>
              <a:ext uri="{FF2B5EF4-FFF2-40B4-BE49-F238E27FC236}">
                <a16:creationId xmlns:a16="http://schemas.microsoft.com/office/drawing/2014/main" id="{4C3E6242-BD99-4812-8B23-DC43772E8F80}"/>
              </a:ext>
            </a:extLst>
          </p:cNvPr>
          <p:cNvSpPr>
            <a:spLocks noGrp="1"/>
          </p:cNvSpPr>
          <p:nvPr/>
        </p:nvSpPr>
        <p:spPr>
          <a:xfrm>
            <a:off x="14287500" y="4667250"/>
            <a:ext cx="2857500" cy="47625"/>
          </a:xfrm>
          <a:prstGeom prst="rect">
            <a:avLst/>
          </a:prstGeom>
          <a:solidFill>
            <a:srgbClr val="6150EA"/>
          </a:solidFill>
          <a:ln w="11425" cmpd="sng">
            <a:solidFill>
              <a:srgbClr val="6150EA"/>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43" name="Google Shape;143;p44">
            <a:extLst>
              <a:ext uri="{FF2B5EF4-FFF2-40B4-BE49-F238E27FC236}">
                <a16:creationId xmlns:a16="http://schemas.microsoft.com/office/drawing/2014/main" id="{BD0695ED-864B-4D33-9348-B1FFF570AC30}"/>
              </a:ext>
            </a:extLst>
          </p:cNvPr>
          <p:cNvSpPr>
            <a:spLocks noGrp="1"/>
          </p:cNvSpPr>
          <p:nvPr/>
        </p:nvSpPr>
        <p:spPr>
          <a:xfrm>
            <a:off x="11144250" y="4667250"/>
            <a:ext cx="2857500" cy="47625"/>
          </a:xfrm>
          <a:prstGeom prst="rect">
            <a:avLst/>
          </a:prstGeom>
          <a:solidFill>
            <a:srgbClr val="6150EA"/>
          </a:solidFill>
          <a:ln w="11425" cmpd="sng">
            <a:solidFill>
              <a:srgbClr val="6150EA"/>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44" name="Google Shape;144;p44">
            <a:extLst>
              <a:ext uri="{FF2B5EF4-FFF2-40B4-BE49-F238E27FC236}">
                <a16:creationId xmlns:a16="http://schemas.microsoft.com/office/drawing/2014/main" id="{CB3F885E-206C-4071-B078-2AC2EA7FFB11}"/>
              </a:ext>
            </a:extLst>
          </p:cNvPr>
          <p:cNvSpPr>
            <a:spLocks noGrp="1"/>
          </p:cNvSpPr>
          <p:nvPr/>
        </p:nvSpPr>
        <p:spPr>
          <a:xfrm>
            <a:off x="8001000" y="4667250"/>
            <a:ext cx="2857500" cy="47625"/>
          </a:xfrm>
          <a:prstGeom prst="rect">
            <a:avLst/>
          </a:prstGeom>
          <a:solidFill>
            <a:srgbClr val="6150EA"/>
          </a:solidFill>
          <a:ln w="11425" cmpd="sng">
            <a:solidFill>
              <a:srgbClr val="6150EA"/>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45" name="Google Shape;145;p44">
            <a:extLst>
              <a:ext uri="{FF2B5EF4-FFF2-40B4-BE49-F238E27FC236}">
                <a16:creationId xmlns:a16="http://schemas.microsoft.com/office/drawing/2014/main" id="{25C5BEB8-4BEA-4E26-AFE9-8352806616B1}"/>
              </a:ext>
            </a:extLst>
          </p:cNvPr>
          <p:cNvSpPr>
            <a:spLocks noGrp="1"/>
          </p:cNvSpPr>
          <p:nvPr/>
        </p:nvSpPr>
        <p:spPr>
          <a:xfrm>
            <a:off x="4857750" y="4667250"/>
            <a:ext cx="2857500" cy="47625"/>
          </a:xfrm>
          <a:prstGeom prst="rect">
            <a:avLst/>
          </a:prstGeom>
          <a:solidFill>
            <a:srgbClr val="6150EA"/>
          </a:solidFill>
          <a:ln w="11425" cmpd="sng">
            <a:solidFill>
              <a:srgbClr val="6150EA"/>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46" name="Google Shape;146;p44">
            <a:extLst>
              <a:ext uri="{FF2B5EF4-FFF2-40B4-BE49-F238E27FC236}">
                <a16:creationId xmlns:a16="http://schemas.microsoft.com/office/drawing/2014/main" id="{D5BD3668-06D9-48F3-9EEA-69CC29F33973}"/>
              </a:ext>
            </a:extLst>
          </p:cNvPr>
          <p:cNvSpPr>
            <a:spLocks noGrp="1"/>
          </p:cNvSpPr>
          <p:nvPr/>
        </p:nvSpPr>
        <p:spPr>
          <a:xfrm>
            <a:off x="1714500" y="4667250"/>
            <a:ext cx="2857500" cy="47625"/>
          </a:xfrm>
          <a:prstGeom prst="rect">
            <a:avLst/>
          </a:prstGeom>
          <a:solidFill>
            <a:srgbClr val="6150EA"/>
          </a:solidFill>
          <a:ln w="11425" cmpd="sng">
            <a:solidFill>
              <a:srgbClr val="6150EA"/>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47" name="Google Shape;147;p44">
            <a:extLst>
              <a:ext uri="{FF2B5EF4-FFF2-40B4-BE49-F238E27FC236}">
                <a16:creationId xmlns:a16="http://schemas.microsoft.com/office/drawing/2014/main" id="{14E03DBA-B291-4827-A7C7-EAB5923DBE7D}"/>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48" name="Google Shape;148;p44">
            <a:extLst>
              <a:ext uri="{FF2B5EF4-FFF2-40B4-BE49-F238E27FC236}">
                <a16:creationId xmlns:a16="http://schemas.microsoft.com/office/drawing/2014/main" id="{E097FC2D-5D41-40EE-92C2-BBF47B8B90D8}"/>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49" name="Google Shape;149;p44">
            <a:extLst>
              <a:ext uri="{FF2B5EF4-FFF2-40B4-BE49-F238E27FC236}">
                <a16:creationId xmlns:a16="http://schemas.microsoft.com/office/drawing/2014/main" id="{98A3277C-63CD-4FDD-B2B6-7C6DCDDFC47D}"/>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50" name="Google Shape;150;p44">
            <a:extLst>
              <a:ext uri="{FF2B5EF4-FFF2-40B4-BE49-F238E27FC236}">
                <a16:creationId xmlns:a16="http://schemas.microsoft.com/office/drawing/2014/main" id="{A77DDDDD-3066-46FB-9B76-2EC2FEF3C492}"/>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151" name="Google Shape;151;p44">
            <a:extLst>
              <a:ext uri="{FF2B5EF4-FFF2-40B4-BE49-F238E27FC236}">
                <a16:creationId xmlns:a16="http://schemas.microsoft.com/office/drawing/2014/main" id="{616E20ED-C110-470F-9C9D-DDEDFD7A92BA}"/>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52" name="Google Shape;152;p44">
            <a:extLst>
              <a:ext uri="{FF2B5EF4-FFF2-40B4-BE49-F238E27FC236}">
                <a16:creationId xmlns:a16="http://schemas.microsoft.com/office/drawing/2014/main" id="{B7E14BA2-97D4-480E-BB23-6F61116A4E0D}"/>
              </a:ext>
            </a:extLst>
          </p:cNvPr>
          <p:cNvSpPr>
            <a:spLocks noGrp="1"/>
          </p:cNvSpPr>
          <p:nvPr>
            <p:ph type="body" idx="3"/>
          </p:nvPr>
        </p:nvSpPr>
        <p:spPr>
          <a:xfrm>
            <a:off x="14287500" y="3762375"/>
            <a:ext cx="2857500" cy="762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53" name="Google Shape;153;p44">
            <a:extLst>
              <a:ext uri="{FF2B5EF4-FFF2-40B4-BE49-F238E27FC236}">
                <a16:creationId xmlns:a16="http://schemas.microsoft.com/office/drawing/2014/main" id="{09D8F885-CCCB-4CE3-A81D-2E2DB7E52250}"/>
              </a:ext>
            </a:extLst>
          </p:cNvPr>
          <p:cNvSpPr>
            <a:spLocks noGrp="1"/>
          </p:cNvSpPr>
          <p:nvPr>
            <p:ph type="body" idx="4"/>
          </p:nvPr>
        </p:nvSpPr>
        <p:spPr>
          <a:xfrm>
            <a:off x="14287500" y="5238750"/>
            <a:ext cx="285750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54" name="Google Shape;154;p44">
            <a:extLst>
              <a:ext uri="{FF2B5EF4-FFF2-40B4-BE49-F238E27FC236}">
                <a16:creationId xmlns:a16="http://schemas.microsoft.com/office/drawing/2014/main" id="{CD0FD623-1103-465D-84FA-F3056D08C13A}"/>
              </a:ext>
            </a:extLst>
          </p:cNvPr>
          <p:cNvSpPr>
            <a:spLocks noGrp="1"/>
          </p:cNvSpPr>
          <p:nvPr>
            <p:ph type="body" idx="5"/>
          </p:nvPr>
        </p:nvSpPr>
        <p:spPr>
          <a:xfrm>
            <a:off x="14287500" y="6048375"/>
            <a:ext cx="2857500" cy="5715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55" name="Google Shape;155;p44">
            <a:extLst>
              <a:ext uri="{FF2B5EF4-FFF2-40B4-BE49-F238E27FC236}">
                <a16:creationId xmlns:a16="http://schemas.microsoft.com/office/drawing/2014/main" id="{F7B425DD-2B09-4D4C-9F43-4964E80B800B}"/>
              </a:ext>
            </a:extLst>
          </p:cNvPr>
          <p:cNvSpPr>
            <a:spLocks noGrp="1"/>
          </p:cNvSpPr>
          <p:nvPr>
            <p:ph type="body" idx="6"/>
          </p:nvPr>
        </p:nvSpPr>
        <p:spPr>
          <a:xfrm>
            <a:off x="14287500" y="7000875"/>
            <a:ext cx="2857500" cy="1095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56" name="Google Shape;156;p44">
            <a:extLst>
              <a:ext uri="{FF2B5EF4-FFF2-40B4-BE49-F238E27FC236}">
                <a16:creationId xmlns:a16="http://schemas.microsoft.com/office/drawing/2014/main" id="{52BFCB60-AAF1-47E9-B546-8E74B98C935B}"/>
              </a:ext>
            </a:extLst>
          </p:cNvPr>
          <p:cNvSpPr>
            <a:spLocks noGrp="1"/>
          </p:cNvSpPr>
          <p:nvPr>
            <p:ph type="body" idx="7"/>
          </p:nvPr>
        </p:nvSpPr>
        <p:spPr>
          <a:xfrm>
            <a:off x="11144250" y="3762375"/>
            <a:ext cx="2857500" cy="762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57" name="Google Shape;157;p44">
            <a:extLst>
              <a:ext uri="{FF2B5EF4-FFF2-40B4-BE49-F238E27FC236}">
                <a16:creationId xmlns:a16="http://schemas.microsoft.com/office/drawing/2014/main" id="{7B7CB71D-F108-49ED-A1F1-7A8DBD409BDD}"/>
              </a:ext>
            </a:extLst>
          </p:cNvPr>
          <p:cNvSpPr>
            <a:spLocks noGrp="1"/>
          </p:cNvSpPr>
          <p:nvPr>
            <p:ph type="body" idx="8"/>
          </p:nvPr>
        </p:nvSpPr>
        <p:spPr>
          <a:xfrm>
            <a:off x="11144250" y="5238750"/>
            <a:ext cx="285750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58" name="Google Shape;158;p44">
            <a:extLst>
              <a:ext uri="{FF2B5EF4-FFF2-40B4-BE49-F238E27FC236}">
                <a16:creationId xmlns:a16="http://schemas.microsoft.com/office/drawing/2014/main" id="{DB89E073-D8E3-41F2-8AA7-74E850C80A5C}"/>
              </a:ext>
            </a:extLst>
          </p:cNvPr>
          <p:cNvSpPr>
            <a:spLocks noGrp="1"/>
          </p:cNvSpPr>
          <p:nvPr>
            <p:ph type="body" idx="9"/>
          </p:nvPr>
        </p:nvSpPr>
        <p:spPr>
          <a:xfrm>
            <a:off x="11144250" y="6048375"/>
            <a:ext cx="2857500" cy="5715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59" name="Google Shape;159;p44">
            <a:extLst>
              <a:ext uri="{FF2B5EF4-FFF2-40B4-BE49-F238E27FC236}">
                <a16:creationId xmlns:a16="http://schemas.microsoft.com/office/drawing/2014/main" id="{BC924022-95C2-43EE-97D5-635EA8679F72}"/>
              </a:ext>
            </a:extLst>
          </p:cNvPr>
          <p:cNvSpPr>
            <a:spLocks noGrp="1"/>
          </p:cNvSpPr>
          <p:nvPr>
            <p:ph type="body" idx="13"/>
          </p:nvPr>
        </p:nvSpPr>
        <p:spPr>
          <a:xfrm>
            <a:off x="11144250" y="7000875"/>
            <a:ext cx="2857500" cy="1095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0" name="Google Shape;160;p44">
            <a:extLst>
              <a:ext uri="{FF2B5EF4-FFF2-40B4-BE49-F238E27FC236}">
                <a16:creationId xmlns:a16="http://schemas.microsoft.com/office/drawing/2014/main" id="{A654A3CE-4A30-4E76-B948-8CECBAA172AD}"/>
              </a:ext>
            </a:extLst>
          </p:cNvPr>
          <p:cNvSpPr>
            <a:spLocks noGrp="1"/>
          </p:cNvSpPr>
          <p:nvPr>
            <p:ph type="body" idx="14"/>
          </p:nvPr>
        </p:nvSpPr>
        <p:spPr>
          <a:xfrm>
            <a:off x="8001000" y="3762375"/>
            <a:ext cx="2857500" cy="762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1" name="Google Shape;161;p44">
            <a:extLst>
              <a:ext uri="{FF2B5EF4-FFF2-40B4-BE49-F238E27FC236}">
                <a16:creationId xmlns:a16="http://schemas.microsoft.com/office/drawing/2014/main" id="{8464F427-5C28-4A19-995D-A0CC920F1E9C}"/>
              </a:ext>
            </a:extLst>
          </p:cNvPr>
          <p:cNvSpPr>
            <a:spLocks noGrp="1"/>
          </p:cNvSpPr>
          <p:nvPr>
            <p:ph type="body" idx="15"/>
          </p:nvPr>
        </p:nvSpPr>
        <p:spPr>
          <a:xfrm>
            <a:off x="8001000" y="5238750"/>
            <a:ext cx="285750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2" name="Google Shape;162;p44">
            <a:extLst>
              <a:ext uri="{FF2B5EF4-FFF2-40B4-BE49-F238E27FC236}">
                <a16:creationId xmlns:a16="http://schemas.microsoft.com/office/drawing/2014/main" id="{B4441D5F-7A10-4008-BDC0-83FEA541A8A4}"/>
              </a:ext>
            </a:extLst>
          </p:cNvPr>
          <p:cNvSpPr>
            <a:spLocks noGrp="1"/>
          </p:cNvSpPr>
          <p:nvPr>
            <p:ph type="body" idx="16"/>
          </p:nvPr>
        </p:nvSpPr>
        <p:spPr>
          <a:xfrm>
            <a:off x="8001000" y="6048375"/>
            <a:ext cx="2857500" cy="5715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3" name="Google Shape;163;p44">
            <a:extLst>
              <a:ext uri="{FF2B5EF4-FFF2-40B4-BE49-F238E27FC236}">
                <a16:creationId xmlns:a16="http://schemas.microsoft.com/office/drawing/2014/main" id="{83566749-E439-46AD-9A86-6B1EDC1AF698}"/>
              </a:ext>
            </a:extLst>
          </p:cNvPr>
          <p:cNvSpPr>
            <a:spLocks noGrp="1"/>
          </p:cNvSpPr>
          <p:nvPr>
            <p:ph type="body" idx="17"/>
          </p:nvPr>
        </p:nvSpPr>
        <p:spPr>
          <a:xfrm>
            <a:off x="8001000" y="7000875"/>
            <a:ext cx="2857500" cy="1095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4" name="Google Shape;164;p44">
            <a:extLst>
              <a:ext uri="{FF2B5EF4-FFF2-40B4-BE49-F238E27FC236}">
                <a16:creationId xmlns:a16="http://schemas.microsoft.com/office/drawing/2014/main" id="{8003B3EC-EE6B-4002-8BB6-7C83CA0DDB91}"/>
              </a:ext>
            </a:extLst>
          </p:cNvPr>
          <p:cNvSpPr>
            <a:spLocks noGrp="1"/>
          </p:cNvSpPr>
          <p:nvPr>
            <p:ph type="body" idx="18"/>
          </p:nvPr>
        </p:nvSpPr>
        <p:spPr>
          <a:xfrm>
            <a:off x="4857750" y="3762375"/>
            <a:ext cx="2857500" cy="762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5" name="Google Shape;165;p44">
            <a:extLst>
              <a:ext uri="{FF2B5EF4-FFF2-40B4-BE49-F238E27FC236}">
                <a16:creationId xmlns:a16="http://schemas.microsoft.com/office/drawing/2014/main" id="{E02C365A-D2F5-4198-8C9F-98B1A3B7284F}"/>
              </a:ext>
            </a:extLst>
          </p:cNvPr>
          <p:cNvSpPr>
            <a:spLocks noGrp="1"/>
          </p:cNvSpPr>
          <p:nvPr>
            <p:ph type="body" idx="19"/>
          </p:nvPr>
        </p:nvSpPr>
        <p:spPr>
          <a:xfrm>
            <a:off x="4857750" y="5238750"/>
            <a:ext cx="285750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6" name="Google Shape;166;p44">
            <a:extLst>
              <a:ext uri="{FF2B5EF4-FFF2-40B4-BE49-F238E27FC236}">
                <a16:creationId xmlns:a16="http://schemas.microsoft.com/office/drawing/2014/main" id="{5A8C92E7-7D65-4244-9745-334E125E4EC8}"/>
              </a:ext>
            </a:extLst>
          </p:cNvPr>
          <p:cNvSpPr>
            <a:spLocks noGrp="1"/>
          </p:cNvSpPr>
          <p:nvPr>
            <p:ph type="body" idx="20"/>
          </p:nvPr>
        </p:nvSpPr>
        <p:spPr>
          <a:xfrm>
            <a:off x="4857750" y="6048375"/>
            <a:ext cx="2857500" cy="5715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7" name="Google Shape;167;p44">
            <a:extLst>
              <a:ext uri="{FF2B5EF4-FFF2-40B4-BE49-F238E27FC236}">
                <a16:creationId xmlns:a16="http://schemas.microsoft.com/office/drawing/2014/main" id="{0E4009F1-631A-4748-AF53-CE96040772AD}"/>
              </a:ext>
            </a:extLst>
          </p:cNvPr>
          <p:cNvSpPr>
            <a:spLocks noGrp="1"/>
          </p:cNvSpPr>
          <p:nvPr>
            <p:ph type="body" idx="21"/>
          </p:nvPr>
        </p:nvSpPr>
        <p:spPr>
          <a:xfrm>
            <a:off x="4857750" y="7000875"/>
            <a:ext cx="2857500" cy="1095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8" name="Google Shape;168;p44">
            <a:extLst>
              <a:ext uri="{FF2B5EF4-FFF2-40B4-BE49-F238E27FC236}">
                <a16:creationId xmlns:a16="http://schemas.microsoft.com/office/drawing/2014/main" id="{9EC6F42B-3192-4C7C-BF47-1BD77AF45E96}"/>
              </a:ext>
            </a:extLst>
          </p:cNvPr>
          <p:cNvSpPr>
            <a:spLocks noGrp="1"/>
          </p:cNvSpPr>
          <p:nvPr>
            <p:ph type="body" idx="22"/>
          </p:nvPr>
        </p:nvSpPr>
        <p:spPr>
          <a:xfrm>
            <a:off x="1714500" y="3762375"/>
            <a:ext cx="2857500" cy="7620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69" name="Google Shape;169;p44">
            <a:extLst>
              <a:ext uri="{FF2B5EF4-FFF2-40B4-BE49-F238E27FC236}">
                <a16:creationId xmlns:a16="http://schemas.microsoft.com/office/drawing/2014/main" id="{56353398-9C5B-4C80-8F54-A62F7D92B8A2}"/>
              </a:ext>
            </a:extLst>
          </p:cNvPr>
          <p:cNvSpPr>
            <a:spLocks noGrp="1"/>
          </p:cNvSpPr>
          <p:nvPr>
            <p:ph type="body" idx="23"/>
          </p:nvPr>
        </p:nvSpPr>
        <p:spPr>
          <a:xfrm>
            <a:off x="1714500" y="5238750"/>
            <a:ext cx="285750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70" name="Google Shape;170;p44">
            <a:extLst>
              <a:ext uri="{FF2B5EF4-FFF2-40B4-BE49-F238E27FC236}">
                <a16:creationId xmlns:a16="http://schemas.microsoft.com/office/drawing/2014/main" id="{D3767433-22FA-4F27-99D9-465BC57A2C7F}"/>
              </a:ext>
            </a:extLst>
          </p:cNvPr>
          <p:cNvSpPr>
            <a:spLocks noGrp="1"/>
          </p:cNvSpPr>
          <p:nvPr>
            <p:ph type="body" idx="24"/>
          </p:nvPr>
        </p:nvSpPr>
        <p:spPr>
          <a:xfrm>
            <a:off x="1714500" y="6048375"/>
            <a:ext cx="2857500" cy="5715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71" name="Google Shape;171;p44">
            <a:extLst>
              <a:ext uri="{FF2B5EF4-FFF2-40B4-BE49-F238E27FC236}">
                <a16:creationId xmlns:a16="http://schemas.microsoft.com/office/drawing/2014/main" id="{2F817414-BCD0-4A6B-BDCC-2E28089812F6}"/>
              </a:ext>
            </a:extLst>
          </p:cNvPr>
          <p:cNvSpPr>
            <a:spLocks noGrp="1"/>
          </p:cNvSpPr>
          <p:nvPr>
            <p:ph type="body" idx="25"/>
          </p:nvPr>
        </p:nvSpPr>
        <p:spPr>
          <a:xfrm>
            <a:off x="1714500" y="7000875"/>
            <a:ext cx="2857500" cy="10953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فريق العمل">
  <p:cSld name="فريق العمل">
    <p:bg>
      <p:bgPr>
        <a:solidFill>
          <a:srgbClr val="12183F"/>
        </a:solidFill>
        <a:effectLst/>
      </p:bgPr>
    </p:bg>
    <p:spTree>
      <p:nvGrpSpPr>
        <p:cNvPr id="1" name=""/>
        <p:cNvGrpSpPr/>
        <p:nvPr/>
      </p:nvGrpSpPr>
      <p:grpSpPr>
        <a:xfrm>
          <a:off x="0" y="0"/>
          <a:ext cx="0" cy="0"/>
          <a:chOff x="0" y="0"/>
          <a:chExt cx="0" cy="0"/>
        </a:xfrm>
      </p:grpSpPr>
      <p:pic>
        <p:nvPicPr>
          <p:cNvPr id="194" name="Google Shape;173;p45"/>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195" name="Google Shape;174;p45"/>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175" name="Google Shape;175;p45">
            <a:extLst>
              <a:ext uri="{FF2B5EF4-FFF2-40B4-BE49-F238E27FC236}">
                <a16:creationId xmlns:a16="http://schemas.microsoft.com/office/drawing/2014/main" id="{E7CF4318-3576-4C90-AC86-8F3125B38DC3}"/>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76" name="Google Shape;176;p45">
            <a:extLst>
              <a:ext uri="{FF2B5EF4-FFF2-40B4-BE49-F238E27FC236}">
                <a16:creationId xmlns:a16="http://schemas.microsoft.com/office/drawing/2014/main" id="{9FC983E7-B48B-4F47-91CE-375F985338F7}"/>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77" name="Google Shape;177;p45">
            <a:extLst>
              <a:ext uri="{FF2B5EF4-FFF2-40B4-BE49-F238E27FC236}">
                <a16:creationId xmlns:a16="http://schemas.microsoft.com/office/drawing/2014/main" id="{29A91241-486D-4347-A7F7-4EA8C393EB39}"/>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78" name="Google Shape;178;p45">
            <a:extLst>
              <a:ext uri="{FF2B5EF4-FFF2-40B4-BE49-F238E27FC236}">
                <a16:creationId xmlns:a16="http://schemas.microsoft.com/office/drawing/2014/main" id="{30794A23-B0FC-4282-85B9-1F193A82EE7D}"/>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179" name="Google Shape;179;p45">
            <a:extLst>
              <a:ext uri="{FF2B5EF4-FFF2-40B4-BE49-F238E27FC236}">
                <a16:creationId xmlns:a16="http://schemas.microsoft.com/office/drawing/2014/main" id="{4E6B9D36-6F77-41D9-A278-921E65984180}"/>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80" name="Google Shape;180;p45">
            <a:extLst>
              <a:ext uri="{FF2B5EF4-FFF2-40B4-BE49-F238E27FC236}">
                <a16:creationId xmlns:a16="http://schemas.microsoft.com/office/drawing/2014/main" id="{F529CA1C-EAA1-4861-97E9-81EA3599DA1A}"/>
              </a:ext>
            </a:extLst>
          </p:cNvPr>
          <p:cNvSpPr>
            <a:spLocks noGrp="1"/>
          </p:cNvSpPr>
          <p:nvPr>
            <p:ph type="pic" idx="3"/>
          </p:nvPr>
        </p:nvSpPr>
        <p:spPr>
          <a:xfrm>
            <a:off x="14192250" y="3857625"/>
            <a:ext cx="2571750" cy="2571750"/>
          </a:xfrm>
          <a:prstGeom prst="rect">
            <a:avLst/>
          </a:prstGeom>
          <a:solidFill>
            <a:srgbClr val="161D48"/>
          </a:solidFill>
          <a:ln w="11425" cmpd="sng">
            <a:solidFill>
              <a:srgbClr val="4A5590"/>
            </a:solidFill>
            <a:prstDash val="solid"/>
            <a:headEnd type="none" w="sm" len="sm"/>
            <a:tailEnd type="none" w="sm" len="sm"/>
          </a:ln>
        </p:spPr>
      </p:sp>
      <p:sp>
        <p:nvSpPr>
          <p:cNvPr id="181" name="Google Shape;181;p45">
            <a:extLst>
              <a:ext uri="{FF2B5EF4-FFF2-40B4-BE49-F238E27FC236}">
                <a16:creationId xmlns:a16="http://schemas.microsoft.com/office/drawing/2014/main" id="{47B94DAA-4385-46DC-BE1D-90E2C860F906}"/>
              </a:ext>
            </a:extLst>
          </p:cNvPr>
          <p:cNvSpPr>
            <a:spLocks noGrp="1"/>
          </p:cNvSpPr>
          <p:nvPr>
            <p:ph type="body" idx="4"/>
          </p:nvPr>
        </p:nvSpPr>
        <p:spPr>
          <a:xfrm>
            <a:off x="13716000" y="6953250"/>
            <a:ext cx="35242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82" name="Google Shape;182;p45">
            <a:extLst>
              <a:ext uri="{FF2B5EF4-FFF2-40B4-BE49-F238E27FC236}">
                <a16:creationId xmlns:a16="http://schemas.microsoft.com/office/drawing/2014/main" id="{1F5FDE98-B205-4E8C-9687-02D0E86E6541}"/>
              </a:ext>
            </a:extLst>
          </p:cNvPr>
          <p:cNvSpPr>
            <a:spLocks noGrp="1"/>
          </p:cNvSpPr>
          <p:nvPr>
            <p:ph type="body" idx="5"/>
          </p:nvPr>
        </p:nvSpPr>
        <p:spPr>
          <a:xfrm>
            <a:off x="13716000" y="7810500"/>
            <a:ext cx="3524250" cy="9048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83" name="Google Shape;183;p45">
            <a:extLst>
              <a:ext uri="{FF2B5EF4-FFF2-40B4-BE49-F238E27FC236}">
                <a16:creationId xmlns:a16="http://schemas.microsoft.com/office/drawing/2014/main" id="{228C2FD7-4A73-4FA6-BFFC-8DD52D8253E9}"/>
              </a:ext>
            </a:extLst>
          </p:cNvPr>
          <p:cNvSpPr>
            <a:spLocks noGrp="1"/>
          </p:cNvSpPr>
          <p:nvPr>
            <p:ph type="pic" idx="6"/>
          </p:nvPr>
        </p:nvSpPr>
        <p:spPr>
          <a:xfrm>
            <a:off x="10191750" y="3857625"/>
            <a:ext cx="2571750" cy="2571750"/>
          </a:xfrm>
          <a:prstGeom prst="rect">
            <a:avLst/>
          </a:prstGeom>
          <a:solidFill>
            <a:srgbClr val="161D48"/>
          </a:solidFill>
          <a:ln w="11425" cmpd="sng">
            <a:solidFill>
              <a:srgbClr val="4A5590"/>
            </a:solidFill>
            <a:prstDash val="solid"/>
            <a:headEnd type="none" w="sm" len="sm"/>
            <a:tailEnd type="none" w="sm" len="sm"/>
          </a:ln>
        </p:spPr>
      </p:sp>
      <p:sp>
        <p:nvSpPr>
          <p:cNvPr id="184" name="Google Shape;184;p45">
            <a:extLst>
              <a:ext uri="{FF2B5EF4-FFF2-40B4-BE49-F238E27FC236}">
                <a16:creationId xmlns:a16="http://schemas.microsoft.com/office/drawing/2014/main" id="{38BE8F06-A3EA-4DC2-B7C4-181E18698171}"/>
              </a:ext>
            </a:extLst>
          </p:cNvPr>
          <p:cNvSpPr>
            <a:spLocks noGrp="1"/>
          </p:cNvSpPr>
          <p:nvPr>
            <p:ph type="body" idx="7"/>
          </p:nvPr>
        </p:nvSpPr>
        <p:spPr>
          <a:xfrm>
            <a:off x="9715500" y="6953250"/>
            <a:ext cx="35242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85" name="Google Shape;185;p45">
            <a:extLst>
              <a:ext uri="{FF2B5EF4-FFF2-40B4-BE49-F238E27FC236}">
                <a16:creationId xmlns:a16="http://schemas.microsoft.com/office/drawing/2014/main" id="{D3878ED7-D0CC-49AE-B8BA-3FDF421892FE}"/>
              </a:ext>
            </a:extLst>
          </p:cNvPr>
          <p:cNvSpPr>
            <a:spLocks noGrp="1"/>
          </p:cNvSpPr>
          <p:nvPr>
            <p:ph type="body" idx="8"/>
          </p:nvPr>
        </p:nvSpPr>
        <p:spPr>
          <a:xfrm>
            <a:off x="9715500" y="7810500"/>
            <a:ext cx="3524250" cy="9048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86" name="Google Shape;186;p45">
            <a:extLst>
              <a:ext uri="{FF2B5EF4-FFF2-40B4-BE49-F238E27FC236}">
                <a16:creationId xmlns:a16="http://schemas.microsoft.com/office/drawing/2014/main" id="{0D8D276A-CD8A-4CAD-A403-27B1DFC267BE}"/>
              </a:ext>
            </a:extLst>
          </p:cNvPr>
          <p:cNvSpPr>
            <a:spLocks noGrp="1"/>
          </p:cNvSpPr>
          <p:nvPr>
            <p:ph type="pic" idx="9"/>
          </p:nvPr>
        </p:nvSpPr>
        <p:spPr>
          <a:xfrm>
            <a:off x="6191250" y="3857625"/>
            <a:ext cx="2571750" cy="2571750"/>
          </a:xfrm>
          <a:prstGeom prst="rect">
            <a:avLst/>
          </a:prstGeom>
          <a:solidFill>
            <a:srgbClr val="161D48"/>
          </a:solidFill>
          <a:ln w="11425" cmpd="sng">
            <a:solidFill>
              <a:srgbClr val="4A5590"/>
            </a:solidFill>
            <a:prstDash val="solid"/>
            <a:headEnd type="none" w="sm" len="sm"/>
            <a:tailEnd type="none" w="sm" len="sm"/>
          </a:ln>
        </p:spPr>
      </p:sp>
      <p:sp>
        <p:nvSpPr>
          <p:cNvPr id="187" name="Google Shape;187;p45">
            <a:extLst>
              <a:ext uri="{FF2B5EF4-FFF2-40B4-BE49-F238E27FC236}">
                <a16:creationId xmlns:a16="http://schemas.microsoft.com/office/drawing/2014/main" id="{0F5AE3EE-EF54-4687-B836-66AE610235B9}"/>
              </a:ext>
            </a:extLst>
          </p:cNvPr>
          <p:cNvSpPr>
            <a:spLocks noGrp="1"/>
          </p:cNvSpPr>
          <p:nvPr>
            <p:ph type="body" idx="13"/>
          </p:nvPr>
        </p:nvSpPr>
        <p:spPr>
          <a:xfrm>
            <a:off x="5715000" y="6953250"/>
            <a:ext cx="35242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88" name="Google Shape;188;p45">
            <a:extLst>
              <a:ext uri="{FF2B5EF4-FFF2-40B4-BE49-F238E27FC236}">
                <a16:creationId xmlns:a16="http://schemas.microsoft.com/office/drawing/2014/main" id="{2BA3DDBB-29C1-427B-BD92-C9243BC05623}"/>
              </a:ext>
            </a:extLst>
          </p:cNvPr>
          <p:cNvSpPr>
            <a:spLocks noGrp="1"/>
          </p:cNvSpPr>
          <p:nvPr>
            <p:ph type="body" idx="14"/>
          </p:nvPr>
        </p:nvSpPr>
        <p:spPr>
          <a:xfrm>
            <a:off x="5715000" y="7810500"/>
            <a:ext cx="3524250" cy="9048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89" name="Google Shape;189;p45">
            <a:extLst>
              <a:ext uri="{FF2B5EF4-FFF2-40B4-BE49-F238E27FC236}">
                <a16:creationId xmlns:a16="http://schemas.microsoft.com/office/drawing/2014/main" id="{8FBA31DB-CF76-40A2-B653-768A1485527D}"/>
              </a:ext>
            </a:extLst>
          </p:cNvPr>
          <p:cNvSpPr>
            <a:spLocks noGrp="1"/>
          </p:cNvSpPr>
          <p:nvPr>
            <p:ph type="pic" idx="15"/>
          </p:nvPr>
        </p:nvSpPr>
        <p:spPr>
          <a:xfrm>
            <a:off x="2190750" y="3857625"/>
            <a:ext cx="2571750" cy="2571750"/>
          </a:xfrm>
          <a:prstGeom prst="rect">
            <a:avLst/>
          </a:prstGeom>
          <a:solidFill>
            <a:srgbClr val="161D48"/>
          </a:solidFill>
          <a:ln w="11425" cmpd="sng">
            <a:solidFill>
              <a:srgbClr val="4A5590"/>
            </a:solidFill>
            <a:prstDash val="solid"/>
            <a:headEnd type="none" w="sm" len="sm"/>
            <a:tailEnd type="none" w="sm" len="sm"/>
          </a:ln>
        </p:spPr>
      </p:sp>
      <p:sp>
        <p:nvSpPr>
          <p:cNvPr id="190" name="Google Shape;190;p45">
            <a:extLst>
              <a:ext uri="{FF2B5EF4-FFF2-40B4-BE49-F238E27FC236}">
                <a16:creationId xmlns:a16="http://schemas.microsoft.com/office/drawing/2014/main" id="{1324BD47-E62A-44A6-9201-FED421090F8C}"/>
              </a:ext>
            </a:extLst>
          </p:cNvPr>
          <p:cNvSpPr>
            <a:spLocks noGrp="1"/>
          </p:cNvSpPr>
          <p:nvPr>
            <p:ph type="body" idx="16"/>
          </p:nvPr>
        </p:nvSpPr>
        <p:spPr>
          <a:xfrm>
            <a:off x="1714500" y="6953250"/>
            <a:ext cx="352425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91" name="Google Shape;191;p45">
            <a:extLst>
              <a:ext uri="{FF2B5EF4-FFF2-40B4-BE49-F238E27FC236}">
                <a16:creationId xmlns:a16="http://schemas.microsoft.com/office/drawing/2014/main" id="{22A72720-28D4-4DC0-8244-E5BE6E06F561}"/>
              </a:ext>
            </a:extLst>
          </p:cNvPr>
          <p:cNvSpPr>
            <a:spLocks noGrp="1"/>
          </p:cNvSpPr>
          <p:nvPr>
            <p:ph type="body" idx="17"/>
          </p:nvPr>
        </p:nvSpPr>
        <p:spPr>
          <a:xfrm>
            <a:off x="1714500" y="7810500"/>
            <a:ext cx="3524250" cy="9048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أربع نقاط فاتحة">
  <p:cSld name="أربع نقاط فاتحة">
    <p:bg>
      <p:bgPr>
        <a:solidFill>
          <a:srgbClr val="F2F4FF"/>
        </a:solidFill>
        <a:effectLst/>
      </p:bgPr>
    </p:bg>
    <p:spTree>
      <p:nvGrpSpPr>
        <p:cNvPr id="1" name=""/>
        <p:cNvGrpSpPr/>
        <p:nvPr/>
      </p:nvGrpSpPr>
      <p:grpSpPr>
        <a:xfrm>
          <a:off x="0" y="0"/>
          <a:ext cx="0" cy="0"/>
          <a:chOff x="0" y="0"/>
          <a:chExt cx="0" cy="0"/>
        </a:xfrm>
      </p:grpSpPr>
      <p:pic>
        <p:nvPicPr>
          <p:cNvPr id="210" name="Google Shape;193;p46"/>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211" name="Google Shape;194;p46"/>
          <p:cNvPicPr>
            <a:picLocks noChangeAspect="1"/>
          </p:cNvPicPr>
          <p:nvPr/>
        </p:nvPicPr>
        <p:blipFill rotWithShape="1">
          <a:blip r:embed="rId3">
            <a:alphaModFix/>
          </a:blip>
          <a:srcRect/>
          <a:stretch/>
        </p:blipFill>
        <p:spPr>
          <a:xfrm>
            <a:off x="1337187" y="685800"/>
            <a:ext cx="2888226" cy="895350"/>
          </a:xfrm>
          <a:prstGeom prst="rect">
            <a:avLst/>
          </a:prstGeom>
          <a:ln>
            <a:noFill/>
          </a:ln>
        </p:spPr>
      </p:pic>
      <p:sp>
        <p:nvSpPr>
          <p:cNvPr id="195" name="Google Shape;195;p46">
            <a:extLst>
              <a:ext uri="{FF2B5EF4-FFF2-40B4-BE49-F238E27FC236}">
                <a16:creationId xmlns:a16="http://schemas.microsoft.com/office/drawing/2014/main" id="{B1456E02-86F5-4AF3-91F0-7B75B5F72F91}"/>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96" name="Google Shape;196;p46">
            <a:extLst>
              <a:ext uri="{FF2B5EF4-FFF2-40B4-BE49-F238E27FC236}">
                <a16:creationId xmlns:a16="http://schemas.microsoft.com/office/drawing/2014/main" id="{9C3B9BA5-D13D-4FF6-8AD4-BE5E7E0C47EB}"/>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97" name="Google Shape;197;p46">
            <a:extLst>
              <a:ext uri="{FF2B5EF4-FFF2-40B4-BE49-F238E27FC236}">
                <a16:creationId xmlns:a16="http://schemas.microsoft.com/office/drawing/2014/main" id="{C5CBDF7D-199A-48E3-A1A8-29E5372EB89B}"/>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198" name="Google Shape;198;p46">
            <a:extLst>
              <a:ext uri="{FF2B5EF4-FFF2-40B4-BE49-F238E27FC236}">
                <a16:creationId xmlns:a16="http://schemas.microsoft.com/office/drawing/2014/main" id="{AC43FDF4-6DD6-417C-8BE9-3571D1DCF818}"/>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4A5590"/>
                </a:solidFill>
                <a:latin typeface="Readex Pro"/>
                <a:ea typeface="Readex Pro"/>
                <a:cs typeface="Readex Pro"/>
              </a:rPr>
              <a:t>تحدي الذكاء الاصطناعي في خدمة المحتوى الإسلامي</a:t>
            </a:r>
            <a:endParaRPr/>
          </a:p>
        </p:txBody>
      </p:sp>
      <p:sp>
        <p:nvSpPr>
          <p:cNvPr id="199" name="Google Shape;199;p46">
            <a:extLst>
              <a:ext uri="{FF2B5EF4-FFF2-40B4-BE49-F238E27FC236}">
                <a16:creationId xmlns:a16="http://schemas.microsoft.com/office/drawing/2014/main" id="{4EFCE854-B6A0-4F4C-8285-1834DF745BDA}"/>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4A5590"/>
                </a:solidFill>
                <a:latin typeface="Readex Pro"/>
                <a:ea typeface="Readex Pro"/>
                <a:cs typeface="Readex Pro"/>
              </a:defRPr>
            </a:lvl1pPr>
            <a:lvl2pPr marL="0" marR="0" indent="0" algn="l">
              <a:spcBef>
                <a:spcPts val="0"/>
              </a:spcBef>
              <a:buNone/>
              <a:defRPr sz="1800" b="0">
                <a:solidFill>
                  <a:srgbClr val="4A5590"/>
                </a:solidFill>
                <a:latin typeface="Readex Pro"/>
                <a:ea typeface="Readex Pro"/>
                <a:cs typeface="Readex Pro"/>
              </a:defRPr>
            </a:lvl2pPr>
            <a:lvl3pPr marL="0" marR="0" indent="0" algn="l">
              <a:spcBef>
                <a:spcPts val="0"/>
              </a:spcBef>
              <a:buNone/>
              <a:defRPr sz="1800" b="0">
                <a:solidFill>
                  <a:srgbClr val="4A5590"/>
                </a:solidFill>
                <a:latin typeface="Readex Pro"/>
                <a:ea typeface="Readex Pro"/>
                <a:cs typeface="Readex Pro"/>
              </a:defRPr>
            </a:lvl3pPr>
            <a:lvl4pPr marL="0" marR="0" indent="0" algn="l">
              <a:spcBef>
                <a:spcPts val="0"/>
              </a:spcBef>
              <a:buNone/>
              <a:defRPr sz="1800" b="0">
                <a:solidFill>
                  <a:srgbClr val="4A5590"/>
                </a:solidFill>
                <a:latin typeface="Readex Pro"/>
                <a:ea typeface="Readex Pro"/>
                <a:cs typeface="Readex Pro"/>
              </a:defRPr>
            </a:lvl4pPr>
            <a:lvl5pPr marL="0" marR="0" indent="0" algn="l">
              <a:spcBef>
                <a:spcPts val="0"/>
              </a:spcBef>
              <a:buNone/>
              <a:defRPr sz="1800" b="0">
                <a:solidFill>
                  <a:srgbClr val="4A5590"/>
                </a:solidFill>
                <a:latin typeface="Readex Pro"/>
                <a:ea typeface="Readex Pro"/>
                <a:cs typeface="Readex Pro"/>
              </a:defRPr>
            </a:lvl5pPr>
            <a:lvl6pPr marL="0" marR="0" indent="0" algn="l">
              <a:spcBef>
                <a:spcPts val="0"/>
              </a:spcBef>
              <a:buNone/>
              <a:defRPr sz="1800" b="0">
                <a:solidFill>
                  <a:srgbClr val="4A5590"/>
                </a:solidFill>
                <a:latin typeface="Readex Pro"/>
                <a:ea typeface="Readex Pro"/>
                <a:cs typeface="Readex Pro"/>
              </a:defRPr>
            </a:lvl6pPr>
            <a:lvl7pPr marL="0" marR="0" indent="0" algn="l">
              <a:spcBef>
                <a:spcPts val="0"/>
              </a:spcBef>
              <a:buNone/>
              <a:defRPr sz="1800" b="0">
                <a:solidFill>
                  <a:srgbClr val="4A5590"/>
                </a:solidFill>
                <a:latin typeface="Readex Pro"/>
                <a:ea typeface="Readex Pro"/>
                <a:cs typeface="Readex Pro"/>
              </a:defRPr>
            </a:lvl7pPr>
            <a:lvl8pPr marL="0" marR="0" indent="0" algn="l">
              <a:spcBef>
                <a:spcPts val="0"/>
              </a:spcBef>
              <a:buNone/>
              <a:defRPr sz="1800" b="0">
                <a:solidFill>
                  <a:srgbClr val="4A5590"/>
                </a:solidFill>
                <a:latin typeface="Readex Pro"/>
                <a:ea typeface="Readex Pro"/>
                <a:cs typeface="Readex Pro"/>
              </a:defRPr>
            </a:lvl8pPr>
            <a:lvl9pPr marL="0" marR="0" indent="0" algn="l">
              <a:spcBef>
                <a:spcPts val="0"/>
              </a:spcBef>
              <a:buNone/>
              <a:defRPr sz="1800" b="0">
                <a:solidFill>
                  <a:srgbClr val="4A5590"/>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00" name="Google Shape;200;p46">
            <a:extLst>
              <a:ext uri="{FF2B5EF4-FFF2-40B4-BE49-F238E27FC236}">
                <a16:creationId xmlns:a16="http://schemas.microsoft.com/office/drawing/2014/main" id="{62F589BD-4B22-4360-B825-E16412B2D8FB}"/>
              </a:ext>
            </a:extLst>
          </p:cNvPr>
          <p:cNvSpPr>
            <a:spLocks noGrp="1"/>
          </p:cNvSpPr>
          <p:nvPr>
            <p:ph type="body" idx="3"/>
          </p:nvPr>
        </p:nvSpPr>
        <p:spPr>
          <a:xfrm>
            <a:off x="9810750" y="3952875"/>
            <a:ext cx="73342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01" name="Google Shape;201;p46">
            <a:extLst>
              <a:ext uri="{FF2B5EF4-FFF2-40B4-BE49-F238E27FC236}">
                <a16:creationId xmlns:a16="http://schemas.microsoft.com/office/drawing/2014/main" id="{53D8571D-9756-4160-9711-C8751D18AE1C}"/>
              </a:ext>
            </a:extLst>
          </p:cNvPr>
          <p:cNvSpPr>
            <a:spLocks noGrp="1"/>
          </p:cNvSpPr>
          <p:nvPr>
            <p:ph type="body" idx="4"/>
          </p:nvPr>
        </p:nvSpPr>
        <p:spPr>
          <a:xfrm>
            <a:off x="9810750" y="4657725"/>
            <a:ext cx="73342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02" name="Google Shape;202;p46">
            <a:extLst>
              <a:ext uri="{FF2B5EF4-FFF2-40B4-BE49-F238E27FC236}">
                <a16:creationId xmlns:a16="http://schemas.microsoft.com/office/drawing/2014/main" id="{4D73C992-D5F7-4D14-BBD3-A76F20444895}"/>
              </a:ext>
            </a:extLst>
          </p:cNvPr>
          <p:cNvSpPr>
            <a:spLocks noGrp="1"/>
          </p:cNvSpPr>
          <p:nvPr>
            <p:ph type="body" idx="5"/>
          </p:nvPr>
        </p:nvSpPr>
        <p:spPr>
          <a:xfrm>
            <a:off x="1714500" y="3952875"/>
            <a:ext cx="69532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03" name="Google Shape;203;p46">
            <a:extLst>
              <a:ext uri="{FF2B5EF4-FFF2-40B4-BE49-F238E27FC236}">
                <a16:creationId xmlns:a16="http://schemas.microsoft.com/office/drawing/2014/main" id="{D875ABC1-D323-4FFC-8C47-2C6C0474FF19}"/>
              </a:ext>
            </a:extLst>
          </p:cNvPr>
          <p:cNvSpPr>
            <a:spLocks noGrp="1"/>
          </p:cNvSpPr>
          <p:nvPr>
            <p:ph type="body" idx="6"/>
          </p:nvPr>
        </p:nvSpPr>
        <p:spPr>
          <a:xfrm>
            <a:off x="1714500" y="4657725"/>
            <a:ext cx="69532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04" name="Google Shape;204;p46">
            <a:extLst>
              <a:ext uri="{FF2B5EF4-FFF2-40B4-BE49-F238E27FC236}">
                <a16:creationId xmlns:a16="http://schemas.microsoft.com/office/drawing/2014/main" id="{5FDD5B06-F269-4CA2-85CF-9350FD53BE57}"/>
              </a:ext>
            </a:extLst>
          </p:cNvPr>
          <p:cNvSpPr>
            <a:spLocks noGrp="1"/>
          </p:cNvSpPr>
          <p:nvPr>
            <p:ph type="body" idx="7"/>
          </p:nvPr>
        </p:nvSpPr>
        <p:spPr>
          <a:xfrm>
            <a:off x="9810750" y="6619875"/>
            <a:ext cx="73342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05" name="Google Shape;205;p46">
            <a:extLst>
              <a:ext uri="{FF2B5EF4-FFF2-40B4-BE49-F238E27FC236}">
                <a16:creationId xmlns:a16="http://schemas.microsoft.com/office/drawing/2014/main" id="{16798D90-C924-4A58-B521-82D4EA8F265E}"/>
              </a:ext>
            </a:extLst>
          </p:cNvPr>
          <p:cNvSpPr>
            <a:spLocks noGrp="1"/>
          </p:cNvSpPr>
          <p:nvPr>
            <p:ph type="body" idx="8"/>
          </p:nvPr>
        </p:nvSpPr>
        <p:spPr>
          <a:xfrm>
            <a:off x="9810750" y="7324725"/>
            <a:ext cx="73342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06" name="Google Shape;206;p46">
            <a:extLst>
              <a:ext uri="{FF2B5EF4-FFF2-40B4-BE49-F238E27FC236}">
                <a16:creationId xmlns:a16="http://schemas.microsoft.com/office/drawing/2014/main" id="{57450262-0519-40F6-9DC9-81DFCB355358}"/>
              </a:ext>
            </a:extLst>
          </p:cNvPr>
          <p:cNvSpPr>
            <a:spLocks noGrp="1"/>
          </p:cNvSpPr>
          <p:nvPr>
            <p:ph type="body" idx="9"/>
          </p:nvPr>
        </p:nvSpPr>
        <p:spPr>
          <a:xfrm>
            <a:off x="1714500" y="6619875"/>
            <a:ext cx="69532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07" name="Google Shape;207;p46">
            <a:extLst>
              <a:ext uri="{FF2B5EF4-FFF2-40B4-BE49-F238E27FC236}">
                <a16:creationId xmlns:a16="http://schemas.microsoft.com/office/drawing/2014/main" id="{4290C4C1-4509-486B-BA1F-55E25E06CE6B}"/>
              </a:ext>
            </a:extLst>
          </p:cNvPr>
          <p:cNvSpPr>
            <a:spLocks noGrp="1"/>
          </p:cNvSpPr>
          <p:nvPr>
            <p:ph type="body" idx="13"/>
          </p:nvPr>
        </p:nvSpPr>
        <p:spPr>
          <a:xfrm>
            <a:off x="1714500" y="7324725"/>
            <a:ext cx="69532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جدول فاتح">
  <p:cSld name="جدول فاتح">
    <p:bg>
      <p:bgPr>
        <a:solidFill>
          <a:srgbClr val="F2F4FF"/>
        </a:solidFill>
        <a:effectLst/>
      </p:bgPr>
    </p:bg>
    <p:spTree>
      <p:nvGrpSpPr>
        <p:cNvPr id="1" name=""/>
        <p:cNvGrpSpPr/>
        <p:nvPr/>
      </p:nvGrpSpPr>
      <p:grpSpPr>
        <a:xfrm>
          <a:off x="0" y="0"/>
          <a:ext cx="0" cy="0"/>
          <a:chOff x="0" y="0"/>
          <a:chExt cx="0" cy="0"/>
        </a:xfrm>
      </p:grpSpPr>
      <p:pic>
        <p:nvPicPr>
          <p:cNvPr id="220" name="Google Shape;209;p47"/>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221" name="Google Shape;210;p47"/>
          <p:cNvPicPr>
            <a:picLocks noChangeAspect="1"/>
          </p:cNvPicPr>
          <p:nvPr/>
        </p:nvPicPr>
        <p:blipFill rotWithShape="1">
          <a:blip r:embed="rId3">
            <a:alphaModFix/>
          </a:blip>
          <a:srcRect/>
          <a:stretch/>
        </p:blipFill>
        <p:spPr>
          <a:xfrm>
            <a:off x="1337187" y="685800"/>
            <a:ext cx="2888226" cy="895350"/>
          </a:xfrm>
          <a:prstGeom prst="rect">
            <a:avLst/>
          </a:prstGeom>
          <a:ln>
            <a:noFill/>
          </a:ln>
        </p:spPr>
      </p:pic>
      <p:sp>
        <p:nvSpPr>
          <p:cNvPr id="211" name="Google Shape;211;p47">
            <a:extLst>
              <a:ext uri="{FF2B5EF4-FFF2-40B4-BE49-F238E27FC236}">
                <a16:creationId xmlns:a16="http://schemas.microsoft.com/office/drawing/2014/main" id="{A148E665-A731-489F-8BF5-59C868EBD50F}"/>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12" name="Google Shape;212;p47">
            <a:extLst>
              <a:ext uri="{FF2B5EF4-FFF2-40B4-BE49-F238E27FC236}">
                <a16:creationId xmlns:a16="http://schemas.microsoft.com/office/drawing/2014/main" id="{22A1AD41-C924-4302-8266-E78AEA4AB829}"/>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13" name="Google Shape;213;p47">
            <a:extLst>
              <a:ext uri="{FF2B5EF4-FFF2-40B4-BE49-F238E27FC236}">
                <a16:creationId xmlns:a16="http://schemas.microsoft.com/office/drawing/2014/main" id="{FE24248D-3631-4233-A936-6DC63E2E1014}"/>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14" name="Google Shape;214;p47">
            <a:extLst>
              <a:ext uri="{FF2B5EF4-FFF2-40B4-BE49-F238E27FC236}">
                <a16:creationId xmlns:a16="http://schemas.microsoft.com/office/drawing/2014/main" id="{3BC224F8-4875-478B-963A-3CD8E97E1AFA}"/>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4A5590"/>
                </a:solidFill>
                <a:latin typeface="Readex Pro"/>
                <a:ea typeface="Readex Pro"/>
                <a:cs typeface="Readex Pro"/>
              </a:rPr>
              <a:t>تحدي الذكاء الاصطناعي في خدمة المحتوى الإسلامي</a:t>
            </a:r>
            <a:endParaRPr/>
          </a:p>
        </p:txBody>
      </p:sp>
      <p:sp>
        <p:nvSpPr>
          <p:cNvPr id="215" name="Google Shape;215;p47">
            <a:extLst>
              <a:ext uri="{FF2B5EF4-FFF2-40B4-BE49-F238E27FC236}">
                <a16:creationId xmlns:a16="http://schemas.microsoft.com/office/drawing/2014/main" id="{4089C961-67EC-4FC0-991E-237B6A63A0BD}"/>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4A5590"/>
                </a:solidFill>
                <a:latin typeface="Readex Pro"/>
                <a:ea typeface="Readex Pro"/>
                <a:cs typeface="Readex Pro"/>
              </a:defRPr>
            </a:lvl1pPr>
            <a:lvl2pPr marL="0" marR="0" indent="0" algn="l">
              <a:spcBef>
                <a:spcPts val="0"/>
              </a:spcBef>
              <a:buNone/>
              <a:defRPr sz="1800" b="0">
                <a:solidFill>
                  <a:srgbClr val="4A5590"/>
                </a:solidFill>
                <a:latin typeface="Readex Pro"/>
                <a:ea typeface="Readex Pro"/>
                <a:cs typeface="Readex Pro"/>
              </a:defRPr>
            </a:lvl2pPr>
            <a:lvl3pPr marL="0" marR="0" indent="0" algn="l">
              <a:spcBef>
                <a:spcPts val="0"/>
              </a:spcBef>
              <a:buNone/>
              <a:defRPr sz="1800" b="0">
                <a:solidFill>
                  <a:srgbClr val="4A5590"/>
                </a:solidFill>
                <a:latin typeface="Readex Pro"/>
                <a:ea typeface="Readex Pro"/>
                <a:cs typeface="Readex Pro"/>
              </a:defRPr>
            </a:lvl3pPr>
            <a:lvl4pPr marL="0" marR="0" indent="0" algn="l">
              <a:spcBef>
                <a:spcPts val="0"/>
              </a:spcBef>
              <a:buNone/>
              <a:defRPr sz="1800" b="0">
                <a:solidFill>
                  <a:srgbClr val="4A5590"/>
                </a:solidFill>
                <a:latin typeface="Readex Pro"/>
                <a:ea typeface="Readex Pro"/>
                <a:cs typeface="Readex Pro"/>
              </a:defRPr>
            </a:lvl4pPr>
            <a:lvl5pPr marL="0" marR="0" indent="0" algn="l">
              <a:spcBef>
                <a:spcPts val="0"/>
              </a:spcBef>
              <a:buNone/>
              <a:defRPr sz="1800" b="0">
                <a:solidFill>
                  <a:srgbClr val="4A5590"/>
                </a:solidFill>
                <a:latin typeface="Readex Pro"/>
                <a:ea typeface="Readex Pro"/>
                <a:cs typeface="Readex Pro"/>
              </a:defRPr>
            </a:lvl5pPr>
            <a:lvl6pPr marL="0" marR="0" indent="0" algn="l">
              <a:spcBef>
                <a:spcPts val="0"/>
              </a:spcBef>
              <a:buNone/>
              <a:defRPr sz="1800" b="0">
                <a:solidFill>
                  <a:srgbClr val="4A5590"/>
                </a:solidFill>
                <a:latin typeface="Readex Pro"/>
                <a:ea typeface="Readex Pro"/>
                <a:cs typeface="Readex Pro"/>
              </a:defRPr>
            </a:lvl6pPr>
            <a:lvl7pPr marL="0" marR="0" indent="0" algn="l">
              <a:spcBef>
                <a:spcPts val="0"/>
              </a:spcBef>
              <a:buNone/>
              <a:defRPr sz="1800" b="0">
                <a:solidFill>
                  <a:srgbClr val="4A5590"/>
                </a:solidFill>
                <a:latin typeface="Readex Pro"/>
                <a:ea typeface="Readex Pro"/>
                <a:cs typeface="Readex Pro"/>
              </a:defRPr>
            </a:lvl7pPr>
            <a:lvl8pPr marL="0" marR="0" indent="0" algn="l">
              <a:spcBef>
                <a:spcPts val="0"/>
              </a:spcBef>
              <a:buNone/>
              <a:defRPr sz="1800" b="0">
                <a:solidFill>
                  <a:srgbClr val="4A5590"/>
                </a:solidFill>
                <a:latin typeface="Readex Pro"/>
                <a:ea typeface="Readex Pro"/>
                <a:cs typeface="Readex Pro"/>
              </a:defRPr>
            </a:lvl8pPr>
            <a:lvl9pPr marL="0" marR="0" indent="0" algn="l">
              <a:spcBef>
                <a:spcPts val="0"/>
              </a:spcBef>
              <a:buNone/>
              <a:defRPr sz="1800" b="0">
                <a:solidFill>
                  <a:srgbClr val="4A5590"/>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16" name="Google Shape;216;p47">
            <a:extLst>
              <a:ext uri="{FF2B5EF4-FFF2-40B4-BE49-F238E27FC236}">
                <a16:creationId xmlns:a16="http://schemas.microsoft.com/office/drawing/2014/main" id="{1521BC3B-7D2C-480E-ACBB-4E346A4075B2}"/>
              </a:ext>
            </a:extLst>
          </p:cNvPr>
          <p:cNvSpPr>
            <a:spLocks noGrp="1"/>
          </p:cNvSpPr>
          <p:nvPr>
            <p:ph type="body" idx="3"/>
          </p:nvPr>
        </p:nvSpPr>
        <p:spPr>
          <a:xfrm>
            <a:off x="1714500" y="8810625"/>
            <a:ext cx="15430500" cy="4572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17" name="Google Shape;217;p47">
            <a:extLst>
              <a:ext uri="{FF2B5EF4-FFF2-40B4-BE49-F238E27FC236}">
                <a16:creationId xmlns:a16="http://schemas.microsoft.com/office/drawing/2014/main" id="{F0F8F518-2342-4E92-88A1-8263ECD3EA74}"/>
              </a:ext>
            </a:extLst>
          </p:cNvPr>
          <p:cNvSpPr>
            <a:spLocks noGrp="1"/>
          </p:cNvSpPr>
          <p:nvPr>
            <p:ph type="tbl" idx="4"/>
          </p:nvPr>
        </p:nvSpPr>
        <p:spPr>
          <a:xfrm>
            <a:off x="1714500" y="3905250"/>
            <a:ext cx="15430500" cy="4476750"/>
          </a:xfrm>
          <a:prstGeom prst="rect">
            <a:avLst/>
          </a:prstGeom>
          <a:noFill/>
          <a:ln>
            <a:noFill/>
          </a:ln>
        </p:spPr>
        <p:txBody>
          <a:bodyPr spcFirstLastPara="1" wrap="square" lIns="254000" tIns="45700" rIns="254000" bIns="45700" anchor="ctr">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مقارنة بالأعمدة">
  <p:cSld name="مقارنة بالأعمدة">
    <p:bg>
      <p:bgPr>
        <a:solidFill>
          <a:srgbClr val="12183F"/>
        </a:solidFill>
        <a:effectLst/>
      </p:bgPr>
    </p:bg>
    <p:spTree>
      <p:nvGrpSpPr>
        <p:cNvPr id="1" name=""/>
        <p:cNvGrpSpPr/>
        <p:nvPr/>
      </p:nvGrpSpPr>
      <p:grpSpPr>
        <a:xfrm>
          <a:off x="0" y="0"/>
          <a:ext cx="0" cy="0"/>
          <a:chOff x="0" y="0"/>
          <a:chExt cx="0" cy="0"/>
        </a:xfrm>
      </p:grpSpPr>
      <p:pic>
        <p:nvPicPr>
          <p:cNvPr id="230" name="Google Shape;219;p48"/>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231" name="Google Shape;220;p48"/>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221" name="Google Shape;221;p48">
            <a:extLst>
              <a:ext uri="{FF2B5EF4-FFF2-40B4-BE49-F238E27FC236}">
                <a16:creationId xmlns:a16="http://schemas.microsoft.com/office/drawing/2014/main" id="{21FEA930-B0B5-4431-BB63-77F686624FFC}"/>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22" name="Google Shape;222;p48">
            <a:extLst>
              <a:ext uri="{FF2B5EF4-FFF2-40B4-BE49-F238E27FC236}">
                <a16:creationId xmlns:a16="http://schemas.microsoft.com/office/drawing/2014/main" id="{D37562A9-3C68-4331-8569-DC86E9DCC0E0}"/>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23" name="Google Shape;223;p48">
            <a:extLst>
              <a:ext uri="{FF2B5EF4-FFF2-40B4-BE49-F238E27FC236}">
                <a16:creationId xmlns:a16="http://schemas.microsoft.com/office/drawing/2014/main" id="{C3B43C96-6805-485E-A24B-84CCDE81782B}"/>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24" name="Google Shape;224;p48">
            <a:extLst>
              <a:ext uri="{FF2B5EF4-FFF2-40B4-BE49-F238E27FC236}">
                <a16:creationId xmlns:a16="http://schemas.microsoft.com/office/drawing/2014/main" id="{5E8395EC-785D-45B3-8AF8-B0AA32D29E0E}"/>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225" name="Google Shape;225;p48">
            <a:extLst>
              <a:ext uri="{FF2B5EF4-FFF2-40B4-BE49-F238E27FC236}">
                <a16:creationId xmlns:a16="http://schemas.microsoft.com/office/drawing/2014/main" id="{D6A3EA7B-EDAC-4488-A304-6322A6B9A555}"/>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26" name="Google Shape;226;p48">
            <a:extLst>
              <a:ext uri="{FF2B5EF4-FFF2-40B4-BE49-F238E27FC236}">
                <a16:creationId xmlns:a16="http://schemas.microsoft.com/office/drawing/2014/main" id="{1947DF7A-52A3-4F32-8717-C5062CF94E7A}"/>
              </a:ext>
            </a:extLst>
          </p:cNvPr>
          <p:cNvSpPr>
            <a:spLocks noGrp="1"/>
          </p:cNvSpPr>
          <p:nvPr>
            <p:ph type="body" idx="3"/>
          </p:nvPr>
        </p:nvSpPr>
        <p:spPr>
          <a:xfrm>
            <a:off x="2095500" y="8905875"/>
            <a:ext cx="14192250" cy="4572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27" name="Google Shape;227;p48">
            <a:extLst>
              <a:ext uri="{FF2B5EF4-FFF2-40B4-BE49-F238E27FC236}">
                <a16:creationId xmlns:a16="http://schemas.microsoft.com/office/drawing/2014/main" id="{EE7C786F-1866-44EA-A806-461845902739}"/>
              </a:ext>
            </a:extLst>
          </p:cNvPr>
          <p:cNvSpPr>
            <a:spLocks noGrp="1"/>
          </p:cNvSpPr>
          <p:nvPr>
            <p:ph type="chart" idx="4"/>
          </p:nvPr>
        </p:nvSpPr>
        <p:spPr>
          <a:xfrm>
            <a:off x="2095500" y="3905250"/>
            <a:ext cx="14192250" cy="4857750"/>
          </a:xfrm>
          <a:prstGeom prst="rect">
            <a:avLst/>
          </a:prstGeom>
          <a:noFill/>
          <a:ln>
            <a:noFill/>
          </a:ln>
        </p:spPr>
        <p:txBody>
          <a:bodyPr spcFirstLastPara="1" wrap="square" lIns="254000" tIns="45700" rIns="254000" bIns="45700" anchor="ctr">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توزيع نسبي">
  <p:cSld name="توزيع نسبي">
    <p:bg>
      <p:bgPr>
        <a:solidFill>
          <a:srgbClr val="12183F"/>
        </a:solidFill>
        <a:effectLst/>
      </p:bgPr>
    </p:bg>
    <p:spTree>
      <p:nvGrpSpPr>
        <p:cNvPr id="1" name=""/>
        <p:cNvGrpSpPr/>
        <p:nvPr/>
      </p:nvGrpSpPr>
      <p:grpSpPr>
        <a:xfrm>
          <a:off x="0" y="0"/>
          <a:ext cx="0" cy="0"/>
          <a:chOff x="0" y="0"/>
          <a:chExt cx="0" cy="0"/>
        </a:xfrm>
      </p:grpSpPr>
      <p:pic>
        <p:nvPicPr>
          <p:cNvPr id="240" name="Google Shape;229;p49"/>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241" name="Google Shape;230;p49"/>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231" name="Google Shape;231;p49">
            <a:extLst>
              <a:ext uri="{FF2B5EF4-FFF2-40B4-BE49-F238E27FC236}">
                <a16:creationId xmlns:a16="http://schemas.microsoft.com/office/drawing/2014/main" id="{1BF5D45B-8433-4C40-8BAC-BA9448F2A6FE}"/>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32" name="Google Shape;232;p49">
            <a:extLst>
              <a:ext uri="{FF2B5EF4-FFF2-40B4-BE49-F238E27FC236}">
                <a16:creationId xmlns:a16="http://schemas.microsoft.com/office/drawing/2014/main" id="{22D14136-1525-44B5-86C8-8D4522273714}"/>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33" name="Google Shape;233;p49">
            <a:extLst>
              <a:ext uri="{FF2B5EF4-FFF2-40B4-BE49-F238E27FC236}">
                <a16:creationId xmlns:a16="http://schemas.microsoft.com/office/drawing/2014/main" id="{06392DC1-DCF6-473C-B5BC-92E7D4FA4E54}"/>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34" name="Google Shape;234;p49">
            <a:extLst>
              <a:ext uri="{FF2B5EF4-FFF2-40B4-BE49-F238E27FC236}">
                <a16:creationId xmlns:a16="http://schemas.microsoft.com/office/drawing/2014/main" id="{A5830930-F2AD-48C6-AA92-4D9AEC9E9DBB}"/>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235" name="Google Shape;235;p49">
            <a:extLst>
              <a:ext uri="{FF2B5EF4-FFF2-40B4-BE49-F238E27FC236}">
                <a16:creationId xmlns:a16="http://schemas.microsoft.com/office/drawing/2014/main" id="{A1EF5ED3-6593-49CA-ADAD-6978E346D12D}"/>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36" name="Google Shape;236;p49">
            <a:extLst>
              <a:ext uri="{FF2B5EF4-FFF2-40B4-BE49-F238E27FC236}">
                <a16:creationId xmlns:a16="http://schemas.microsoft.com/office/drawing/2014/main" id="{B092C192-D920-4A16-9964-8729609F27C0}"/>
              </a:ext>
            </a:extLst>
          </p:cNvPr>
          <p:cNvSpPr>
            <a:spLocks noGrp="1"/>
          </p:cNvSpPr>
          <p:nvPr>
            <p:ph type="body" idx="3"/>
          </p:nvPr>
        </p:nvSpPr>
        <p:spPr>
          <a:xfrm>
            <a:off x="1714500" y="8905875"/>
            <a:ext cx="15430500" cy="4572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37" name="Google Shape;237;p49">
            <a:extLst>
              <a:ext uri="{FF2B5EF4-FFF2-40B4-BE49-F238E27FC236}">
                <a16:creationId xmlns:a16="http://schemas.microsoft.com/office/drawing/2014/main" id="{567D31B0-0F5A-439B-8FFE-48577FB1D554}"/>
              </a:ext>
            </a:extLst>
          </p:cNvPr>
          <p:cNvSpPr>
            <a:spLocks noGrp="1"/>
          </p:cNvSpPr>
          <p:nvPr>
            <p:ph type="chart" idx="4"/>
          </p:nvPr>
        </p:nvSpPr>
        <p:spPr>
          <a:xfrm>
            <a:off x="2095500" y="3619500"/>
            <a:ext cx="14097000" cy="5381625"/>
          </a:xfrm>
          <a:prstGeom prst="rect">
            <a:avLst/>
          </a:prstGeom>
          <a:noFill/>
          <a:ln>
            <a:noFill/>
          </a:ln>
        </p:spPr>
        <p:txBody>
          <a:bodyPr spcFirstLastPara="1" wrap="square" lIns="254000" tIns="45700" rIns="254000" bIns="45700" anchor="ctr">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آلية العمل">
  <p:cSld name="آلية العمل">
    <p:bg>
      <p:bgPr>
        <a:solidFill>
          <a:srgbClr val="12183F"/>
        </a:solidFill>
        <a:effectLst/>
      </p:bgPr>
    </p:bg>
    <p:spTree>
      <p:nvGrpSpPr>
        <p:cNvPr id="1" name=""/>
        <p:cNvGrpSpPr/>
        <p:nvPr/>
      </p:nvGrpSpPr>
      <p:grpSpPr>
        <a:xfrm>
          <a:off x="0" y="0"/>
          <a:ext cx="0" cy="0"/>
          <a:chOff x="0" y="0"/>
          <a:chExt cx="0" cy="0"/>
        </a:xfrm>
      </p:grpSpPr>
      <p:pic>
        <p:nvPicPr>
          <p:cNvPr id="252" name="Google Shape;239;p50"/>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253" name="Google Shape;240;p50"/>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241" name="Google Shape;241;p50">
            <a:extLst>
              <a:ext uri="{FF2B5EF4-FFF2-40B4-BE49-F238E27FC236}">
                <a16:creationId xmlns:a16="http://schemas.microsoft.com/office/drawing/2014/main" id="{810F97FA-FEE6-40EF-8F01-B0DFED761134}"/>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42" name="Google Shape;242;p50">
            <a:extLst>
              <a:ext uri="{FF2B5EF4-FFF2-40B4-BE49-F238E27FC236}">
                <a16:creationId xmlns:a16="http://schemas.microsoft.com/office/drawing/2014/main" id="{EF186957-0AC7-47BC-BAC7-86734AB8E74F}"/>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43" name="Google Shape;243;p50">
            <a:extLst>
              <a:ext uri="{FF2B5EF4-FFF2-40B4-BE49-F238E27FC236}">
                <a16:creationId xmlns:a16="http://schemas.microsoft.com/office/drawing/2014/main" id="{831C771A-CA07-4336-BD77-2FC8F0DAF335}"/>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44" name="Google Shape;244;p50">
            <a:extLst>
              <a:ext uri="{FF2B5EF4-FFF2-40B4-BE49-F238E27FC236}">
                <a16:creationId xmlns:a16="http://schemas.microsoft.com/office/drawing/2014/main" id="{53A075EA-7C09-43F9-83C4-CBBED0E1A9BC}"/>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245" name="Google Shape;245;p50">
            <a:extLst>
              <a:ext uri="{FF2B5EF4-FFF2-40B4-BE49-F238E27FC236}">
                <a16:creationId xmlns:a16="http://schemas.microsoft.com/office/drawing/2014/main" id="{AE11595F-E030-468C-BFD0-02CA76C1C82C}"/>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46" name="Google Shape;246;p50">
            <a:extLst>
              <a:ext uri="{FF2B5EF4-FFF2-40B4-BE49-F238E27FC236}">
                <a16:creationId xmlns:a16="http://schemas.microsoft.com/office/drawing/2014/main" id="{C17F75A7-93FC-4A7D-9E89-714974F32ECE}"/>
              </a:ext>
            </a:extLst>
          </p:cNvPr>
          <p:cNvSpPr>
            <a:spLocks noGrp="1"/>
          </p:cNvSpPr>
          <p:nvPr>
            <p:ph type="body" idx="3"/>
          </p:nvPr>
        </p:nvSpPr>
        <p:spPr>
          <a:xfrm>
            <a:off x="13716000" y="4333875"/>
            <a:ext cx="3429000" cy="3714750"/>
          </a:xfrm>
          <a:prstGeom prst="rect">
            <a:avLst/>
          </a:prstGeom>
          <a:solidFill>
            <a:srgbClr val="161D48"/>
          </a:solidFill>
          <a:ln w="11425" cmpd="sng">
            <a:solidFill>
              <a:srgbClr val="323D68"/>
            </a:solidFill>
            <a:prstDash val="solid"/>
            <a:headEnd type="none" w="sm" len="sm"/>
            <a:tailEnd type="none" w="sm" len="sm"/>
          </a:ln>
        </p:spPr>
        <p:txBody>
          <a:bodyPr spcFirstLastPara="1" wrap="square" lIns="266700" tIns="238125" rIns="266700" bIns="238125"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47" name="Google Shape;247;p50">
            <a:extLst>
              <a:ext uri="{FF2B5EF4-FFF2-40B4-BE49-F238E27FC236}">
                <a16:creationId xmlns:a16="http://schemas.microsoft.com/office/drawing/2014/main" id="{53AC8332-EB3B-4F8C-A774-AFF6634582E1}"/>
              </a:ext>
            </a:extLst>
          </p:cNvPr>
          <p:cNvSpPr>
            <a:spLocks noGrp="1"/>
          </p:cNvSpPr>
          <p:nvPr>
            <p:ph type="body" idx="4"/>
          </p:nvPr>
        </p:nvSpPr>
        <p:spPr>
          <a:xfrm>
            <a:off x="9715500" y="4333875"/>
            <a:ext cx="3429000" cy="3714750"/>
          </a:xfrm>
          <a:prstGeom prst="rect">
            <a:avLst/>
          </a:prstGeom>
          <a:solidFill>
            <a:srgbClr val="161D48"/>
          </a:solidFill>
          <a:ln w="11425" cmpd="sng">
            <a:solidFill>
              <a:srgbClr val="323D68"/>
            </a:solidFill>
            <a:prstDash val="solid"/>
            <a:headEnd type="none" w="sm" len="sm"/>
            <a:tailEnd type="none" w="sm" len="sm"/>
          </a:ln>
        </p:spPr>
        <p:txBody>
          <a:bodyPr spcFirstLastPara="1" wrap="square" lIns="266700" tIns="238125" rIns="266700" bIns="238125"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48" name="Google Shape;248;p50">
            <a:extLst>
              <a:ext uri="{FF2B5EF4-FFF2-40B4-BE49-F238E27FC236}">
                <a16:creationId xmlns:a16="http://schemas.microsoft.com/office/drawing/2014/main" id="{8591C844-4300-44FF-A758-9DD66AD0DDCB}"/>
              </a:ext>
            </a:extLst>
          </p:cNvPr>
          <p:cNvSpPr>
            <a:spLocks noGrp="1"/>
          </p:cNvSpPr>
          <p:nvPr>
            <p:ph type="body" idx="5"/>
          </p:nvPr>
        </p:nvSpPr>
        <p:spPr>
          <a:xfrm>
            <a:off x="5715000" y="4333875"/>
            <a:ext cx="3429000" cy="3714750"/>
          </a:xfrm>
          <a:prstGeom prst="rect">
            <a:avLst/>
          </a:prstGeom>
          <a:solidFill>
            <a:srgbClr val="161D48"/>
          </a:solidFill>
          <a:ln w="11425" cmpd="sng">
            <a:solidFill>
              <a:srgbClr val="323D68"/>
            </a:solidFill>
            <a:prstDash val="solid"/>
            <a:headEnd type="none" w="sm" len="sm"/>
            <a:tailEnd type="none" w="sm" len="sm"/>
          </a:ln>
        </p:spPr>
        <p:txBody>
          <a:bodyPr spcFirstLastPara="1" wrap="square" lIns="266700" tIns="238125" rIns="266700" bIns="238125"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49" name="Google Shape;249;p50">
            <a:extLst>
              <a:ext uri="{FF2B5EF4-FFF2-40B4-BE49-F238E27FC236}">
                <a16:creationId xmlns:a16="http://schemas.microsoft.com/office/drawing/2014/main" id="{F0FAF194-32D1-40A0-BC83-50D965A01250}"/>
              </a:ext>
            </a:extLst>
          </p:cNvPr>
          <p:cNvSpPr>
            <a:spLocks noGrp="1"/>
          </p:cNvSpPr>
          <p:nvPr>
            <p:ph type="body" idx="6"/>
          </p:nvPr>
        </p:nvSpPr>
        <p:spPr>
          <a:xfrm>
            <a:off x="1714500" y="4333875"/>
            <a:ext cx="3429000" cy="3714750"/>
          </a:xfrm>
          <a:prstGeom prst="rect">
            <a:avLst/>
          </a:prstGeom>
          <a:solidFill>
            <a:srgbClr val="161D48"/>
          </a:solidFill>
          <a:ln w="11425" cmpd="sng">
            <a:solidFill>
              <a:srgbClr val="323D68"/>
            </a:solidFill>
            <a:prstDash val="solid"/>
            <a:headEnd type="none" w="sm" len="sm"/>
            <a:tailEnd type="none" w="sm" len="sm"/>
          </a:ln>
        </p:spPr>
        <p:txBody>
          <a:bodyPr spcFirstLastPara="1" wrap="square" lIns="266700" tIns="238125" rIns="266700" bIns="238125"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صورة كبيرة">
  <p:cSld name="صورة كبيرة">
    <p:bg>
      <p:bgPr>
        <a:solidFill>
          <a:srgbClr val="12183F"/>
        </a:solidFill>
        <a:effectLst/>
      </p:bgPr>
    </p:bg>
    <p:spTree>
      <p:nvGrpSpPr>
        <p:cNvPr id="1" name=""/>
        <p:cNvGrpSpPr/>
        <p:nvPr/>
      </p:nvGrpSpPr>
      <p:grpSpPr>
        <a:xfrm>
          <a:off x="0" y="0"/>
          <a:ext cx="0" cy="0"/>
          <a:chOff x="0" y="0"/>
          <a:chExt cx="0" cy="0"/>
        </a:xfrm>
      </p:grpSpPr>
      <p:pic>
        <p:nvPicPr>
          <p:cNvPr id="258" name="Google Shape;251;p51"/>
          <p:cNvPicPr>
            <a:picLocks noChangeAspect="1"/>
          </p:cNvPicPr>
          <p:nvPr/>
        </p:nvPicPr>
        <p:blipFill rotWithShape="1">
          <a:blip r:embed="rId2">
            <a:alphaModFix/>
          </a:blip>
          <a:srcRect/>
          <a:stretch/>
        </p:blipFill>
        <p:spPr>
          <a:xfrm>
            <a:off x="0" y="0"/>
            <a:ext cx="18288000" cy="10287000"/>
          </a:xfrm>
          <a:prstGeom prst="rect">
            <a:avLst/>
          </a:prstGeom>
          <a:ln>
            <a:noFill/>
          </a:ln>
        </p:spPr>
      </p:pic>
      <p:sp>
        <p:nvSpPr>
          <p:cNvPr id="252" name="Google Shape;252;p51">
            <a:extLst>
              <a:ext uri="{FF2B5EF4-FFF2-40B4-BE49-F238E27FC236}">
                <a16:creationId xmlns:a16="http://schemas.microsoft.com/office/drawing/2014/main" id="{1689F7FC-B899-41E7-898C-2DEA258743DC}"/>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253" name="Google Shape;253;p51">
            <a:extLst>
              <a:ext uri="{FF2B5EF4-FFF2-40B4-BE49-F238E27FC236}">
                <a16:creationId xmlns:a16="http://schemas.microsoft.com/office/drawing/2014/main" id="{9CEC28D0-FF40-4804-BBF1-D9B8B266A08F}"/>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54" name="Google Shape;254;p51">
            <a:extLst>
              <a:ext uri="{FF2B5EF4-FFF2-40B4-BE49-F238E27FC236}">
                <a16:creationId xmlns:a16="http://schemas.microsoft.com/office/drawing/2014/main" id="{9D1617E8-B950-4138-903F-C3F1E08C6564}"/>
              </a:ext>
            </a:extLst>
          </p:cNvPr>
          <p:cNvSpPr>
            <a:spLocks noGrp="1"/>
          </p:cNvSpPr>
          <p:nvPr>
            <p:ph type="pic" idx="2"/>
          </p:nvPr>
        </p:nvSpPr>
        <p:spPr>
          <a:xfrm>
            <a:off x="1047750" y="666750"/>
            <a:ext cx="16192500" cy="6953250"/>
          </a:xfrm>
          <a:prstGeom prst="rect">
            <a:avLst/>
          </a:prstGeom>
          <a:solidFill>
            <a:srgbClr val="161D48"/>
          </a:solidFill>
          <a:ln w="11425" cmpd="sng">
            <a:solidFill>
              <a:srgbClr val="4A5590"/>
            </a:solidFill>
            <a:prstDash val="solid"/>
            <a:headEnd type="none" w="sm" len="sm"/>
            <a:tailEnd type="none" w="sm" len="sm"/>
          </a:ln>
        </p:spPr>
      </p:sp>
      <p:sp>
        <p:nvSpPr>
          <p:cNvPr id="255" name="Google Shape;255;p51">
            <a:extLst>
              <a:ext uri="{FF2B5EF4-FFF2-40B4-BE49-F238E27FC236}">
                <a16:creationId xmlns:a16="http://schemas.microsoft.com/office/drawing/2014/main" id="{0888EA02-D7C2-4A72-9DB5-876446345A32}"/>
              </a:ext>
            </a:extLst>
          </p:cNvPr>
          <p:cNvSpPr>
            <a:spLocks noGrp="1"/>
          </p:cNvSpPr>
          <p:nvPr>
            <p:ph type="title"/>
          </p:nvPr>
        </p:nvSpPr>
        <p:spPr>
          <a:xfrm>
            <a:off x="2190750" y="7962900"/>
            <a:ext cx="14763750" cy="8382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56" name="Google Shape;256;p51">
            <a:extLst>
              <a:ext uri="{FF2B5EF4-FFF2-40B4-BE49-F238E27FC236}">
                <a16:creationId xmlns:a16="http://schemas.microsoft.com/office/drawing/2014/main" id="{11494B80-FCF5-4961-9BDD-19A8923F0BFF}"/>
              </a:ext>
            </a:extLst>
          </p:cNvPr>
          <p:cNvSpPr>
            <a:spLocks noGrp="1"/>
          </p:cNvSpPr>
          <p:nvPr>
            <p:ph type="body" idx="1"/>
          </p:nvPr>
        </p:nvSpPr>
        <p:spPr>
          <a:xfrm>
            <a:off x="2190750" y="8896350"/>
            <a:ext cx="14763750" cy="4286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معرض الصور">
  <p:cSld name="معرض الصور">
    <p:bg>
      <p:bgPr>
        <a:solidFill>
          <a:srgbClr val="12183F"/>
        </a:solidFill>
        <a:effectLst/>
      </p:bgPr>
    </p:bg>
    <p:spTree>
      <p:nvGrpSpPr>
        <p:cNvPr id="1" name=""/>
        <p:cNvGrpSpPr/>
        <p:nvPr/>
      </p:nvGrpSpPr>
      <p:grpSpPr>
        <a:xfrm>
          <a:off x="0" y="0"/>
          <a:ext cx="0" cy="0"/>
          <a:chOff x="0" y="0"/>
          <a:chExt cx="0" cy="0"/>
        </a:xfrm>
      </p:grpSpPr>
      <p:pic>
        <p:nvPicPr>
          <p:cNvPr id="272" name="Google Shape;258;p52"/>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273" name="Google Shape;259;p52"/>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260" name="Google Shape;260;p52">
            <a:extLst>
              <a:ext uri="{FF2B5EF4-FFF2-40B4-BE49-F238E27FC236}">
                <a16:creationId xmlns:a16="http://schemas.microsoft.com/office/drawing/2014/main" id="{E40F56E4-B1E8-4F44-B7DF-298A4B0BF7AE}"/>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61" name="Google Shape;261;p52">
            <a:extLst>
              <a:ext uri="{FF2B5EF4-FFF2-40B4-BE49-F238E27FC236}">
                <a16:creationId xmlns:a16="http://schemas.microsoft.com/office/drawing/2014/main" id="{F95F4621-BEC8-4B4B-BF26-12B2FF804DCA}"/>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62" name="Google Shape;262;p52">
            <a:extLst>
              <a:ext uri="{FF2B5EF4-FFF2-40B4-BE49-F238E27FC236}">
                <a16:creationId xmlns:a16="http://schemas.microsoft.com/office/drawing/2014/main" id="{2E602308-65E3-4014-99FF-57EA17CC9620}"/>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263" name="Google Shape;263;p52">
            <a:extLst>
              <a:ext uri="{FF2B5EF4-FFF2-40B4-BE49-F238E27FC236}">
                <a16:creationId xmlns:a16="http://schemas.microsoft.com/office/drawing/2014/main" id="{31C6010E-907E-4528-A17B-5B3535F93B79}"/>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64" name="Google Shape;264;p52">
            <a:extLst>
              <a:ext uri="{FF2B5EF4-FFF2-40B4-BE49-F238E27FC236}">
                <a16:creationId xmlns:a16="http://schemas.microsoft.com/office/drawing/2014/main" id="{3CC37051-35FC-4076-83C7-D84EDAA828EA}"/>
              </a:ext>
            </a:extLst>
          </p:cNvPr>
          <p:cNvSpPr>
            <a:spLocks noGrp="1"/>
          </p:cNvSpPr>
          <p:nvPr>
            <p:ph type="pic" idx="2"/>
          </p:nvPr>
        </p:nvSpPr>
        <p:spPr>
          <a:xfrm>
            <a:off x="12382500" y="3714750"/>
            <a:ext cx="4762500" cy="4286250"/>
          </a:xfrm>
          <a:prstGeom prst="rect">
            <a:avLst/>
          </a:prstGeom>
          <a:solidFill>
            <a:srgbClr val="161D48"/>
          </a:solidFill>
          <a:ln w="11425" cmpd="sng">
            <a:solidFill>
              <a:srgbClr val="4A5590"/>
            </a:solidFill>
            <a:prstDash val="solid"/>
            <a:headEnd type="none" w="sm" len="sm"/>
            <a:tailEnd type="none" w="sm" len="sm"/>
          </a:ln>
        </p:spPr>
      </p:sp>
      <p:sp>
        <p:nvSpPr>
          <p:cNvPr id="265" name="Google Shape;265;p52">
            <a:extLst>
              <a:ext uri="{FF2B5EF4-FFF2-40B4-BE49-F238E27FC236}">
                <a16:creationId xmlns:a16="http://schemas.microsoft.com/office/drawing/2014/main" id="{D79998CF-7388-4106-BE3B-DCAEACBECE77}"/>
              </a:ext>
            </a:extLst>
          </p:cNvPr>
          <p:cNvSpPr>
            <a:spLocks noGrp="1"/>
          </p:cNvSpPr>
          <p:nvPr>
            <p:ph type="body" idx="3"/>
          </p:nvPr>
        </p:nvSpPr>
        <p:spPr>
          <a:xfrm>
            <a:off x="12382500" y="8334375"/>
            <a:ext cx="476250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66" name="Google Shape;266;p52">
            <a:extLst>
              <a:ext uri="{FF2B5EF4-FFF2-40B4-BE49-F238E27FC236}">
                <a16:creationId xmlns:a16="http://schemas.microsoft.com/office/drawing/2014/main" id="{4A5DCF0A-0655-42A7-88DD-1C0DC0EEBA75}"/>
              </a:ext>
            </a:extLst>
          </p:cNvPr>
          <p:cNvSpPr>
            <a:spLocks noGrp="1"/>
          </p:cNvSpPr>
          <p:nvPr>
            <p:ph type="pic" idx="4"/>
          </p:nvPr>
        </p:nvSpPr>
        <p:spPr>
          <a:xfrm>
            <a:off x="7048500" y="3714750"/>
            <a:ext cx="4762500" cy="4286250"/>
          </a:xfrm>
          <a:prstGeom prst="rect">
            <a:avLst/>
          </a:prstGeom>
          <a:solidFill>
            <a:srgbClr val="161D48"/>
          </a:solidFill>
          <a:ln w="11425" cmpd="sng">
            <a:solidFill>
              <a:srgbClr val="4A5590"/>
            </a:solidFill>
            <a:prstDash val="solid"/>
            <a:headEnd type="none" w="sm" len="sm"/>
            <a:tailEnd type="none" w="sm" len="sm"/>
          </a:ln>
        </p:spPr>
      </p:sp>
      <p:sp>
        <p:nvSpPr>
          <p:cNvPr id="267" name="Google Shape;267;p52">
            <a:extLst>
              <a:ext uri="{FF2B5EF4-FFF2-40B4-BE49-F238E27FC236}">
                <a16:creationId xmlns:a16="http://schemas.microsoft.com/office/drawing/2014/main" id="{30E95669-B359-4CFD-8D38-1711D88D53E7}"/>
              </a:ext>
            </a:extLst>
          </p:cNvPr>
          <p:cNvSpPr>
            <a:spLocks noGrp="1"/>
          </p:cNvSpPr>
          <p:nvPr>
            <p:ph type="body" idx="5"/>
          </p:nvPr>
        </p:nvSpPr>
        <p:spPr>
          <a:xfrm>
            <a:off x="7048500" y="8334375"/>
            <a:ext cx="476250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68" name="Google Shape;268;p52">
            <a:extLst>
              <a:ext uri="{FF2B5EF4-FFF2-40B4-BE49-F238E27FC236}">
                <a16:creationId xmlns:a16="http://schemas.microsoft.com/office/drawing/2014/main" id="{EC8C46F4-D671-43D5-A9C3-EC434BBD3762}"/>
              </a:ext>
            </a:extLst>
          </p:cNvPr>
          <p:cNvSpPr>
            <a:spLocks noGrp="1"/>
          </p:cNvSpPr>
          <p:nvPr>
            <p:ph type="pic" idx="6"/>
          </p:nvPr>
        </p:nvSpPr>
        <p:spPr>
          <a:xfrm>
            <a:off x="1714500" y="3714750"/>
            <a:ext cx="4762500" cy="4286250"/>
          </a:xfrm>
          <a:prstGeom prst="rect">
            <a:avLst/>
          </a:prstGeom>
          <a:solidFill>
            <a:srgbClr val="161D48"/>
          </a:solidFill>
          <a:ln w="11425" cmpd="sng">
            <a:solidFill>
              <a:srgbClr val="4A5590"/>
            </a:solidFill>
            <a:prstDash val="solid"/>
            <a:headEnd type="none" w="sm" len="sm"/>
            <a:tailEnd type="none" w="sm" len="sm"/>
          </a:ln>
        </p:spPr>
      </p:sp>
      <p:sp>
        <p:nvSpPr>
          <p:cNvPr id="269" name="Google Shape;269;p52">
            <a:extLst>
              <a:ext uri="{FF2B5EF4-FFF2-40B4-BE49-F238E27FC236}">
                <a16:creationId xmlns:a16="http://schemas.microsoft.com/office/drawing/2014/main" id="{59940C6E-B4E4-48D7-8CFC-2CEE10380787}"/>
              </a:ext>
            </a:extLst>
          </p:cNvPr>
          <p:cNvSpPr>
            <a:spLocks noGrp="1"/>
          </p:cNvSpPr>
          <p:nvPr>
            <p:ph type="body" idx="7"/>
          </p:nvPr>
        </p:nvSpPr>
        <p:spPr>
          <a:xfrm>
            <a:off x="1714500" y="8334375"/>
            <a:ext cx="4762500" cy="61912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أيقونات الهوية">
  <p:cSld name="أيقونات الهوية">
    <p:bg>
      <p:bgPr>
        <a:solidFill>
          <a:srgbClr val="12183F"/>
        </a:solidFill>
        <a:effectLst/>
      </p:bgPr>
    </p:bg>
    <p:spTree>
      <p:nvGrpSpPr>
        <p:cNvPr id="1" name=""/>
        <p:cNvGrpSpPr/>
        <p:nvPr/>
      </p:nvGrpSpPr>
      <p:grpSpPr>
        <a:xfrm>
          <a:off x="0" y="0"/>
          <a:ext cx="0" cy="0"/>
          <a:chOff x="0" y="0"/>
          <a:chExt cx="0" cy="0"/>
        </a:xfrm>
      </p:grpSpPr>
      <p:pic>
        <p:nvPicPr>
          <p:cNvPr id="288" name="Google Shape;271;p53"/>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289" name="Google Shape;272;p53"/>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273" name="Google Shape;273;p53">
            <a:extLst>
              <a:ext uri="{FF2B5EF4-FFF2-40B4-BE49-F238E27FC236}">
                <a16:creationId xmlns:a16="http://schemas.microsoft.com/office/drawing/2014/main" id="{1EC150EA-CF9E-4626-A8B6-CE6A4BBC1622}"/>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74" name="Google Shape;274;p53">
            <a:extLst>
              <a:ext uri="{FF2B5EF4-FFF2-40B4-BE49-F238E27FC236}">
                <a16:creationId xmlns:a16="http://schemas.microsoft.com/office/drawing/2014/main" id="{98D19ABE-7BAC-452B-B119-004074D40813}"/>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75" name="Google Shape;275;p53">
            <a:extLst>
              <a:ext uri="{FF2B5EF4-FFF2-40B4-BE49-F238E27FC236}">
                <a16:creationId xmlns:a16="http://schemas.microsoft.com/office/drawing/2014/main" id="{F7541F85-43F0-4935-930C-AFEA85FC546B}"/>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76" name="Google Shape;276;p53">
            <a:extLst>
              <a:ext uri="{FF2B5EF4-FFF2-40B4-BE49-F238E27FC236}">
                <a16:creationId xmlns:a16="http://schemas.microsoft.com/office/drawing/2014/main" id="{195493A6-FFC0-4181-92F0-81E585EBA9F0}"/>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277" name="Google Shape;277;p53">
            <a:extLst>
              <a:ext uri="{FF2B5EF4-FFF2-40B4-BE49-F238E27FC236}">
                <a16:creationId xmlns:a16="http://schemas.microsoft.com/office/drawing/2014/main" id="{9B668839-6F2A-40A8-9D2D-C4A3ECE4CC09}"/>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78" name="Google Shape;278;p53">
            <a:extLst>
              <a:ext uri="{FF2B5EF4-FFF2-40B4-BE49-F238E27FC236}">
                <a16:creationId xmlns:a16="http://schemas.microsoft.com/office/drawing/2014/main" id="{AF46EC5C-B189-4205-8446-D006028BE370}"/>
              </a:ext>
            </a:extLst>
          </p:cNvPr>
          <p:cNvSpPr>
            <a:spLocks noGrp="1"/>
          </p:cNvSpPr>
          <p:nvPr>
            <p:ph type="body" idx="3"/>
          </p:nvPr>
        </p:nvSpPr>
        <p:spPr>
          <a:xfrm>
            <a:off x="13716000" y="6048375"/>
            <a:ext cx="3524250" cy="7429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79" name="Google Shape;279;p53">
            <a:extLst>
              <a:ext uri="{FF2B5EF4-FFF2-40B4-BE49-F238E27FC236}">
                <a16:creationId xmlns:a16="http://schemas.microsoft.com/office/drawing/2014/main" id="{361F0CA9-9454-45EC-8FFC-BFBA199115F5}"/>
              </a:ext>
            </a:extLst>
          </p:cNvPr>
          <p:cNvSpPr>
            <a:spLocks noGrp="1"/>
          </p:cNvSpPr>
          <p:nvPr>
            <p:ph type="body" idx="4"/>
          </p:nvPr>
        </p:nvSpPr>
        <p:spPr>
          <a:xfrm>
            <a:off x="13716000" y="7162800"/>
            <a:ext cx="3524250" cy="11715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80" name="Google Shape;280;p53">
            <a:extLst>
              <a:ext uri="{FF2B5EF4-FFF2-40B4-BE49-F238E27FC236}">
                <a16:creationId xmlns:a16="http://schemas.microsoft.com/office/drawing/2014/main" id="{1795DD24-6D58-4618-825E-45DC380DAF39}"/>
              </a:ext>
            </a:extLst>
          </p:cNvPr>
          <p:cNvSpPr>
            <a:spLocks noGrp="1"/>
          </p:cNvSpPr>
          <p:nvPr>
            <p:ph type="body" idx="5"/>
          </p:nvPr>
        </p:nvSpPr>
        <p:spPr>
          <a:xfrm>
            <a:off x="9715500" y="6048375"/>
            <a:ext cx="3524250" cy="7429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81" name="Google Shape;281;p53">
            <a:extLst>
              <a:ext uri="{FF2B5EF4-FFF2-40B4-BE49-F238E27FC236}">
                <a16:creationId xmlns:a16="http://schemas.microsoft.com/office/drawing/2014/main" id="{762397FB-1620-482E-98C0-1295F2D36E3D}"/>
              </a:ext>
            </a:extLst>
          </p:cNvPr>
          <p:cNvSpPr>
            <a:spLocks noGrp="1"/>
          </p:cNvSpPr>
          <p:nvPr>
            <p:ph type="body" idx="6"/>
          </p:nvPr>
        </p:nvSpPr>
        <p:spPr>
          <a:xfrm>
            <a:off x="9715500" y="7162800"/>
            <a:ext cx="3524250" cy="11715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82" name="Google Shape;282;p53">
            <a:extLst>
              <a:ext uri="{FF2B5EF4-FFF2-40B4-BE49-F238E27FC236}">
                <a16:creationId xmlns:a16="http://schemas.microsoft.com/office/drawing/2014/main" id="{C784386C-7EDE-4D86-869C-EB8053C80BA4}"/>
              </a:ext>
            </a:extLst>
          </p:cNvPr>
          <p:cNvSpPr>
            <a:spLocks noGrp="1"/>
          </p:cNvSpPr>
          <p:nvPr>
            <p:ph type="body" idx="7"/>
          </p:nvPr>
        </p:nvSpPr>
        <p:spPr>
          <a:xfrm>
            <a:off x="5715000" y="6048375"/>
            <a:ext cx="3524250" cy="7429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83" name="Google Shape;283;p53">
            <a:extLst>
              <a:ext uri="{FF2B5EF4-FFF2-40B4-BE49-F238E27FC236}">
                <a16:creationId xmlns:a16="http://schemas.microsoft.com/office/drawing/2014/main" id="{ABCDCB10-4ED0-4138-9131-4063692D1C0F}"/>
              </a:ext>
            </a:extLst>
          </p:cNvPr>
          <p:cNvSpPr>
            <a:spLocks noGrp="1"/>
          </p:cNvSpPr>
          <p:nvPr>
            <p:ph type="body" idx="8"/>
          </p:nvPr>
        </p:nvSpPr>
        <p:spPr>
          <a:xfrm>
            <a:off x="5715000" y="7162800"/>
            <a:ext cx="3524250" cy="11715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84" name="Google Shape;284;p53">
            <a:extLst>
              <a:ext uri="{FF2B5EF4-FFF2-40B4-BE49-F238E27FC236}">
                <a16:creationId xmlns:a16="http://schemas.microsoft.com/office/drawing/2014/main" id="{9B2A4CEA-2052-41CF-998D-D8430EFA0572}"/>
              </a:ext>
            </a:extLst>
          </p:cNvPr>
          <p:cNvSpPr>
            <a:spLocks noGrp="1"/>
          </p:cNvSpPr>
          <p:nvPr>
            <p:ph type="body" idx="9"/>
          </p:nvPr>
        </p:nvSpPr>
        <p:spPr>
          <a:xfrm>
            <a:off x="1714500" y="6048375"/>
            <a:ext cx="3524250" cy="7429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85" name="Google Shape;285;p53">
            <a:extLst>
              <a:ext uri="{FF2B5EF4-FFF2-40B4-BE49-F238E27FC236}">
                <a16:creationId xmlns:a16="http://schemas.microsoft.com/office/drawing/2014/main" id="{7B1EB372-C111-462C-A51F-A9CE190C5932}"/>
              </a:ext>
            </a:extLst>
          </p:cNvPr>
          <p:cNvSpPr>
            <a:spLocks noGrp="1"/>
          </p:cNvSpPr>
          <p:nvPr>
            <p:ph type="body" idx="13"/>
          </p:nvPr>
        </p:nvSpPr>
        <p:spPr>
          <a:xfrm>
            <a:off x="1714500" y="7162800"/>
            <a:ext cx="3524250" cy="1171575"/>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مقارنة خيارين">
  <p:cSld name="مقارنة خيارين">
    <p:bg>
      <p:bgPr>
        <a:solidFill>
          <a:srgbClr val="12183F"/>
        </a:solidFill>
        <a:effectLst/>
      </p:bgPr>
    </p:bg>
    <p:spTree>
      <p:nvGrpSpPr>
        <p:cNvPr id="1" name=""/>
        <p:cNvGrpSpPr/>
        <p:nvPr/>
      </p:nvGrpSpPr>
      <p:grpSpPr>
        <a:xfrm>
          <a:off x="0" y="0"/>
          <a:ext cx="0" cy="0"/>
          <a:chOff x="0" y="0"/>
          <a:chExt cx="0" cy="0"/>
        </a:xfrm>
      </p:grpSpPr>
      <p:pic>
        <p:nvPicPr>
          <p:cNvPr id="302" name="Google Shape;287;p54"/>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303" name="Google Shape;288;p54"/>
          <p:cNvPicPr>
            <a:picLocks noChangeAspect="1"/>
          </p:cNvPicPr>
          <p:nvPr/>
        </p:nvPicPr>
        <p:blipFill rotWithShape="1">
          <a:blip r:embed="rId3">
            <a:alphaModFix/>
          </a:blip>
          <a:srcRect/>
          <a:stretch/>
        </p:blipFill>
        <p:spPr>
          <a:xfrm>
            <a:off x="1066800" y="693967"/>
            <a:ext cx="3429000" cy="879016"/>
          </a:xfrm>
          <a:prstGeom prst="rect">
            <a:avLst/>
          </a:prstGeom>
          <a:ln>
            <a:noFill/>
          </a:ln>
        </p:spPr>
      </p:pic>
      <p:sp>
        <p:nvSpPr>
          <p:cNvPr id="289" name="Google Shape;289;p54">
            <a:extLst>
              <a:ext uri="{FF2B5EF4-FFF2-40B4-BE49-F238E27FC236}">
                <a16:creationId xmlns:a16="http://schemas.microsoft.com/office/drawing/2014/main" id="{14A3EE7A-BC89-42D2-A97C-761EFA8DAA54}"/>
              </a:ext>
            </a:extLst>
          </p:cNvPr>
          <p:cNvSpPr>
            <a:spLocks noGrp="1"/>
          </p:cNvSpPr>
          <p:nvPr>
            <p:ph type="body" idx="1"/>
          </p:nvPr>
        </p:nvSpPr>
        <p:spPr>
          <a:xfrm>
            <a:off x="10668000" y="1028700"/>
            <a:ext cx="6477000" cy="4191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0" name="Google Shape;290;p54">
            <a:extLst>
              <a:ext uri="{FF2B5EF4-FFF2-40B4-BE49-F238E27FC236}">
                <a16:creationId xmlns:a16="http://schemas.microsoft.com/office/drawing/2014/main" id="{FF5304CF-5C59-4D7E-B687-E08EEE3107DB}"/>
              </a:ext>
            </a:extLst>
          </p:cNvPr>
          <p:cNvSpPr>
            <a:spLocks noGrp="1"/>
          </p:cNvSpPr>
          <p:nvPr>
            <p:ph type="title"/>
          </p:nvPr>
        </p:nvSpPr>
        <p:spPr>
          <a:xfrm>
            <a:off x="1714500" y="1809750"/>
            <a:ext cx="15430500" cy="95250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1" name="Google Shape;291;p54">
            <a:extLst>
              <a:ext uri="{FF2B5EF4-FFF2-40B4-BE49-F238E27FC236}">
                <a16:creationId xmlns:a16="http://schemas.microsoft.com/office/drawing/2014/main" id="{1C406C25-C6A9-4C72-A0AC-288934A7D9F2}"/>
              </a:ext>
            </a:extLst>
          </p:cNvPr>
          <p:cNvSpPr>
            <a:spLocks noGrp="1"/>
          </p:cNvSpPr>
          <p:nvPr>
            <p:ph type="body" idx="2"/>
          </p:nvPr>
        </p:nvSpPr>
        <p:spPr>
          <a:xfrm>
            <a:off x="1714500" y="2857500"/>
            <a:ext cx="15430500" cy="685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2" name="Google Shape;292;p54">
            <a:extLst>
              <a:ext uri="{FF2B5EF4-FFF2-40B4-BE49-F238E27FC236}">
                <a16:creationId xmlns:a16="http://schemas.microsoft.com/office/drawing/2014/main" id="{09869F2D-9C3A-4A8E-8E02-5E341955D426}"/>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293" name="Google Shape;293;p54">
            <a:extLst>
              <a:ext uri="{FF2B5EF4-FFF2-40B4-BE49-F238E27FC236}">
                <a16:creationId xmlns:a16="http://schemas.microsoft.com/office/drawing/2014/main" id="{194BFC4D-8EF5-4518-9930-8F45E6515AFE}"/>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94" name="Google Shape;294;p54">
            <a:extLst>
              <a:ext uri="{FF2B5EF4-FFF2-40B4-BE49-F238E27FC236}">
                <a16:creationId xmlns:a16="http://schemas.microsoft.com/office/drawing/2014/main" id="{AD929A0D-E9C1-4F9D-BCAE-FBC083390334}"/>
              </a:ext>
            </a:extLst>
          </p:cNvPr>
          <p:cNvSpPr>
            <a:spLocks noGrp="1"/>
          </p:cNvSpPr>
          <p:nvPr>
            <p:ph type="body" idx="3"/>
          </p:nvPr>
        </p:nvSpPr>
        <p:spPr>
          <a:xfrm>
            <a:off x="10001250" y="3857625"/>
            <a:ext cx="71437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5" name="Google Shape;295;p54">
            <a:extLst>
              <a:ext uri="{FF2B5EF4-FFF2-40B4-BE49-F238E27FC236}">
                <a16:creationId xmlns:a16="http://schemas.microsoft.com/office/drawing/2014/main" id="{BA48BF18-0745-4080-9DAE-6AB6AAD8E949}"/>
              </a:ext>
            </a:extLst>
          </p:cNvPr>
          <p:cNvSpPr>
            <a:spLocks noGrp="1"/>
          </p:cNvSpPr>
          <p:nvPr>
            <p:ph type="body" idx="4"/>
          </p:nvPr>
        </p:nvSpPr>
        <p:spPr>
          <a:xfrm>
            <a:off x="10001250" y="4562475"/>
            <a:ext cx="71437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6" name="Google Shape;296;p54">
            <a:extLst>
              <a:ext uri="{FF2B5EF4-FFF2-40B4-BE49-F238E27FC236}">
                <a16:creationId xmlns:a16="http://schemas.microsoft.com/office/drawing/2014/main" id="{F432FAA4-EB24-4837-8AD8-E4D45FD53F4A}"/>
              </a:ext>
            </a:extLst>
          </p:cNvPr>
          <p:cNvSpPr>
            <a:spLocks noGrp="1"/>
          </p:cNvSpPr>
          <p:nvPr>
            <p:ph type="body" idx="5"/>
          </p:nvPr>
        </p:nvSpPr>
        <p:spPr>
          <a:xfrm>
            <a:off x="1714500" y="3857625"/>
            <a:ext cx="7143750" cy="5905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7" name="Google Shape;297;p54">
            <a:extLst>
              <a:ext uri="{FF2B5EF4-FFF2-40B4-BE49-F238E27FC236}">
                <a16:creationId xmlns:a16="http://schemas.microsoft.com/office/drawing/2014/main" id="{B4DDEE83-FAA5-44C0-9BE4-544EE0C56747}"/>
              </a:ext>
            </a:extLst>
          </p:cNvPr>
          <p:cNvSpPr>
            <a:spLocks noGrp="1"/>
          </p:cNvSpPr>
          <p:nvPr>
            <p:ph type="body" idx="6"/>
          </p:nvPr>
        </p:nvSpPr>
        <p:spPr>
          <a:xfrm>
            <a:off x="1714500" y="4562475"/>
            <a:ext cx="7143750" cy="106680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8" name="Google Shape;298;p54">
            <a:extLst>
              <a:ext uri="{FF2B5EF4-FFF2-40B4-BE49-F238E27FC236}">
                <a16:creationId xmlns:a16="http://schemas.microsoft.com/office/drawing/2014/main" id="{3781EE97-19C8-4D39-ADA5-D8591EAC55CC}"/>
              </a:ext>
            </a:extLst>
          </p:cNvPr>
          <p:cNvSpPr>
            <a:spLocks noGrp="1"/>
          </p:cNvSpPr>
          <p:nvPr>
            <p:ph type="body" idx="7"/>
          </p:nvPr>
        </p:nvSpPr>
        <p:spPr>
          <a:xfrm>
            <a:off x="10001250" y="5905500"/>
            <a:ext cx="7143750" cy="29527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299" name="Google Shape;299;p54">
            <a:extLst>
              <a:ext uri="{FF2B5EF4-FFF2-40B4-BE49-F238E27FC236}">
                <a16:creationId xmlns:a16="http://schemas.microsoft.com/office/drawing/2014/main" id="{04A968BD-925D-46ED-BACF-7C1AA69576C3}"/>
              </a:ext>
            </a:extLst>
          </p:cNvPr>
          <p:cNvSpPr>
            <a:spLocks noGrp="1"/>
          </p:cNvSpPr>
          <p:nvPr>
            <p:ph type="body" idx="8"/>
          </p:nvPr>
        </p:nvSpPr>
        <p:spPr>
          <a:xfrm>
            <a:off x="1714500" y="5905500"/>
            <a:ext cx="7143750" cy="29527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فارغة داكنة">
  <p:cSld name="فارغة داكنة">
    <p:bg>
      <p:bgPr>
        <a:solidFill>
          <a:srgbClr val="12183F"/>
        </a:solidFill>
        <a:effectLst/>
      </p:bgPr>
    </p:bg>
    <p:spTree>
      <p:nvGrpSpPr>
        <p:cNvPr id="1" name=""/>
        <p:cNvGrpSpPr/>
        <p:nvPr/>
      </p:nvGrpSpPr>
      <p:grpSpPr>
        <a:xfrm>
          <a:off x="0" y="0"/>
          <a:ext cx="0" cy="0"/>
          <a:chOff x="0" y="0"/>
          <a:chExt cx="0" cy="0"/>
        </a:xfrm>
      </p:grpSpPr>
      <p:pic>
        <p:nvPicPr>
          <p:cNvPr id="307" name="Google Shape;301;p55"/>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308" name="Google Shape;302;p55"/>
          <p:cNvPicPr>
            <a:picLocks noChangeAspect="1"/>
          </p:cNvPicPr>
          <p:nvPr/>
        </p:nvPicPr>
        <p:blipFill rotWithShape="1">
          <a:blip r:embed="rId3">
            <a:alphaModFix/>
          </a:blip>
          <a:srcRect/>
          <a:stretch/>
        </p:blipFill>
        <p:spPr>
          <a:xfrm>
            <a:off x="1066800" y="722542"/>
            <a:ext cx="3429000" cy="879016"/>
          </a:xfrm>
          <a:prstGeom prst="rect">
            <a:avLst/>
          </a:prstGeom>
          <a:ln>
            <a:noFill/>
          </a:ln>
        </p:spPr>
      </p:pic>
      <p:sp>
        <p:nvSpPr>
          <p:cNvPr id="303" name="Google Shape;303;p55">
            <a:extLst>
              <a:ext uri="{FF2B5EF4-FFF2-40B4-BE49-F238E27FC236}">
                <a16:creationId xmlns:a16="http://schemas.microsoft.com/office/drawing/2014/main" id="{7009058E-2717-4E55-836B-5D92AB89A24C}"/>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8E99CC"/>
                </a:solidFill>
                <a:latin typeface="Readex Pro"/>
                <a:ea typeface="Readex Pro"/>
                <a:cs typeface="Readex Pro"/>
              </a:rPr>
              <a:t>تحدي الذكاء الاصطناعي في خدمة المحتوى الإسلامي</a:t>
            </a:r>
            <a:endParaRPr/>
          </a:p>
        </p:txBody>
      </p:sp>
      <p:sp>
        <p:nvSpPr>
          <p:cNvPr id="304" name="Google Shape;304;p55">
            <a:extLst>
              <a:ext uri="{FF2B5EF4-FFF2-40B4-BE49-F238E27FC236}">
                <a16:creationId xmlns:a16="http://schemas.microsoft.com/office/drawing/2014/main" id="{1494AD3F-18F7-4D77-9DC9-0A0F7720ABD8}"/>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فارغة فاتحة">
  <p:cSld name="فارغة فاتحة">
    <p:bg>
      <p:bgPr>
        <a:solidFill>
          <a:srgbClr val="F2F4FF"/>
        </a:solidFill>
        <a:effectLst/>
      </p:bgPr>
    </p:bg>
    <p:spTree>
      <p:nvGrpSpPr>
        <p:cNvPr id="1" name=""/>
        <p:cNvGrpSpPr/>
        <p:nvPr/>
      </p:nvGrpSpPr>
      <p:grpSpPr>
        <a:xfrm>
          <a:off x="0" y="0"/>
          <a:ext cx="0" cy="0"/>
          <a:chOff x="0" y="0"/>
          <a:chExt cx="0" cy="0"/>
        </a:xfrm>
      </p:grpSpPr>
      <p:pic>
        <p:nvPicPr>
          <p:cNvPr id="312" name="Google Shape;306;p56"/>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313" name="Google Shape;307;p56"/>
          <p:cNvPicPr>
            <a:picLocks noChangeAspect="1"/>
          </p:cNvPicPr>
          <p:nvPr/>
        </p:nvPicPr>
        <p:blipFill rotWithShape="1">
          <a:blip r:embed="rId3">
            <a:alphaModFix/>
          </a:blip>
          <a:srcRect/>
          <a:stretch/>
        </p:blipFill>
        <p:spPr>
          <a:xfrm>
            <a:off x="1245010" y="685800"/>
            <a:ext cx="3072581" cy="952500"/>
          </a:xfrm>
          <a:prstGeom prst="rect">
            <a:avLst/>
          </a:prstGeom>
          <a:ln>
            <a:noFill/>
          </a:ln>
        </p:spPr>
      </p:pic>
      <p:sp>
        <p:nvSpPr>
          <p:cNvPr id="308" name="Google Shape;308;p56">
            <a:extLst>
              <a:ext uri="{FF2B5EF4-FFF2-40B4-BE49-F238E27FC236}">
                <a16:creationId xmlns:a16="http://schemas.microsoft.com/office/drawing/2014/main" id="{7219E88C-CCDB-4E06-A1FE-9770233713E1}"/>
              </a:ext>
            </a:extLst>
          </p:cNvPr>
          <p:cNvSpPr>
            <a:spLocks noGrp="1"/>
          </p:cNvSpPr>
          <p:nvPr/>
        </p:nvSpPr>
        <p:spPr>
          <a:xfrm>
            <a:off x="8001000" y="9467850"/>
            <a:ext cx="9144000" cy="400050"/>
          </a:xfrm>
          <a:prstGeom prst="rect">
            <a:avLst/>
          </a:prstGeom>
          <a:noFill/>
          <a:ln>
            <a:noFill/>
          </a:ln>
        </p:spPr>
        <p:txBody>
          <a:bodyPr spcFirstLastPara="1" wrap="square" lIns="0" tIns="0" rIns="0" bIns="0" anchor="t">
            <a:noAutofit/>
          </a:bodyPr>
          <a:lstStyle/>
          <a:p>
            <a:pPr marL="0" marR="0" lvl="0" indent="0" algn="r" rtl="1">
              <a:spcBef>
                <a:spcPts val="0"/>
              </a:spcBef>
              <a:spcAft>
                <a:spcPts val="0"/>
              </a:spcAft>
              <a:buNone/>
            </a:pPr>
            <a:r>
              <a:rPr lang="ar-SA" altLang="en-US" sz="1350" b="0">
                <a:solidFill>
                  <a:srgbClr val="4A5590"/>
                </a:solidFill>
                <a:latin typeface="Readex Pro"/>
                <a:ea typeface="Readex Pro"/>
                <a:cs typeface="Readex Pro"/>
              </a:rPr>
              <a:t>تحدي الذكاء الاصطناعي في خدمة المحتوى الإسلامي</a:t>
            </a:r>
            <a:endParaRPr/>
          </a:p>
        </p:txBody>
      </p:sp>
      <p:sp>
        <p:nvSpPr>
          <p:cNvPr id="309" name="Google Shape;309;p56">
            <a:extLst>
              <a:ext uri="{FF2B5EF4-FFF2-40B4-BE49-F238E27FC236}">
                <a16:creationId xmlns:a16="http://schemas.microsoft.com/office/drawing/2014/main" id="{660024FB-A1F2-4C3D-ADB8-6A9CE44343E3}"/>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lvl1pPr marL="0" marR="0" indent="0" algn="l">
              <a:spcBef>
                <a:spcPts val="0"/>
              </a:spcBef>
              <a:buNone/>
              <a:defRPr sz="1800" b="0">
                <a:solidFill>
                  <a:srgbClr val="4A5590"/>
                </a:solidFill>
                <a:latin typeface="Readex Pro"/>
                <a:ea typeface="Readex Pro"/>
                <a:cs typeface="Readex Pro"/>
              </a:defRPr>
            </a:lvl1pPr>
            <a:lvl2pPr marL="0" marR="0" indent="0" algn="l">
              <a:spcBef>
                <a:spcPts val="0"/>
              </a:spcBef>
              <a:buNone/>
              <a:defRPr sz="1800" b="0">
                <a:solidFill>
                  <a:srgbClr val="4A5590"/>
                </a:solidFill>
                <a:latin typeface="Readex Pro"/>
                <a:ea typeface="Readex Pro"/>
                <a:cs typeface="Readex Pro"/>
              </a:defRPr>
            </a:lvl2pPr>
            <a:lvl3pPr marL="0" marR="0" indent="0" algn="l">
              <a:spcBef>
                <a:spcPts val="0"/>
              </a:spcBef>
              <a:buNone/>
              <a:defRPr sz="1800" b="0">
                <a:solidFill>
                  <a:srgbClr val="4A5590"/>
                </a:solidFill>
                <a:latin typeface="Readex Pro"/>
                <a:ea typeface="Readex Pro"/>
                <a:cs typeface="Readex Pro"/>
              </a:defRPr>
            </a:lvl3pPr>
            <a:lvl4pPr marL="0" marR="0" indent="0" algn="l">
              <a:spcBef>
                <a:spcPts val="0"/>
              </a:spcBef>
              <a:buNone/>
              <a:defRPr sz="1800" b="0">
                <a:solidFill>
                  <a:srgbClr val="4A5590"/>
                </a:solidFill>
                <a:latin typeface="Readex Pro"/>
                <a:ea typeface="Readex Pro"/>
                <a:cs typeface="Readex Pro"/>
              </a:defRPr>
            </a:lvl4pPr>
            <a:lvl5pPr marL="0" marR="0" indent="0" algn="l">
              <a:spcBef>
                <a:spcPts val="0"/>
              </a:spcBef>
              <a:buNone/>
              <a:defRPr sz="1800" b="0">
                <a:solidFill>
                  <a:srgbClr val="4A5590"/>
                </a:solidFill>
                <a:latin typeface="Readex Pro"/>
                <a:ea typeface="Readex Pro"/>
                <a:cs typeface="Readex Pro"/>
              </a:defRPr>
            </a:lvl5pPr>
            <a:lvl6pPr marL="0" marR="0" indent="0" algn="l">
              <a:spcBef>
                <a:spcPts val="0"/>
              </a:spcBef>
              <a:buNone/>
              <a:defRPr sz="1800" b="0">
                <a:solidFill>
                  <a:srgbClr val="4A5590"/>
                </a:solidFill>
                <a:latin typeface="Readex Pro"/>
                <a:ea typeface="Readex Pro"/>
                <a:cs typeface="Readex Pro"/>
              </a:defRPr>
            </a:lvl6pPr>
            <a:lvl7pPr marL="0" marR="0" indent="0" algn="l">
              <a:spcBef>
                <a:spcPts val="0"/>
              </a:spcBef>
              <a:buNone/>
              <a:defRPr sz="1800" b="0">
                <a:solidFill>
                  <a:srgbClr val="4A5590"/>
                </a:solidFill>
                <a:latin typeface="Readex Pro"/>
                <a:ea typeface="Readex Pro"/>
                <a:cs typeface="Readex Pro"/>
              </a:defRPr>
            </a:lvl7pPr>
            <a:lvl8pPr marL="0" marR="0" indent="0" algn="l">
              <a:spcBef>
                <a:spcPts val="0"/>
              </a:spcBef>
              <a:buNone/>
              <a:defRPr sz="1800" b="0">
                <a:solidFill>
                  <a:srgbClr val="4A5590"/>
                </a:solidFill>
                <a:latin typeface="Readex Pro"/>
                <a:ea typeface="Readex Pro"/>
                <a:cs typeface="Readex Pro"/>
              </a:defRPr>
            </a:lvl8pPr>
            <a:lvl9pPr marL="0" marR="0" indent="0" algn="l">
              <a:spcBef>
                <a:spcPts val="0"/>
              </a:spcBef>
              <a:buNone/>
              <a:defRPr sz="1800" b="0">
                <a:solidFill>
                  <a:srgbClr val="4A5590"/>
                </a:solidFill>
                <a:latin typeface="Readex Pro"/>
                <a:ea typeface="Readex Pro"/>
                <a:cs typeface="Readex Pro"/>
              </a:defRPr>
            </a:lvl9pPr>
          </a:lstStyle>
          <a:p>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ختام العرض">
  <p:cSld name="ختام العرض">
    <p:bg>
      <p:bgPr>
        <a:solidFill>
          <a:srgbClr val="12183F"/>
        </a:solidFill>
        <a:effectLst/>
      </p:bgPr>
    </p:bg>
    <p:spTree>
      <p:nvGrpSpPr>
        <p:cNvPr id="1" name=""/>
        <p:cNvGrpSpPr/>
        <p:nvPr/>
      </p:nvGrpSpPr>
      <p:grpSpPr>
        <a:xfrm>
          <a:off x="0" y="0"/>
          <a:ext cx="0" cy="0"/>
          <a:chOff x="0" y="0"/>
          <a:chExt cx="0" cy="0"/>
        </a:xfrm>
      </p:grpSpPr>
      <p:pic>
        <p:nvPicPr>
          <p:cNvPr id="322" name="Google Shape;311;p57"/>
          <p:cNvPicPr>
            <a:picLocks noChangeAspect="1"/>
          </p:cNvPicPr>
          <p:nvPr/>
        </p:nvPicPr>
        <p:blipFill rotWithShape="1">
          <a:blip r:embed="rId2">
            <a:alphaModFix/>
          </a:blip>
          <a:srcRect/>
          <a:stretch/>
        </p:blipFill>
        <p:spPr>
          <a:xfrm>
            <a:off x="0" y="0"/>
            <a:ext cx="18288000" cy="10287000"/>
          </a:xfrm>
          <a:prstGeom prst="rect">
            <a:avLst/>
          </a:prstGeom>
          <a:ln>
            <a:noFill/>
          </a:ln>
        </p:spPr>
      </p:pic>
      <p:pic>
        <p:nvPicPr>
          <p:cNvPr id="323" name="Google Shape;312;p57"/>
          <p:cNvPicPr>
            <a:picLocks noChangeAspect="1"/>
          </p:cNvPicPr>
          <p:nvPr/>
        </p:nvPicPr>
        <p:blipFill rotWithShape="1">
          <a:blip r:embed="rId3">
            <a:alphaModFix/>
          </a:blip>
          <a:srcRect/>
          <a:stretch/>
        </p:blipFill>
        <p:spPr>
          <a:xfrm>
            <a:off x="5810250" y="1336151"/>
            <a:ext cx="6667500" cy="1709198"/>
          </a:xfrm>
          <a:prstGeom prst="rect">
            <a:avLst/>
          </a:prstGeom>
          <a:ln>
            <a:noFill/>
          </a:ln>
        </p:spPr>
      </p:pic>
      <p:pic>
        <p:nvPicPr>
          <p:cNvPr id="324" name="Google Shape;313;p57"/>
          <p:cNvPicPr>
            <a:picLocks noChangeAspect="1"/>
          </p:cNvPicPr>
          <p:nvPr/>
        </p:nvPicPr>
        <p:blipFill rotWithShape="1">
          <a:blip r:embed="rId4">
            <a:alphaModFix/>
          </a:blip>
          <a:srcRect/>
          <a:stretch/>
        </p:blipFill>
        <p:spPr>
          <a:xfrm>
            <a:off x="10669485" y="8524875"/>
            <a:ext cx="3045029" cy="1562100"/>
          </a:xfrm>
          <a:prstGeom prst="rect">
            <a:avLst/>
          </a:prstGeom>
          <a:ln>
            <a:noFill/>
          </a:ln>
        </p:spPr>
      </p:pic>
      <p:pic>
        <p:nvPicPr>
          <p:cNvPr id="325" name="Google Shape;314;p57"/>
          <p:cNvPicPr>
            <a:picLocks noChangeAspect="1"/>
          </p:cNvPicPr>
          <p:nvPr/>
        </p:nvPicPr>
        <p:blipFill rotWithShape="1">
          <a:blip r:embed="rId5">
            <a:alphaModFix/>
          </a:blip>
          <a:srcRect l="4300" t="16000" r="69700" b="16000"/>
          <a:stretch/>
        </p:blipFill>
        <p:spPr>
          <a:xfrm>
            <a:off x="4857750" y="8629650"/>
            <a:ext cx="3810000" cy="1476375"/>
          </a:xfrm>
          <a:prstGeom prst="rect">
            <a:avLst/>
          </a:prstGeom>
          <a:ln>
            <a:noFill/>
          </a:ln>
        </p:spPr>
      </p:pic>
      <p:sp>
        <p:nvSpPr>
          <p:cNvPr id="315" name="Google Shape;315;p57">
            <a:extLst>
              <a:ext uri="{FF2B5EF4-FFF2-40B4-BE49-F238E27FC236}">
                <a16:creationId xmlns:a16="http://schemas.microsoft.com/office/drawing/2014/main" id="{5022F840-379B-4C68-B58A-4A9641639041}"/>
              </a:ext>
            </a:extLst>
          </p:cNvPr>
          <p:cNvSpPr>
            <a:spLocks noGrp="1"/>
          </p:cNvSpPr>
          <p:nvPr>
            <p:ph type="title"/>
          </p:nvPr>
        </p:nvSpPr>
        <p:spPr>
          <a:xfrm>
            <a:off x="3810000" y="4048125"/>
            <a:ext cx="10668000" cy="1428750"/>
          </a:xfrm>
          <a:prstGeom prst="rect">
            <a:avLst/>
          </a:prstGeom>
          <a:noFill/>
          <a:ln>
            <a:noFill/>
          </a:ln>
        </p:spPr>
        <p:txBody>
          <a:bodyPr spcFirstLastPara="1" wrap="square" lIns="0" tIns="0" rIns="0" bIns="0" anchor="t">
            <a:noAutofit/>
          </a:bodyPr>
          <a:lstStyle>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16" name="Google Shape;316;p57">
            <a:extLst>
              <a:ext uri="{FF2B5EF4-FFF2-40B4-BE49-F238E27FC236}">
                <a16:creationId xmlns:a16="http://schemas.microsoft.com/office/drawing/2014/main" id="{24F4AFB8-37E7-4A65-B72E-69B1DC9BD7D3}"/>
              </a:ext>
            </a:extLst>
          </p:cNvPr>
          <p:cNvSpPr>
            <a:spLocks noGrp="1"/>
          </p:cNvSpPr>
          <p:nvPr>
            <p:ph type="body" idx="1"/>
          </p:nvPr>
        </p:nvSpPr>
        <p:spPr>
          <a:xfrm>
            <a:off x="3810000" y="5905500"/>
            <a:ext cx="10668000" cy="7429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
        <p:nvSpPr>
          <p:cNvPr id="317" name="Google Shape;317;p57">
            <a:extLst>
              <a:ext uri="{FF2B5EF4-FFF2-40B4-BE49-F238E27FC236}">
                <a16:creationId xmlns:a16="http://schemas.microsoft.com/office/drawing/2014/main" id="{43CD80F1-2EEE-4A5A-A8AF-358ABC85F69D}"/>
              </a:ext>
            </a:extLst>
          </p:cNvPr>
          <p:cNvSpPr>
            <a:spLocks noGrp="1"/>
          </p:cNvSpPr>
          <p:nvPr>
            <p:ph type="body" idx="2"/>
          </p:nvPr>
        </p:nvSpPr>
        <p:spPr>
          <a:xfrm>
            <a:off x="3810000" y="7000875"/>
            <a:ext cx="10668000" cy="666750"/>
          </a:xfrm>
          <a:prstGeom prst="rect">
            <a:avLst/>
          </a:prstGeom>
          <a:noFill/>
          <a:ln>
            <a:noFill/>
          </a:ln>
        </p:spPr>
        <p:txBody>
          <a:bodyPr spcFirstLastPara="1" wrap="square" lIns="0" tIns="0" rIns="0" bIns="0" anchor="t">
            <a:noAutofit/>
          </a:bodyPr>
          <a:lstStyle>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3.xml"/><Relationship Id="rId5" Type="http://schemas.openxmlformats.org/officeDocument/2006/relationships/image" Target="../media/image12.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4.xml"/><Relationship Id="rId5" Type="http://schemas.openxmlformats.org/officeDocument/2006/relationships/image" Target="../media/image13.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3.xml"/><Relationship Id="rId5" Type="http://schemas.openxmlformats.org/officeDocument/2006/relationships/hyperlink" Target="https://github.com/talhodhud/Hadith" TargetMode="Externa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8" Type="http://schemas.openxmlformats.org/officeDocument/2006/relationships/hyperlink" Target="https://github.com/R3GENESI5/Itqan" TargetMode="External"/><Relationship Id="rId3" Type="http://schemas.openxmlformats.org/officeDocument/2006/relationships/image" Target="../media/image7.png"/><Relationship Id="rId7" Type="http://schemas.openxmlformats.org/officeDocument/2006/relationships/hyperlink" Target="https://hadeethenc.com/api-docs/" TargetMode="External"/><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hyperlink" Target="https://shamela.ws" TargetMode="External"/><Relationship Id="rId5" Type="http://schemas.openxmlformats.org/officeDocument/2006/relationships/hyperlink" Target="https://dorar.net/hadith" TargetMode="External"/><Relationship Id="rId10" Type="http://schemas.openxmlformats.org/officeDocument/2006/relationships/hyperlink" Target="https://github.com/talhodhud/Hadith" TargetMode="External"/><Relationship Id="rId4" Type="http://schemas.openxmlformats.org/officeDocument/2006/relationships/image" Target="../media/image11.png"/><Relationship Id="rId9" Type="http://schemas.openxmlformats.org/officeDocument/2006/relationships/hyperlink" Target="https://docs.openwebui.com/"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495" name="Google Shape;484;p8"/>
          <p:cNvPicPr>
            <a:picLocks noChangeAspect="1"/>
          </p:cNvPicPr>
          <p:nvPr/>
        </p:nvPicPr>
        <p:blipFill rotWithShape="1">
          <a:blip r:embed="rId3">
            <a:alphaModFix/>
          </a:blip>
          <a:srcRect/>
          <a:stretch/>
        </p:blipFill>
        <p:spPr>
          <a:xfrm>
            <a:off x="0" y="0"/>
            <a:ext cx="18288000" cy="10287000"/>
          </a:xfrm>
          <a:prstGeom prst="rect">
            <a:avLst/>
          </a:prstGeom>
          <a:ln>
            <a:noFill/>
          </a:ln>
        </p:spPr>
      </p:pic>
      <p:pic>
        <p:nvPicPr>
          <p:cNvPr id="496" name="Google Shape;485;p8"/>
          <p:cNvPicPr>
            <a:picLocks noChangeAspect="1"/>
          </p:cNvPicPr>
          <p:nvPr/>
        </p:nvPicPr>
        <p:blipFill>
          <a:blip r:embed="rId4">
            <a:alphaModFix/>
          </a:blip>
          <a:stretch>
            <a:fillRect/>
          </a:stretch>
        </p:blipFill>
        <p:spPr>
          <a:xfrm>
            <a:off x="195975" y="1103475"/>
            <a:ext cx="9312476" cy="8603123"/>
          </a:xfrm>
          <a:prstGeom prst="rect">
            <a:avLst/>
          </a:prstGeom>
          <a:ln>
            <a:noFill/>
          </a:ln>
        </p:spPr>
      </p:pic>
      <p:sp>
        <p:nvSpPr>
          <p:cNvPr id="486" name="Google Shape;486;p8">
            <a:extLst>
              <a:ext uri="{FF2B5EF4-FFF2-40B4-BE49-F238E27FC236}">
                <a16:creationId xmlns:a16="http://schemas.microsoft.com/office/drawing/2014/main" id="{8E3520B6-3758-4355-A90F-82FAAFB62E30}"/>
              </a:ext>
            </a:extLst>
          </p:cNvPr>
          <p:cNvSpPr>
            <a:spLocks noGrp="1"/>
          </p:cNvSpPr>
          <p:nvPr>
            <p:ph type="title"/>
          </p:nvPr>
        </p:nvSpPr>
        <p:spPr>
          <a:xfrm>
            <a:off x="7791450" y="3524250"/>
            <a:ext cx="9048900" cy="13335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6450"/>
              <a:buNone/>
              <a:defRPr sz="6750">
                <a:latin typeface="Readex Pro"/>
                <a:ea typeface="Readex Pro"/>
                <a:cs typeface="Readex Pro"/>
              </a:defRPr>
            </a:pPr>
            <a:r>
              <a:rPr lang="ar-SA" altLang="en-US" sz="6750" b="1">
                <a:solidFill>
                  <a:srgbClr val="F2F4FF"/>
                </a:solidFill>
                <a:latin typeface="Readex Pro"/>
                <a:ea typeface="Readex Pro"/>
                <a:cs typeface="Readex Pro"/>
              </a:rPr>
              <a:t>بيان السُّنّة</a:t>
            </a:r>
            <a:endParaRPr/>
          </a:p>
        </p:txBody>
      </p:sp>
      <p:sp>
        <p:nvSpPr>
          <p:cNvPr id="487" name="Google Shape;487;p8">
            <a:extLst>
              <a:ext uri="{FF2B5EF4-FFF2-40B4-BE49-F238E27FC236}">
                <a16:creationId xmlns:a16="http://schemas.microsoft.com/office/drawing/2014/main" id="{8A83A483-655F-4F53-8EEF-FBCC4CADBE0C}"/>
              </a:ext>
            </a:extLst>
          </p:cNvPr>
          <p:cNvSpPr>
            <a:spLocks noGrp="1"/>
          </p:cNvSpPr>
          <p:nvPr>
            <p:ph type="body" idx="1"/>
          </p:nvPr>
        </p:nvSpPr>
        <p:spPr>
          <a:xfrm>
            <a:off x="7791450" y="5334000"/>
            <a:ext cx="9048900" cy="16191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3300"/>
              <a:buNone/>
              <a:defRPr sz="2850">
                <a:latin typeface="Readex Pro"/>
                <a:ea typeface="Readex Pro"/>
                <a:cs typeface="Readex Pro"/>
              </a:defRPr>
            </a:pPr>
            <a:r>
              <a:rPr lang="ar-SA" altLang="en-US" sz="2850" b="0">
                <a:solidFill>
                  <a:srgbClr val="2EF2C2"/>
                </a:solidFill>
                <a:latin typeface="Readex Pro"/>
                <a:ea typeface="Readex Pro"/>
                <a:cs typeface="Readex Pro"/>
              </a:rPr>
              <a:t>الحديث النبوي للمعرّفين بالإسلام</a:t>
            </a:r>
            <a:endParaRPr/>
          </a:p>
          <a:p>
            <a:pPr marL="0" lvl="0" indent="0" algn="r" rtl="1">
              <a:lnSpc>
                <a:spcPct val="100000"/>
              </a:lnSpc>
              <a:spcBef>
                <a:spcPts val="0"/>
              </a:spcBef>
              <a:spcAft>
                <a:spcPts val="0"/>
              </a:spcAft>
              <a:buSzPts val="3300"/>
              <a:buNone/>
              <a:defRPr sz="2850">
                <a:latin typeface="Readex Pro"/>
                <a:ea typeface="Readex Pro"/>
                <a:cs typeface="Readex Pro"/>
              </a:defRPr>
            </a:pPr>
            <a:r>
              <a:rPr lang="ar-SA" altLang="en-US" sz="2850" b="0">
                <a:solidFill>
                  <a:srgbClr val="2EF2C2"/>
                </a:solidFill>
                <a:latin typeface="Readex Pro"/>
                <a:ea typeface="Readex Pro"/>
                <a:cs typeface="Readex Pro"/>
              </a:rPr>
              <a:t>معرفة بلغة طبيعية، وأدلة قابلة للتتبّع</a:t>
            </a:r>
            <a:endParaRPr/>
          </a:p>
        </p:txBody>
      </p:sp>
      <p:sp>
        <p:nvSpPr>
          <p:cNvPr id="488" name="Google Shape;488;p8">
            <a:extLst>
              <a:ext uri="{FF2B5EF4-FFF2-40B4-BE49-F238E27FC236}">
                <a16:creationId xmlns:a16="http://schemas.microsoft.com/office/drawing/2014/main" id="{71622490-06DF-42A5-8AB4-078E4A21AC40}"/>
              </a:ext>
            </a:extLst>
          </p:cNvPr>
          <p:cNvSpPr>
            <a:spLocks noGrp="1"/>
          </p:cNvSpPr>
          <p:nvPr/>
        </p:nvSpPr>
        <p:spPr>
          <a:xfrm>
            <a:off x="1143000" y="8843963"/>
            <a:ext cx="16002000" cy="9600"/>
          </a:xfrm>
          <a:prstGeom prst="rect">
            <a:avLst/>
          </a:prstGeom>
          <a:solidFill>
            <a:srgbClr val="FFFFFF">
              <a:alpha val="12160"/>
            </a:srgbClr>
          </a:solidFill>
          <a:ln>
            <a:noFill/>
          </a:ln>
        </p:spPr>
        <p:txBody>
          <a:bodyPr spcFirstLastPara="1" wrap="square" lIns="91425" tIns="91425" rIns="91425" bIns="91425" anchor="ctr">
            <a:noAutofit/>
          </a:bodyPr>
          <a:lstStyle/>
          <a:p>
            <a:pPr marL="0" lvl="0" indent="0" algn="r">
              <a:lnSpc>
                <a:spcPct val="115000"/>
              </a:lnSpc>
              <a:spcBef>
                <a:spcPts val="0"/>
              </a:spcBef>
              <a:spcAft>
                <a:spcPts val="0"/>
              </a:spcAft>
              <a:buNone/>
            </a:pPr>
            <a:endParaRPr/>
          </a:p>
        </p:txBody>
      </p:sp>
      <p:sp>
        <p:nvSpPr>
          <p:cNvPr id="489" name="Google Shape;489;p8">
            <a:extLst>
              <a:ext uri="{FF2B5EF4-FFF2-40B4-BE49-F238E27FC236}">
                <a16:creationId xmlns:a16="http://schemas.microsoft.com/office/drawing/2014/main" id="{B36B7D3A-24A0-4339-AE43-19E443B25144}"/>
              </a:ext>
            </a:extLst>
          </p:cNvPr>
          <p:cNvSpPr>
            <a:spLocks noGrp="1"/>
          </p:cNvSpPr>
          <p:nvPr/>
        </p:nvSpPr>
        <p:spPr>
          <a:xfrm>
            <a:off x="7810500" y="9048750"/>
            <a:ext cx="9048750" cy="619125"/>
          </a:xfrm>
          <a:prstGeom prst="rect">
            <a:avLst/>
          </a:prstGeom>
          <a:noFill/>
          <a:ln>
            <a:noFill/>
          </a:ln>
        </p:spPr>
        <p:txBody>
          <a:bodyPr spcFirstLastPara="1" wrap="square" lIns="25400" tIns="25400" rIns="25400" bIns="25400" anchor="ctr">
            <a:noAutofit/>
          </a:bodyPr>
          <a:lstStyle/>
          <a:p>
            <a:pPr marL="0" marR="0" lvl="0" indent="0" algn="r" rtl="1">
              <a:lnSpc>
                <a:spcPct val="115000"/>
              </a:lnSpc>
              <a:spcBef>
                <a:spcPts val="0"/>
              </a:spcBef>
              <a:spcAft>
                <a:spcPts val="0"/>
              </a:spcAft>
              <a:buClr>
                <a:srgbClr val="8E99CC"/>
              </a:buClr>
              <a:buSzPts val="1950"/>
              <a:buFont typeface="Readex Pro"/>
              <a:buNone/>
              <a:defRPr sz="2025">
                <a:latin typeface="Readex Pro"/>
                <a:ea typeface="Readex Pro"/>
                <a:cs typeface="Readex Pro"/>
              </a:defRPr>
            </a:pPr>
            <a:r>
              <a:rPr lang="ar-SA" altLang="en-US" sz="2025">
                <a:solidFill>
                  <a:srgbClr val="8E99CC"/>
                </a:solidFill>
                <a:latin typeface="Readex Pro"/>
                <a:ea typeface="Readex Pro"/>
                <a:cs typeface="Readex Pro"/>
              </a:rPr>
              <a:t>م. محمد البشتاوي | فريق الهدهد 403</a:t>
            </a:r>
            <a:endParaRPr sz="1950" i="0" u="none" cap="none">
              <a:solidFill>
                <a:srgbClr val="000000"/>
              </a:solidFill>
              <a:latin typeface="Readex Pro Light"/>
              <a:ea typeface="Readex Pro Light"/>
              <a:cs typeface="Readex Pro Light"/>
            </a:endParaRPr>
          </a:p>
        </p:txBody>
      </p:sp>
      <p:sp>
        <p:nvSpPr>
          <p:cNvPr id="490" name="Google Shape;490;p8">
            <a:extLst>
              <a:ext uri="{FF2B5EF4-FFF2-40B4-BE49-F238E27FC236}">
                <a16:creationId xmlns:a16="http://schemas.microsoft.com/office/drawing/2014/main" id="{97A28CB2-88FD-42EA-9C68-530AEEE95001}"/>
              </a:ext>
            </a:extLst>
          </p:cNvPr>
          <p:cNvSpPr>
            <a:spLocks noGrp="1"/>
          </p:cNvSpPr>
          <p:nvPr/>
        </p:nvSpPr>
        <p:spPr>
          <a:xfrm>
            <a:off x="1397000" y="9120188"/>
            <a:ext cx="2765700" cy="347700"/>
          </a:xfrm>
          <a:prstGeom prst="rect">
            <a:avLst/>
          </a:prstGeom>
          <a:noFill/>
          <a:ln>
            <a:noFill/>
          </a:ln>
        </p:spPr>
        <p:txBody>
          <a:bodyPr spcFirstLastPara="1" wrap="square" lIns="25400" tIns="25400" rIns="25400" bIns="25400" anchor="ctr">
            <a:noAutofit/>
          </a:bodyPr>
          <a:lstStyle/>
          <a:p>
            <a:pPr marL="0" marR="0" lvl="0" indent="0" algn="l" rtl="1">
              <a:lnSpc>
                <a:spcPct val="115000"/>
              </a:lnSpc>
              <a:spcBef>
                <a:spcPts val="0"/>
              </a:spcBef>
              <a:spcAft>
                <a:spcPts val="0"/>
              </a:spcAft>
              <a:buClr>
                <a:srgbClr val="8E99CC"/>
              </a:buClr>
              <a:buSzPts val="1950"/>
              <a:buFont typeface="Readex Pro"/>
              <a:buNone/>
              <a:defRPr sz="2025">
                <a:latin typeface="Readex Pro"/>
                <a:ea typeface="Readex Pro"/>
                <a:cs typeface="Readex Pro"/>
              </a:defRPr>
            </a:pPr>
            <a:r>
              <a:rPr lang="ar-SA" altLang="en-US" sz="2025">
                <a:solidFill>
                  <a:srgbClr val="8E99CC"/>
                </a:solidFill>
                <a:latin typeface="Readex Pro"/>
                <a:ea typeface="Readex Pro"/>
                <a:cs typeface="Readex Pro"/>
              </a:rPr>
              <a:t>6 أكتوبر 2026</a:t>
            </a:r>
            <a:endParaRPr sz="1950" i="0" u="none" cap="none">
              <a:solidFill>
                <a:srgbClr val="000000"/>
              </a:solidFill>
              <a:latin typeface="Readex Pro Light"/>
              <a:ea typeface="Readex Pro Light"/>
              <a:cs typeface="Readex Pro Light"/>
            </a:endParaRPr>
          </a:p>
        </p:txBody>
      </p:sp>
      <p:pic>
        <p:nvPicPr>
          <p:cNvPr id="502" name="Google Shape;491;p8"/>
          <p:cNvPicPr>
            <a:picLocks noChangeAspect="1"/>
          </p:cNvPicPr>
          <p:nvPr/>
        </p:nvPicPr>
        <p:blipFill rotWithShape="1">
          <a:blip r:embed="rId5">
            <a:alphaModFix/>
          </a:blip>
          <a:srcRect/>
          <a:stretch/>
        </p:blipFill>
        <p:spPr>
          <a:xfrm>
            <a:off x="1078250" y="691134"/>
            <a:ext cx="6572252" cy="1684781"/>
          </a:xfrm>
          <a:prstGeom prst="rect">
            <a:avLst/>
          </a:prstGeom>
          <a:ln>
            <a:noFill/>
          </a:ln>
        </p:spPr>
      </p:pic>
      <p:pic>
        <p:nvPicPr>
          <p:cNvPr id="503" name="Google Shape;492;p8"/>
          <p:cNvPicPr>
            <a:picLocks noChangeAspect="1"/>
          </p:cNvPicPr>
          <p:nvPr/>
        </p:nvPicPr>
        <p:blipFill rotWithShape="1">
          <a:blip r:embed="rId6">
            <a:alphaModFix/>
          </a:blip>
          <a:srcRect/>
          <a:stretch/>
        </p:blipFill>
        <p:spPr>
          <a:xfrm>
            <a:off x="14954250" y="840995"/>
            <a:ext cx="2190750" cy="1385061"/>
          </a:xfrm>
          <a:prstGeom prst="rect">
            <a:avLst/>
          </a:prstGeom>
          <a:ln>
            <a:noFill/>
          </a:ln>
        </p:spPr>
      </p:pic>
    </p:spTree>
    <p:extLst>
      <p:ext uri="{BB962C8B-B14F-4D97-AF65-F5344CB8AC3E}">
        <p14:creationId xmlns:p14="http://schemas.microsoft.com/office/powerpoint/2010/main" val="1313860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CBAEABBA-AD62-52D1-5588-17C604158753}" type="slidenum">
              <a:rPr sz="1800">
                <a:solidFill>
                  <a:srgbClr val="8E99CC"/>
                </a:solidFill>
                <a:latin typeface="Readex Pro"/>
                <a:ea typeface="Readex Pro"/>
                <a:cs typeface="Readex Pro"/>
              </a:rPr>
              <a:t>2</a:t>
            </a:fld>
            <a:endParaRPr/>
          </a:p>
        </p:txBody>
      </p:sp>
      <p:pic>
        <p:nvPicPr>
          <p:cNvPr id="914"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5"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5t876j-1">
            <a:extLst>
              <a:ext uri="{FF2B5EF4-FFF2-40B4-BE49-F238E27FC236}">
                <a16:creationId xmlns:a16="http://schemas.microsoft.com/office/drawing/2014/main" id="{E65EE859-342C-4AA0-9D81-E53D09765289}"/>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المشكلة ومعيار نجاح المسار</a:t>
            </a:r>
          </a:p>
        </p:txBody>
      </p:sp>
      <p:sp>
        <p:nvSpPr>
          <p:cNvPr id="902" name="slide-title">
            <a:extLst>
              <a:ext uri="{FF2B5EF4-FFF2-40B4-BE49-F238E27FC236}">
                <a16:creationId xmlns:a16="http://schemas.microsoft.com/office/drawing/2014/main" id="{BFE8CEBB-5877-46BB-A592-193FF49BC4C7}"/>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السؤال سهل… والتحقّق يحتاج رحلة</a:t>
            </a:r>
          </a:p>
        </p:txBody>
      </p:sp>
      <p:sp>
        <p:nvSpPr>
          <p:cNvPr id="903" name="text-5t876j-3">
            <a:extLst>
              <a:ext uri="{FF2B5EF4-FFF2-40B4-BE49-F238E27FC236}">
                <a16:creationId xmlns:a16="http://schemas.microsoft.com/office/drawing/2014/main" id="{E9302832-EEF9-4F7B-B8C4-C621A175B1D3}"/>
              </a:ext>
            </a:extLst>
          </p:cNvPr>
          <p:cNvSpPr>
            <a:spLocks noGrp="1"/>
          </p:cNvSpPr>
          <p:nvPr/>
        </p:nvSpPr>
        <p:spPr>
          <a:xfrm>
            <a:off x="1524000" y="3476625"/>
            <a:ext cx="14954250" cy="952500"/>
          </a:xfrm>
          <a:prstGeom prst="rect">
            <a:avLst/>
          </a:prstGeom>
          <a:noFill/>
          <a:ln w="0">
            <a:noFill/>
          </a:ln>
        </p:spPr>
        <p:txBody>
          <a:bodyPr wrap="square" lIns="0" tIns="0" rIns="0" bIns="0" anchor="t">
            <a:noAutofit/>
          </a:bodyPr>
          <a:lstStyle/>
          <a:p>
            <a:pPr algn="r" rtl="1">
              <a:defRPr sz="4275" b="1">
                <a:solidFill>
                  <a:srgbClr val="2EF2C2"/>
                </a:solidFill>
                <a:latin typeface="Readex Pro"/>
                <a:ea typeface="Readex Pro"/>
                <a:cs typeface="Readex Pro"/>
              </a:defRPr>
            </a:pPr>
            <a:r>
              <a:rPr lang="ar-SA" altLang="en-US" sz="4275" b="1">
                <a:solidFill>
                  <a:srgbClr val="2EF2C2"/>
                </a:solidFill>
                <a:latin typeface="Readex Pro"/>
                <a:ea typeface="Readex Pro"/>
                <a:cs typeface="Readex Pro"/>
              </a:rPr>
              <a:t>كيف أعرّف شخصًا بالإسلام من حديث موثوق؟</a:t>
            </a:r>
          </a:p>
        </p:txBody>
      </p:sp>
      <p:sp>
        <p:nvSpPr>
          <p:cNvPr id="904" name="text-5t876j-4">
            <a:extLst>
              <a:ext uri="{FF2B5EF4-FFF2-40B4-BE49-F238E27FC236}">
                <a16:creationId xmlns:a16="http://schemas.microsoft.com/office/drawing/2014/main" id="{FB0A1FE7-D31C-4DA9-9AD7-0432B2F691C8}"/>
              </a:ext>
            </a:extLst>
          </p:cNvPr>
          <p:cNvSpPr>
            <a:spLocks noGrp="1"/>
          </p:cNvSpPr>
          <p:nvPr/>
        </p:nvSpPr>
        <p:spPr>
          <a:xfrm>
            <a:off x="11620500" y="4953000"/>
            <a:ext cx="5048250" cy="666750"/>
          </a:xfrm>
          <a:prstGeom prst="rect">
            <a:avLst/>
          </a:prstGeom>
          <a:noFill/>
          <a:ln w="0">
            <a:noFill/>
          </a:ln>
        </p:spPr>
        <p:txBody>
          <a:bodyPr wrap="square" lIns="0" tIns="0" rIns="0" bIns="0" anchor="t">
            <a:noAutofit/>
          </a:bodyPr>
          <a:lstStyle/>
          <a:p>
            <a:pPr algn="r">
              <a:defRPr sz="4050" b="1">
                <a:solidFill>
                  <a:srgbClr val="2EF2C2"/>
                </a:solidFill>
                <a:latin typeface="Readex Pro"/>
                <a:ea typeface="Readex Pro"/>
                <a:cs typeface="Readex Pro"/>
              </a:defRPr>
            </a:pPr>
            <a:r>
              <a:rPr sz="4050" b="1">
                <a:solidFill>
                  <a:srgbClr val="2EF2C2"/>
                </a:solidFill>
                <a:latin typeface="Readex Pro"/>
                <a:ea typeface="Readex Pro"/>
                <a:cs typeface="Readex Pro"/>
              </a:rPr>
              <a:t>01</a:t>
            </a:r>
          </a:p>
        </p:txBody>
      </p:sp>
      <p:sp>
        <p:nvSpPr>
          <p:cNvPr id="905" name="text-5t876j-5">
            <a:extLst>
              <a:ext uri="{FF2B5EF4-FFF2-40B4-BE49-F238E27FC236}">
                <a16:creationId xmlns:a16="http://schemas.microsoft.com/office/drawing/2014/main" id="{0E051BF0-2493-4CFD-9800-ADC0C2FBDB3F}"/>
              </a:ext>
            </a:extLst>
          </p:cNvPr>
          <p:cNvSpPr>
            <a:spLocks noGrp="1"/>
          </p:cNvSpPr>
          <p:nvPr/>
        </p:nvSpPr>
        <p:spPr>
          <a:xfrm>
            <a:off x="11620500" y="5753100"/>
            <a:ext cx="5048250" cy="666750"/>
          </a:xfrm>
          <a:prstGeom prst="rect">
            <a:avLst/>
          </a:prstGeom>
          <a:noFill/>
          <a:ln w="0">
            <a:noFill/>
          </a:ln>
        </p:spPr>
        <p:txBody>
          <a:bodyPr wrap="square" lIns="0" tIns="0" rIns="0" bIns="0" anchor="t">
            <a:noAutofit/>
          </a:bodyPr>
          <a:lstStyle/>
          <a:p>
            <a:pPr algn="r" rtl="1">
              <a:defRPr sz="3000" b="1">
                <a:solidFill>
                  <a:srgbClr val="F2F4FF"/>
                </a:solidFill>
                <a:latin typeface="Readex Pro"/>
                <a:ea typeface="Readex Pro"/>
                <a:cs typeface="Readex Pro"/>
              </a:defRPr>
            </a:pPr>
            <a:r>
              <a:rPr lang="ar-SA" altLang="en-US" sz="3000" b="1">
                <a:solidFill>
                  <a:srgbClr val="F2F4FF"/>
                </a:solidFill>
                <a:latin typeface="Readex Pro"/>
                <a:ea typeface="Readex Pro"/>
                <a:cs typeface="Readex Pro"/>
              </a:rPr>
              <a:t>المعرّف بالإسلام</a:t>
            </a:r>
          </a:p>
        </p:txBody>
      </p:sp>
      <p:sp>
        <p:nvSpPr>
          <p:cNvPr id="906" name="text-5t876j-6">
            <a:extLst>
              <a:ext uri="{FF2B5EF4-FFF2-40B4-BE49-F238E27FC236}">
                <a16:creationId xmlns:a16="http://schemas.microsoft.com/office/drawing/2014/main" id="{CA935FAC-6600-49D2-9B38-95FDA6ED1E27}"/>
              </a:ext>
            </a:extLst>
          </p:cNvPr>
          <p:cNvSpPr>
            <a:spLocks noGrp="1"/>
          </p:cNvSpPr>
          <p:nvPr/>
        </p:nvSpPr>
        <p:spPr>
          <a:xfrm>
            <a:off x="11620500" y="6572250"/>
            <a:ext cx="5048250" cy="2476500"/>
          </a:xfrm>
          <a:prstGeom prst="rect">
            <a:avLst/>
          </a:prstGeom>
          <a:noFill/>
          <a:ln w="0">
            <a:noFill/>
          </a:ln>
        </p:spPr>
        <p:txBody>
          <a:bodyPr wrap="square" lIns="0" tIns="0" rIns="0" bIns="0" anchor="t">
            <a:noAutofit/>
          </a:bodyPr>
          <a:lstStyle/>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يحتاج معنى مناسبًا للجمهور،</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وشاهدًا يمكن الرجوع إليه.</a:t>
            </a:r>
          </a:p>
        </p:txBody>
      </p:sp>
      <p:sp>
        <p:nvSpPr>
          <p:cNvPr id="907" name="text-5t876j-7">
            <a:extLst>
              <a:ext uri="{FF2B5EF4-FFF2-40B4-BE49-F238E27FC236}">
                <a16:creationId xmlns:a16="http://schemas.microsoft.com/office/drawing/2014/main" id="{FEB3DEB1-F8AD-4022-AB8D-018721C59CF2}"/>
              </a:ext>
            </a:extLst>
          </p:cNvPr>
          <p:cNvSpPr>
            <a:spLocks noGrp="1"/>
          </p:cNvSpPr>
          <p:nvPr/>
        </p:nvSpPr>
        <p:spPr>
          <a:xfrm>
            <a:off x="6381750" y="4953000"/>
            <a:ext cx="4667250" cy="666750"/>
          </a:xfrm>
          <a:prstGeom prst="rect">
            <a:avLst/>
          </a:prstGeom>
          <a:noFill/>
          <a:ln w="0">
            <a:noFill/>
          </a:ln>
        </p:spPr>
        <p:txBody>
          <a:bodyPr wrap="square" lIns="0" tIns="0" rIns="0" bIns="0" anchor="t">
            <a:noAutofit/>
          </a:bodyPr>
          <a:lstStyle/>
          <a:p>
            <a:pPr algn="r">
              <a:defRPr sz="4050" b="1">
                <a:solidFill>
                  <a:srgbClr val="2EF2C2"/>
                </a:solidFill>
                <a:latin typeface="Readex Pro"/>
                <a:ea typeface="Readex Pro"/>
                <a:cs typeface="Readex Pro"/>
              </a:defRPr>
            </a:pPr>
            <a:r>
              <a:rPr sz="4050" b="1">
                <a:solidFill>
                  <a:srgbClr val="2EF2C2"/>
                </a:solidFill>
                <a:latin typeface="Readex Pro"/>
                <a:ea typeface="Readex Pro"/>
                <a:cs typeface="Readex Pro"/>
              </a:rPr>
              <a:t>02</a:t>
            </a:r>
          </a:p>
        </p:txBody>
      </p:sp>
      <p:sp>
        <p:nvSpPr>
          <p:cNvPr id="908" name="text-5t876j-8">
            <a:extLst>
              <a:ext uri="{FF2B5EF4-FFF2-40B4-BE49-F238E27FC236}">
                <a16:creationId xmlns:a16="http://schemas.microsoft.com/office/drawing/2014/main" id="{434529A6-20D2-413A-ABAB-F9FEE21992C9}"/>
              </a:ext>
            </a:extLst>
          </p:cNvPr>
          <p:cNvSpPr>
            <a:spLocks noGrp="1"/>
          </p:cNvSpPr>
          <p:nvPr/>
        </p:nvSpPr>
        <p:spPr>
          <a:xfrm>
            <a:off x="6381750" y="5753100"/>
            <a:ext cx="4667250" cy="666750"/>
          </a:xfrm>
          <a:prstGeom prst="rect">
            <a:avLst/>
          </a:prstGeom>
          <a:noFill/>
          <a:ln w="0">
            <a:noFill/>
          </a:ln>
        </p:spPr>
        <p:txBody>
          <a:bodyPr wrap="square" lIns="0" tIns="0" rIns="0" bIns="0" anchor="t">
            <a:noAutofit/>
          </a:bodyPr>
          <a:lstStyle/>
          <a:p>
            <a:pPr algn="r" rtl="1">
              <a:defRPr sz="3000" b="1">
                <a:solidFill>
                  <a:srgbClr val="F2F4FF"/>
                </a:solidFill>
                <a:latin typeface="Readex Pro"/>
                <a:ea typeface="Readex Pro"/>
                <a:cs typeface="Readex Pro"/>
              </a:defRPr>
            </a:pPr>
            <a:r>
              <a:rPr lang="ar-SA" altLang="en-US" sz="3000" b="1">
                <a:solidFill>
                  <a:srgbClr val="F2F4FF"/>
                </a:solidFill>
                <a:latin typeface="Readex Pro"/>
                <a:ea typeface="Readex Pro"/>
                <a:cs typeface="Readex Pro"/>
              </a:rPr>
              <a:t>المهتم بالحديث</a:t>
            </a:r>
          </a:p>
        </p:txBody>
      </p:sp>
      <p:sp>
        <p:nvSpPr>
          <p:cNvPr id="909" name="text-5t876j-9">
            <a:extLst>
              <a:ext uri="{FF2B5EF4-FFF2-40B4-BE49-F238E27FC236}">
                <a16:creationId xmlns:a16="http://schemas.microsoft.com/office/drawing/2014/main" id="{C44EA8BE-0334-4E85-AF62-0B6A7DD547AC}"/>
              </a:ext>
            </a:extLst>
          </p:cNvPr>
          <p:cNvSpPr>
            <a:spLocks noGrp="1"/>
          </p:cNvSpPr>
          <p:nvPr/>
        </p:nvSpPr>
        <p:spPr>
          <a:xfrm>
            <a:off x="6381750" y="6572250"/>
            <a:ext cx="4667250" cy="2476500"/>
          </a:xfrm>
          <a:prstGeom prst="rect">
            <a:avLst/>
          </a:prstGeom>
          <a:noFill/>
          <a:ln w="0">
            <a:noFill/>
          </a:ln>
        </p:spPr>
        <p:txBody>
          <a:bodyPr wrap="square" lIns="0" tIns="0" rIns="0" bIns="0" anchor="t">
            <a:noAutofit/>
          </a:bodyPr>
          <a:lstStyle/>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يتذكر كلمات من الحديث،</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ويريد النص والشرح والعزو.</a:t>
            </a:r>
          </a:p>
        </p:txBody>
      </p:sp>
      <p:sp>
        <p:nvSpPr>
          <p:cNvPr id="910" name="text-5t876j-10">
            <a:extLst>
              <a:ext uri="{FF2B5EF4-FFF2-40B4-BE49-F238E27FC236}">
                <a16:creationId xmlns:a16="http://schemas.microsoft.com/office/drawing/2014/main" id="{1AF06763-93E9-4B31-9B83-CB752DF33959}"/>
              </a:ext>
            </a:extLst>
          </p:cNvPr>
          <p:cNvSpPr>
            <a:spLocks noGrp="1"/>
          </p:cNvSpPr>
          <p:nvPr/>
        </p:nvSpPr>
        <p:spPr>
          <a:xfrm>
            <a:off x="1428750" y="4953000"/>
            <a:ext cx="4476750" cy="666750"/>
          </a:xfrm>
          <a:prstGeom prst="rect">
            <a:avLst/>
          </a:prstGeom>
          <a:noFill/>
          <a:ln w="0">
            <a:noFill/>
          </a:ln>
        </p:spPr>
        <p:txBody>
          <a:bodyPr wrap="square" lIns="0" tIns="0" rIns="0" bIns="0" anchor="t">
            <a:noAutofit/>
          </a:bodyPr>
          <a:lstStyle/>
          <a:p>
            <a:pPr algn="r">
              <a:defRPr sz="4050" b="1">
                <a:solidFill>
                  <a:srgbClr val="2EF2C2"/>
                </a:solidFill>
                <a:latin typeface="Readex Pro"/>
                <a:ea typeface="Readex Pro"/>
                <a:cs typeface="Readex Pro"/>
              </a:defRPr>
            </a:pPr>
            <a:r>
              <a:rPr sz="4050" b="1">
                <a:solidFill>
                  <a:srgbClr val="2EF2C2"/>
                </a:solidFill>
                <a:latin typeface="Readex Pro"/>
                <a:ea typeface="Readex Pro"/>
                <a:cs typeface="Readex Pro"/>
              </a:rPr>
              <a:t>03</a:t>
            </a:r>
          </a:p>
        </p:txBody>
      </p:sp>
      <p:sp>
        <p:nvSpPr>
          <p:cNvPr id="911" name="text-5t876j-11">
            <a:extLst>
              <a:ext uri="{FF2B5EF4-FFF2-40B4-BE49-F238E27FC236}">
                <a16:creationId xmlns:a16="http://schemas.microsoft.com/office/drawing/2014/main" id="{70A94DE4-80F5-479F-9DFF-E04FD1CE877C}"/>
              </a:ext>
            </a:extLst>
          </p:cNvPr>
          <p:cNvSpPr>
            <a:spLocks noGrp="1"/>
          </p:cNvSpPr>
          <p:nvPr/>
        </p:nvSpPr>
        <p:spPr>
          <a:xfrm>
            <a:off x="1428750" y="5753100"/>
            <a:ext cx="4476750" cy="666750"/>
          </a:xfrm>
          <a:prstGeom prst="rect">
            <a:avLst/>
          </a:prstGeom>
          <a:noFill/>
          <a:ln w="0">
            <a:noFill/>
          </a:ln>
        </p:spPr>
        <p:txBody>
          <a:bodyPr wrap="square" lIns="0" tIns="0" rIns="0" bIns="0" anchor="t">
            <a:noAutofit/>
          </a:bodyPr>
          <a:lstStyle/>
          <a:p>
            <a:pPr algn="r" rtl="1">
              <a:defRPr sz="3000" b="1">
                <a:solidFill>
                  <a:srgbClr val="F2F4FF"/>
                </a:solidFill>
                <a:latin typeface="Readex Pro"/>
                <a:ea typeface="Readex Pro"/>
                <a:cs typeface="Readex Pro"/>
              </a:defRPr>
            </a:pPr>
            <a:r>
              <a:rPr lang="ar-SA" altLang="en-US" sz="3000" b="1">
                <a:solidFill>
                  <a:srgbClr val="F2F4FF"/>
                </a:solidFill>
                <a:latin typeface="Readex Pro"/>
                <a:ea typeface="Readex Pro"/>
                <a:cs typeface="Readex Pro"/>
              </a:rPr>
              <a:t>الباحث المتخصص</a:t>
            </a:r>
          </a:p>
        </p:txBody>
      </p:sp>
      <p:sp>
        <p:nvSpPr>
          <p:cNvPr id="912" name="text-5t876j-12">
            <a:extLst>
              <a:ext uri="{FF2B5EF4-FFF2-40B4-BE49-F238E27FC236}">
                <a16:creationId xmlns:a16="http://schemas.microsoft.com/office/drawing/2014/main" id="{1B189AF5-92EE-49FC-A9DC-961311CF510A}"/>
              </a:ext>
            </a:extLst>
          </p:cNvPr>
          <p:cNvSpPr>
            <a:spLocks noGrp="1"/>
          </p:cNvSpPr>
          <p:nvPr/>
        </p:nvSpPr>
        <p:spPr>
          <a:xfrm>
            <a:off x="1428750" y="6572250"/>
            <a:ext cx="4476750" cy="2476500"/>
          </a:xfrm>
          <a:prstGeom prst="rect">
            <a:avLst/>
          </a:prstGeom>
          <a:noFill/>
          <a:ln w="0">
            <a:noFill/>
          </a:ln>
        </p:spPr>
        <p:txBody>
          <a:bodyPr wrap="square" lIns="0" tIns="0" rIns="0" bIns="0" anchor="t">
            <a:noAutofit/>
          </a:bodyPr>
          <a:lstStyle/>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يجمع الطرق والألفاظ والرواة،</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ويحتاج رؤية مواضع الالتباس.</a:t>
            </a:r>
          </a:p>
        </p:txBody>
      </p:sp>
    </p:spTree>
    <p:extLst>
      <p:ext uri="{BB962C8B-B14F-4D97-AF65-F5344CB8AC3E}">
        <p14:creationId xmlns:p14="http://schemas.microsoft.com/office/powerpoint/2010/main" val="1124452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3"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24"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0BADEEDC-EEE1-8597-0639-A35D9BA153EC}" type="slidenum">
              <a:rPr sz="1800">
                <a:solidFill>
                  <a:srgbClr val="4A5590"/>
                </a:solidFill>
                <a:latin typeface="Readex Pro"/>
                <a:ea typeface="Readex Pro"/>
                <a:cs typeface="Readex Pro"/>
              </a:rPr>
              <a:t>3</a:t>
            </a:fld>
            <a:endParaRPr/>
          </a:p>
        </p:txBody>
      </p:sp>
      <p:sp>
        <p:nvSpPr>
          <p:cNvPr id="911" name="text-ep40ot-1">
            <a:extLst>
              <a:ext uri="{FF2B5EF4-FFF2-40B4-BE49-F238E27FC236}">
                <a16:creationId xmlns:a16="http://schemas.microsoft.com/office/drawing/2014/main" id="{5E17CCD2-233F-496B-B3DC-096C2F4DC547}"/>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حالات الاستخدام</a:t>
            </a:r>
          </a:p>
        </p:txBody>
      </p:sp>
      <p:sp>
        <p:nvSpPr>
          <p:cNvPr id="912" name="slide-title">
            <a:extLst>
              <a:ext uri="{FF2B5EF4-FFF2-40B4-BE49-F238E27FC236}">
                <a16:creationId xmlns:a16="http://schemas.microsoft.com/office/drawing/2014/main" id="{3BEB2E57-AC4D-496B-90E0-1ABB8FF9F7B1}"/>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ثلاثة مستويات تخدم رحلة واحدة</a:t>
            </a:r>
          </a:p>
        </p:txBody>
      </p:sp>
      <p:sp>
        <p:nvSpPr>
          <p:cNvPr id="913" name="text-ep40ot-3">
            <a:extLst>
              <a:ext uri="{FF2B5EF4-FFF2-40B4-BE49-F238E27FC236}">
                <a16:creationId xmlns:a16="http://schemas.microsoft.com/office/drawing/2014/main" id="{4F83A3D9-B105-4672-8B95-5A32DA031CA4}"/>
              </a:ext>
            </a:extLst>
          </p:cNvPr>
          <p:cNvSpPr>
            <a:spLocks noGrp="1"/>
          </p:cNvSpPr>
          <p:nvPr/>
        </p:nvSpPr>
        <p:spPr>
          <a:xfrm>
            <a:off x="1428750" y="2619375"/>
            <a:ext cx="15240000" cy="762000"/>
          </a:xfrm>
          <a:prstGeom prst="rect">
            <a:avLst/>
          </a:prstGeom>
          <a:noFill/>
          <a:ln w="0">
            <a:noFill/>
          </a:ln>
        </p:spPr>
        <p:txBody>
          <a:bodyPr wrap="square" lIns="0" tIns="0" rIns="0" bIns="0" anchor="t">
            <a:noAutofit/>
          </a:bodyPr>
          <a:lstStyle/>
          <a:p>
            <a:pPr algn="r" rtl="1">
              <a:defRPr sz="2250" b="0">
                <a:solidFill>
                  <a:srgbClr val="323D68"/>
                </a:solidFill>
                <a:latin typeface="Readex Pro"/>
                <a:ea typeface="Readex Pro"/>
                <a:cs typeface="Readex Pro"/>
              </a:defRPr>
            </a:pPr>
            <a:r>
              <a:rPr lang="ar-SA" altLang="en-US" sz="2250" b="0">
                <a:solidFill>
                  <a:srgbClr val="323D68"/>
                </a:solidFill>
                <a:latin typeface="Readex Pro"/>
                <a:ea typeface="Readex Pro"/>
                <a:cs typeface="Readex Pro"/>
              </a:rPr>
              <a:t>يختار المستفيد حاجته؛ وتوجّه الواجهة الطلب إلى إعداد النموذج وأدواته</a:t>
            </a:r>
          </a:p>
        </p:txBody>
      </p:sp>
      <p:sp>
        <p:nvSpPr>
          <p:cNvPr id="914" name="text-ep40ot-4">
            <a:extLst>
              <a:ext uri="{FF2B5EF4-FFF2-40B4-BE49-F238E27FC236}">
                <a16:creationId xmlns:a16="http://schemas.microsoft.com/office/drawing/2014/main" id="{D6596CA8-6D6C-43E5-8F50-8B927917CDA8}"/>
              </a:ext>
            </a:extLst>
          </p:cNvPr>
          <p:cNvSpPr>
            <a:spLocks noGrp="1"/>
          </p:cNvSpPr>
          <p:nvPr/>
        </p:nvSpPr>
        <p:spPr>
          <a:xfrm>
            <a:off x="11620500" y="3857625"/>
            <a:ext cx="5048250" cy="666750"/>
          </a:xfrm>
          <a:prstGeom prst="rect">
            <a:avLst/>
          </a:prstGeom>
          <a:noFill/>
          <a:ln w="0">
            <a:noFill/>
          </a:ln>
        </p:spPr>
        <p:txBody>
          <a:bodyPr wrap="square" lIns="0" tIns="0" rIns="0" bIns="0" anchor="t">
            <a:noAutofit/>
          </a:bodyPr>
          <a:lstStyle/>
          <a:p>
            <a:pPr algn="r" rtl="1">
              <a:defRPr sz="4050" b="1">
                <a:solidFill>
                  <a:srgbClr val="6150EA"/>
                </a:solidFill>
                <a:latin typeface="Readex Pro"/>
                <a:ea typeface="Readex Pro"/>
                <a:cs typeface="Readex Pro"/>
              </a:defRPr>
            </a:pPr>
            <a:r>
              <a:rPr lang="ar-SA" altLang="en-US" sz="4050" b="1">
                <a:solidFill>
                  <a:srgbClr val="6150EA"/>
                </a:solidFill>
                <a:latin typeface="Readex Pro"/>
                <a:ea typeface="Readex Pro"/>
                <a:cs typeface="Readex Pro"/>
              </a:rPr>
              <a:t>١</a:t>
            </a:r>
          </a:p>
        </p:txBody>
      </p:sp>
      <p:sp>
        <p:nvSpPr>
          <p:cNvPr id="915" name="text-ep40ot-5">
            <a:extLst>
              <a:ext uri="{FF2B5EF4-FFF2-40B4-BE49-F238E27FC236}">
                <a16:creationId xmlns:a16="http://schemas.microsoft.com/office/drawing/2014/main" id="{88C6C4AC-9746-453E-A91F-3BF3A3C603F1}"/>
              </a:ext>
            </a:extLst>
          </p:cNvPr>
          <p:cNvSpPr>
            <a:spLocks noGrp="1"/>
          </p:cNvSpPr>
          <p:nvPr/>
        </p:nvSpPr>
        <p:spPr>
          <a:xfrm>
            <a:off x="11620500" y="4657725"/>
            <a:ext cx="5048250" cy="666750"/>
          </a:xfrm>
          <a:prstGeom prst="rect">
            <a:avLst/>
          </a:prstGeom>
          <a:noFill/>
          <a:ln w="0">
            <a:noFill/>
          </a:ln>
        </p:spPr>
        <p:txBody>
          <a:bodyPr wrap="square" lIns="0" tIns="0" rIns="0" bIns="0" anchor="t">
            <a:noAutofit/>
          </a:bodyPr>
          <a:lstStyle/>
          <a:p>
            <a:pPr algn="r" rtl="1">
              <a:defRPr sz="3000" b="1">
                <a:solidFill>
                  <a:srgbClr val="12183F"/>
                </a:solidFill>
                <a:latin typeface="Readex Pro"/>
                <a:ea typeface="Readex Pro"/>
                <a:cs typeface="Readex Pro"/>
              </a:defRPr>
            </a:pPr>
            <a:r>
              <a:rPr lang="ar-SA" altLang="en-US" sz="3000" b="1">
                <a:solidFill>
                  <a:srgbClr val="12183F"/>
                </a:solidFill>
                <a:latin typeface="Readex Pro"/>
                <a:ea typeface="Readex Pro"/>
                <a:cs typeface="Readex Pro"/>
              </a:rPr>
              <a:t>أُعرّف بالإسلام</a:t>
            </a:r>
          </a:p>
        </p:txBody>
      </p:sp>
      <p:sp>
        <p:nvSpPr>
          <p:cNvPr id="916" name="text-ep40ot-6">
            <a:extLst>
              <a:ext uri="{FF2B5EF4-FFF2-40B4-BE49-F238E27FC236}">
                <a16:creationId xmlns:a16="http://schemas.microsoft.com/office/drawing/2014/main" id="{EBFB6E2B-F322-4E14-BAA7-1A92B68D62B7}"/>
              </a:ext>
            </a:extLst>
          </p:cNvPr>
          <p:cNvSpPr>
            <a:spLocks noGrp="1"/>
          </p:cNvSpPr>
          <p:nvPr/>
        </p:nvSpPr>
        <p:spPr>
          <a:xfrm>
            <a:off x="11620500" y="5476875"/>
            <a:ext cx="5048250" cy="247650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موضوع ← جمهور ← شاهد</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شرح أولي مناسب للسياق</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مع مصدر وحالة مراجعة</a:t>
            </a:r>
          </a:p>
        </p:txBody>
      </p:sp>
      <p:sp>
        <p:nvSpPr>
          <p:cNvPr id="917" name="text-ep40ot-7">
            <a:extLst>
              <a:ext uri="{FF2B5EF4-FFF2-40B4-BE49-F238E27FC236}">
                <a16:creationId xmlns:a16="http://schemas.microsoft.com/office/drawing/2014/main" id="{C5B4439F-2812-477D-B881-DC3991AED562}"/>
              </a:ext>
            </a:extLst>
          </p:cNvPr>
          <p:cNvSpPr>
            <a:spLocks noGrp="1"/>
          </p:cNvSpPr>
          <p:nvPr/>
        </p:nvSpPr>
        <p:spPr>
          <a:xfrm>
            <a:off x="6477000" y="3857625"/>
            <a:ext cx="4667250" cy="666750"/>
          </a:xfrm>
          <a:prstGeom prst="rect">
            <a:avLst/>
          </a:prstGeom>
          <a:noFill/>
          <a:ln w="0">
            <a:noFill/>
          </a:ln>
        </p:spPr>
        <p:txBody>
          <a:bodyPr wrap="square" lIns="0" tIns="0" rIns="0" bIns="0" anchor="t">
            <a:noAutofit/>
          </a:bodyPr>
          <a:lstStyle/>
          <a:p>
            <a:pPr algn="r" rtl="1">
              <a:defRPr sz="4050" b="1">
                <a:solidFill>
                  <a:srgbClr val="6150EA"/>
                </a:solidFill>
                <a:latin typeface="Readex Pro"/>
                <a:ea typeface="Readex Pro"/>
                <a:cs typeface="Readex Pro"/>
              </a:defRPr>
            </a:pPr>
            <a:r>
              <a:rPr lang="ar-SA" altLang="en-US" sz="4050" b="1">
                <a:solidFill>
                  <a:srgbClr val="6150EA"/>
                </a:solidFill>
                <a:latin typeface="Readex Pro"/>
                <a:ea typeface="Readex Pro"/>
                <a:cs typeface="Readex Pro"/>
              </a:rPr>
              <a:t>٢</a:t>
            </a:r>
          </a:p>
        </p:txBody>
      </p:sp>
      <p:sp>
        <p:nvSpPr>
          <p:cNvPr id="918" name="text-ep40ot-8">
            <a:extLst>
              <a:ext uri="{FF2B5EF4-FFF2-40B4-BE49-F238E27FC236}">
                <a16:creationId xmlns:a16="http://schemas.microsoft.com/office/drawing/2014/main" id="{0DE8F17C-D4B1-4B22-A6C0-53D5FB93D025}"/>
              </a:ext>
            </a:extLst>
          </p:cNvPr>
          <p:cNvSpPr>
            <a:spLocks noGrp="1"/>
          </p:cNvSpPr>
          <p:nvPr/>
        </p:nvSpPr>
        <p:spPr>
          <a:xfrm>
            <a:off x="6477000" y="4657725"/>
            <a:ext cx="4667250" cy="666750"/>
          </a:xfrm>
          <a:prstGeom prst="rect">
            <a:avLst/>
          </a:prstGeom>
          <a:noFill/>
          <a:ln w="0">
            <a:noFill/>
          </a:ln>
        </p:spPr>
        <p:txBody>
          <a:bodyPr wrap="square" lIns="0" tIns="0" rIns="0" bIns="0" anchor="t">
            <a:noAutofit/>
          </a:bodyPr>
          <a:lstStyle/>
          <a:p>
            <a:pPr algn="r" rtl="1">
              <a:defRPr sz="3000" b="1">
                <a:solidFill>
                  <a:srgbClr val="12183F"/>
                </a:solidFill>
                <a:latin typeface="Readex Pro"/>
                <a:ea typeface="Readex Pro"/>
                <a:cs typeface="Readex Pro"/>
              </a:defRPr>
            </a:pPr>
            <a:r>
              <a:rPr lang="ar-SA" altLang="en-US" sz="3000" b="1">
                <a:solidFill>
                  <a:srgbClr val="12183F"/>
                </a:solidFill>
                <a:latin typeface="Readex Pro"/>
                <a:ea typeface="Readex Pro"/>
                <a:cs typeface="Readex Pro"/>
              </a:rPr>
              <a:t>أستكشف حديثًا</a:t>
            </a:r>
          </a:p>
        </p:txBody>
      </p:sp>
      <p:sp>
        <p:nvSpPr>
          <p:cNvPr id="919" name="text-ep40ot-9">
            <a:extLst>
              <a:ext uri="{FF2B5EF4-FFF2-40B4-BE49-F238E27FC236}">
                <a16:creationId xmlns:a16="http://schemas.microsoft.com/office/drawing/2014/main" id="{28F1107C-5469-463A-8604-54FF21D1CE49}"/>
              </a:ext>
            </a:extLst>
          </p:cNvPr>
          <p:cNvSpPr>
            <a:spLocks noGrp="1"/>
          </p:cNvSpPr>
          <p:nvPr/>
        </p:nvSpPr>
        <p:spPr>
          <a:xfrm>
            <a:off x="6477000" y="5476875"/>
            <a:ext cx="4667250" cy="247650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عبارة ← نص محدد ← معنى</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نتائج مرشّحة وعزو واضح</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ثم أسئلة متابعة</a:t>
            </a:r>
          </a:p>
        </p:txBody>
      </p:sp>
      <p:sp>
        <p:nvSpPr>
          <p:cNvPr id="920" name="text-ep40ot-10">
            <a:extLst>
              <a:ext uri="{FF2B5EF4-FFF2-40B4-BE49-F238E27FC236}">
                <a16:creationId xmlns:a16="http://schemas.microsoft.com/office/drawing/2014/main" id="{B3812097-CAB6-45BD-94A4-25C505C96101}"/>
              </a:ext>
            </a:extLst>
          </p:cNvPr>
          <p:cNvSpPr>
            <a:spLocks noGrp="1"/>
          </p:cNvSpPr>
          <p:nvPr/>
        </p:nvSpPr>
        <p:spPr>
          <a:xfrm>
            <a:off x="1428750" y="3857625"/>
            <a:ext cx="4524375" cy="666750"/>
          </a:xfrm>
          <a:prstGeom prst="rect">
            <a:avLst/>
          </a:prstGeom>
          <a:noFill/>
          <a:ln w="0">
            <a:noFill/>
          </a:ln>
        </p:spPr>
        <p:txBody>
          <a:bodyPr wrap="square" lIns="0" tIns="0" rIns="0" bIns="0" anchor="t">
            <a:noAutofit/>
          </a:bodyPr>
          <a:lstStyle/>
          <a:p>
            <a:pPr algn="r" rtl="1">
              <a:defRPr sz="4050" b="1">
                <a:solidFill>
                  <a:srgbClr val="6150EA"/>
                </a:solidFill>
                <a:latin typeface="Readex Pro"/>
                <a:ea typeface="Readex Pro"/>
                <a:cs typeface="Readex Pro"/>
              </a:defRPr>
            </a:pPr>
            <a:r>
              <a:rPr lang="ar-SA" altLang="en-US" sz="4050" b="1">
                <a:solidFill>
                  <a:srgbClr val="6150EA"/>
                </a:solidFill>
                <a:latin typeface="Readex Pro"/>
                <a:ea typeface="Readex Pro"/>
                <a:cs typeface="Readex Pro"/>
              </a:rPr>
              <a:t>٣</a:t>
            </a:r>
          </a:p>
        </p:txBody>
      </p:sp>
      <p:sp>
        <p:nvSpPr>
          <p:cNvPr id="921" name="text-ep40ot-11">
            <a:extLst>
              <a:ext uri="{FF2B5EF4-FFF2-40B4-BE49-F238E27FC236}">
                <a16:creationId xmlns:a16="http://schemas.microsoft.com/office/drawing/2014/main" id="{2B229808-1970-4A16-880C-F0558CBA2F49}"/>
              </a:ext>
            </a:extLst>
          </p:cNvPr>
          <p:cNvSpPr>
            <a:spLocks noGrp="1"/>
          </p:cNvSpPr>
          <p:nvPr/>
        </p:nvSpPr>
        <p:spPr>
          <a:xfrm>
            <a:off x="1428750" y="4657725"/>
            <a:ext cx="4524375" cy="666750"/>
          </a:xfrm>
          <a:prstGeom prst="rect">
            <a:avLst/>
          </a:prstGeom>
          <a:noFill/>
          <a:ln w="0">
            <a:noFill/>
          </a:ln>
        </p:spPr>
        <p:txBody>
          <a:bodyPr wrap="square" lIns="0" tIns="0" rIns="0" bIns="0" anchor="t">
            <a:noAutofit/>
          </a:bodyPr>
          <a:lstStyle/>
          <a:p>
            <a:pPr algn="r" rtl="1">
              <a:defRPr sz="3000" b="1">
                <a:solidFill>
                  <a:srgbClr val="12183F"/>
                </a:solidFill>
                <a:latin typeface="Readex Pro"/>
                <a:ea typeface="Readex Pro"/>
                <a:cs typeface="Readex Pro"/>
              </a:defRPr>
            </a:pPr>
            <a:r>
              <a:rPr lang="ar-SA" altLang="en-US" sz="3000" b="1">
                <a:solidFill>
                  <a:srgbClr val="12183F"/>
                </a:solidFill>
                <a:latin typeface="Readex Pro"/>
                <a:ea typeface="Readex Pro"/>
                <a:cs typeface="Readex Pro"/>
              </a:rPr>
              <a:t>أتوسّع وأبحث</a:t>
            </a:r>
          </a:p>
        </p:txBody>
      </p:sp>
      <p:sp>
        <p:nvSpPr>
          <p:cNvPr id="922" name="text-ep40ot-12">
            <a:extLst>
              <a:ext uri="{FF2B5EF4-FFF2-40B4-BE49-F238E27FC236}">
                <a16:creationId xmlns:a16="http://schemas.microsoft.com/office/drawing/2014/main" id="{8A02D4BA-86D0-4A46-A937-60161D7C32D6}"/>
              </a:ext>
            </a:extLst>
          </p:cNvPr>
          <p:cNvSpPr>
            <a:spLocks noGrp="1"/>
          </p:cNvSpPr>
          <p:nvPr/>
        </p:nvSpPr>
        <p:spPr>
          <a:xfrm>
            <a:off x="1428750" y="5476875"/>
            <a:ext cx="4524375" cy="247650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طرق ← ألفاظ ← رواة</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شبكة إسناد وأدلة الروابط</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مع إبقاء الاحتمالات ظاهرة</a:t>
            </a:r>
          </a:p>
        </p:txBody>
      </p:sp>
    </p:spTree>
    <p:extLst>
      <p:ext uri="{BB962C8B-B14F-4D97-AF65-F5344CB8AC3E}">
        <p14:creationId xmlns:p14="http://schemas.microsoft.com/office/powerpoint/2010/main" val="1055686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F9970F6C-59B2-055B-5132-2DC31A7003A7}" type="slidenum">
              <a:rPr sz="1800">
                <a:solidFill>
                  <a:srgbClr val="8E99CC"/>
                </a:solidFill>
                <a:latin typeface="Readex Pro"/>
                <a:ea typeface="Readex Pro"/>
                <a:cs typeface="Readex Pro"/>
              </a:rPr>
              <a:t>4</a:t>
            </a:fld>
            <a:endParaRPr/>
          </a:p>
        </p:txBody>
      </p:sp>
      <p:pic>
        <p:nvPicPr>
          <p:cNvPr id="909"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0"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5d0b6d-1">
            <a:extLst>
              <a:ext uri="{FF2B5EF4-FFF2-40B4-BE49-F238E27FC236}">
                <a16:creationId xmlns:a16="http://schemas.microsoft.com/office/drawing/2014/main" id="{61FC389D-CFF5-4F69-A5F0-04360667109A}"/>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تجربة فعلية من النموذج</a:t>
            </a:r>
          </a:p>
        </p:txBody>
      </p:sp>
      <p:sp>
        <p:nvSpPr>
          <p:cNvPr id="902" name="slide-title">
            <a:extLst>
              <a:ext uri="{FF2B5EF4-FFF2-40B4-BE49-F238E27FC236}">
                <a16:creationId xmlns:a16="http://schemas.microsoft.com/office/drawing/2014/main" id="{85B3B73D-8C31-4F55-ACD2-2E7FE756B658}"/>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واجهة مبنية حول نية المستفيد</a:t>
            </a:r>
          </a:p>
        </p:txBody>
      </p:sp>
      <p:pic>
        <p:nvPicPr>
          <p:cNvPr id="913" name="Picture 912"/>
          <p:cNvPicPr>
            <a:picLocks noChangeAspect="1"/>
          </p:cNvPicPr>
          <p:nvPr/>
        </p:nvPicPr>
        <p:blipFill>
          <a:blip r:embed="rId5"/>
          <a:stretch/>
        </p:blipFill>
        <p:spPr>
          <a:xfrm>
            <a:off x="1143000" y="3003352"/>
            <a:ext cx="11334750" cy="6375797"/>
          </a:xfrm>
          <a:prstGeom prst="rect">
            <a:avLst/>
          </a:prstGeom>
        </p:spPr>
      </p:pic>
      <p:sp>
        <p:nvSpPr>
          <p:cNvPr id="904" name="text-5d0b6d-3">
            <a:extLst>
              <a:ext uri="{FF2B5EF4-FFF2-40B4-BE49-F238E27FC236}">
                <a16:creationId xmlns:a16="http://schemas.microsoft.com/office/drawing/2014/main" id="{C99554BA-E0A4-452D-9749-E95FB278A01A}"/>
              </a:ext>
            </a:extLst>
          </p:cNvPr>
          <p:cNvSpPr>
            <a:spLocks noGrp="1"/>
          </p:cNvSpPr>
          <p:nvPr/>
        </p:nvSpPr>
        <p:spPr>
          <a:xfrm>
            <a:off x="13049250" y="3429000"/>
            <a:ext cx="3619500" cy="590550"/>
          </a:xfrm>
          <a:prstGeom prst="rect">
            <a:avLst/>
          </a:prstGeom>
          <a:noFill/>
          <a:ln w="0">
            <a:noFill/>
          </a:ln>
        </p:spPr>
        <p:txBody>
          <a:bodyPr wrap="square" lIns="0" tIns="0" rIns="0" bIns="0" anchor="t">
            <a:noAutofit/>
          </a:bodyPr>
          <a:lstStyle/>
          <a:p>
            <a:pPr algn="r" rtl="1">
              <a:defRPr sz="3000" b="1">
                <a:solidFill>
                  <a:srgbClr val="2EF2C2"/>
                </a:solidFill>
                <a:latin typeface="Readex Pro"/>
                <a:ea typeface="Readex Pro"/>
                <a:cs typeface="Readex Pro"/>
              </a:defRPr>
            </a:pPr>
            <a:r>
              <a:rPr lang="ar-SA" altLang="en-US" sz="3000" b="1">
                <a:solidFill>
                  <a:srgbClr val="2EF2C2"/>
                </a:solidFill>
                <a:latin typeface="Readex Pro"/>
                <a:ea typeface="Readex Pro"/>
                <a:cs typeface="Readex Pro"/>
              </a:rPr>
              <a:t>اختيار المسار</a:t>
            </a:r>
          </a:p>
        </p:txBody>
      </p:sp>
      <p:sp>
        <p:nvSpPr>
          <p:cNvPr id="905" name="text-5d0b6d-4">
            <a:extLst>
              <a:ext uri="{FF2B5EF4-FFF2-40B4-BE49-F238E27FC236}">
                <a16:creationId xmlns:a16="http://schemas.microsoft.com/office/drawing/2014/main" id="{B413ECB5-43FE-4F35-AD96-A0577AD2ABD0}"/>
              </a:ext>
            </a:extLst>
          </p:cNvPr>
          <p:cNvSpPr>
            <a:spLocks noGrp="1"/>
          </p:cNvSpPr>
          <p:nvPr/>
        </p:nvSpPr>
        <p:spPr>
          <a:xfrm>
            <a:off x="13049250" y="4191000"/>
            <a:ext cx="3619500" cy="1428750"/>
          </a:xfrm>
          <a:prstGeom prst="rect">
            <a:avLst/>
          </a:prstGeom>
          <a:noFill/>
          <a:ln w="0">
            <a:noFill/>
          </a:ln>
        </p:spPr>
        <p:txBody>
          <a:bodyPr wrap="square" lIns="0" tIns="0" rIns="0" bIns="0" anchor="t">
            <a:noAutofit/>
          </a:bodyPr>
          <a:lstStyle/>
          <a:p>
            <a:pPr algn="r" rtl="1">
              <a:defRPr sz="2400" b="0">
                <a:solidFill>
                  <a:srgbClr val="F2F4FF"/>
                </a:solidFill>
                <a:latin typeface="Readex Pro"/>
                <a:ea typeface="Readex Pro"/>
                <a:cs typeface="Readex Pro"/>
              </a:defRPr>
            </a:pPr>
            <a:r>
              <a:rPr lang="ar-SA" altLang="en-US" sz="2400" b="0">
                <a:solidFill>
                  <a:srgbClr val="F2F4FF"/>
                </a:solidFill>
                <a:latin typeface="Readex Pro"/>
                <a:ea typeface="Readex Pro"/>
                <a:cs typeface="Readex Pro"/>
              </a:rPr>
              <a:t>ثلاثة مداخل واضحة</a:t>
            </a:r>
          </a:p>
          <a:p>
            <a:pPr algn="r" rtl="1">
              <a:defRPr sz="2400" b="0">
                <a:solidFill>
                  <a:srgbClr val="F2F4FF"/>
                </a:solidFill>
                <a:latin typeface="Readex Pro"/>
                <a:ea typeface="Readex Pro"/>
                <a:cs typeface="Readex Pro"/>
              </a:defRPr>
            </a:pPr>
            <a:r>
              <a:rPr lang="ar-SA" altLang="en-US" sz="2400" b="0">
                <a:solidFill>
                  <a:srgbClr val="F2F4FF"/>
                </a:solidFill>
                <a:latin typeface="Readex Pro"/>
                <a:ea typeface="Readex Pro"/>
                <a:cs typeface="Readex Pro"/>
              </a:rPr>
              <a:t>ومحادثة بلغة طبيعية.</a:t>
            </a:r>
          </a:p>
        </p:txBody>
      </p:sp>
      <p:sp>
        <p:nvSpPr>
          <p:cNvPr id="906" name="text-5d0b6d-5">
            <a:extLst>
              <a:ext uri="{FF2B5EF4-FFF2-40B4-BE49-F238E27FC236}">
                <a16:creationId xmlns:a16="http://schemas.microsoft.com/office/drawing/2014/main" id="{6D949445-FF30-437F-8AF5-5F87DED540C3}"/>
              </a:ext>
            </a:extLst>
          </p:cNvPr>
          <p:cNvSpPr>
            <a:spLocks noGrp="1"/>
          </p:cNvSpPr>
          <p:nvPr/>
        </p:nvSpPr>
        <p:spPr>
          <a:xfrm>
            <a:off x="13049250" y="6096000"/>
            <a:ext cx="3619500" cy="590550"/>
          </a:xfrm>
          <a:prstGeom prst="rect">
            <a:avLst/>
          </a:prstGeom>
          <a:noFill/>
          <a:ln w="0">
            <a:noFill/>
          </a:ln>
        </p:spPr>
        <p:txBody>
          <a:bodyPr wrap="square" lIns="0" tIns="0" rIns="0" bIns="0" anchor="t">
            <a:noAutofit/>
          </a:bodyPr>
          <a:lstStyle/>
          <a:p>
            <a:pPr algn="r" rtl="1">
              <a:defRPr sz="3000" b="1">
                <a:solidFill>
                  <a:srgbClr val="2EF2C2"/>
                </a:solidFill>
                <a:latin typeface="Readex Pro"/>
                <a:ea typeface="Readex Pro"/>
                <a:cs typeface="Readex Pro"/>
              </a:defRPr>
            </a:pPr>
            <a:r>
              <a:rPr lang="ar-SA" altLang="en-US" sz="3000" b="1">
                <a:solidFill>
                  <a:srgbClr val="2EF2C2"/>
                </a:solidFill>
                <a:latin typeface="Readex Pro"/>
                <a:ea typeface="Readex Pro"/>
                <a:cs typeface="Readex Pro"/>
              </a:rPr>
              <a:t>اختيار الموضوع</a:t>
            </a:r>
          </a:p>
        </p:txBody>
      </p:sp>
      <p:sp>
        <p:nvSpPr>
          <p:cNvPr id="907" name="text-5d0b6d-6">
            <a:extLst>
              <a:ext uri="{FF2B5EF4-FFF2-40B4-BE49-F238E27FC236}">
                <a16:creationId xmlns:a16="http://schemas.microsoft.com/office/drawing/2014/main" id="{C5914572-4FE6-4C22-A6A5-D9A7D6A36D71}"/>
              </a:ext>
            </a:extLst>
          </p:cNvPr>
          <p:cNvSpPr>
            <a:spLocks noGrp="1"/>
          </p:cNvSpPr>
          <p:nvPr/>
        </p:nvSpPr>
        <p:spPr>
          <a:xfrm>
            <a:off x="13049250" y="6858000"/>
            <a:ext cx="3619500" cy="1428750"/>
          </a:xfrm>
          <a:prstGeom prst="rect">
            <a:avLst/>
          </a:prstGeom>
          <a:noFill/>
          <a:ln w="0">
            <a:noFill/>
          </a:ln>
        </p:spPr>
        <p:txBody>
          <a:bodyPr wrap="square" lIns="0" tIns="0" rIns="0" bIns="0" anchor="t">
            <a:noAutofit/>
          </a:bodyPr>
          <a:lstStyle/>
          <a:p>
            <a:pPr algn="r" rtl="1">
              <a:defRPr sz="2400" b="0">
                <a:solidFill>
                  <a:srgbClr val="F2F4FF"/>
                </a:solidFill>
                <a:latin typeface="Readex Pro"/>
                <a:ea typeface="Readex Pro"/>
                <a:cs typeface="Readex Pro"/>
              </a:defRPr>
            </a:pPr>
            <a:r>
              <a:rPr lang="ar-SA" altLang="en-US" sz="2400" b="0">
                <a:solidFill>
                  <a:srgbClr val="F2F4FF"/>
                </a:solidFill>
                <a:latin typeface="Readex Pro"/>
                <a:ea typeface="Readex Pro"/>
                <a:cs typeface="Readex Pro"/>
              </a:rPr>
              <a:t>ستة موضوعات تبدأ</a:t>
            </a:r>
          </a:p>
          <a:p>
            <a:pPr algn="r" rtl="1">
              <a:defRPr sz="2400" b="0">
                <a:solidFill>
                  <a:srgbClr val="F2F4FF"/>
                </a:solidFill>
                <a:latin typeface="Readex Pro"/>
                <a:ea typeface="Readex Pro"/>
                <a:cs typeface="Readex Pro"/>
              </a:defRPr>
            </a:pPr>
            <a:r>
              <a:rPr lang="ar-SA" altLang="en-US" sz="2400" b="0">
                <a:solidFill>
                  <a:srgbClr val="F2F4FF"/>
                </a:solidFill>
                <a:latin typeface="Readex Pro"/>
                <a:ea typeface="Readex Pro"/>
                <a:cs typeface="Readex Pro"/>
              </a:rPr>
              <a:t>رحلة التعريف بالإسلام.</a:t>
            </a:r>
          </a:p>
        </p:txBody>
      </p:sp>
    </p:spTree>
    <p:extLst>
      <p:ext uri="{BB962C8B-B14F-4D97-AF65-F5344CB8AC3E}">
        <p14:creationId xmlns:p14="http://schemas.microsoft.com/office/powerpoint/2010/main" val="1124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6"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27"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5370F4AC-E6D1-01EE-6732-05F7C8E78B55}" type="slidenum">
              <a:rPr sz="1800">
                <a:solidFill>
                  <a:srgbClr val="4A5590"/>
                </a:solidFill>
                <a:latin typeface="Readex Pro"/>
                <a:ea typeface="Readex Pro"/>
                <a:cs typeface="Readex Pro"/>
              </a:rPr>
              <a:t>5</a:t>
            </a:fld>
            <a:endParaRPr/>
          </a:p>
        </p:txBody>
      </p:sp>
      <p:sp>
        <p:nvSpPr>
          <p:cNvPr id="911" name="text-m5iz5z-1">
            <a:extLst>
              <a:ext uri="{FF2B5EF4-FFF2-40B4-BE49-F238E27FC236}">
                <a16:creationId xmlns:a16="http://schemas.microsoft.com/office/drawing/2014/main" id="{75A0E114-DB8C-41E3-BA61-D7381FAD3209}"/>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رحلة المعرّف بالإسلام</a:t>
            </a:r>
          </a:p>
        </p:txBody>
      </p:sp>
      <p:sp>
        <p:nvSpPr>
          <p:cNvPr id="912" name="slide-title">
            <a:extLst>
              <a:ext uri="{FF2B5EF4-FFF2-40B4-BE49-F238E27FC236}">
                <a16:creationId xmlns:a16="http://schemas.microsoft.com/office/drawing/2014/main" id="{A70B5D09-3CDF-48E9-B5E0-5685874F8080}"/>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من موضوع الرحمة إلى مادة قابلة للمراجعة</a:t>
            </a:r>
          </a:p>
        </p:txBody>
      </p:sp>
      <p:pic>
        <p:nvPicPr>
          <p:cNvPr id="931" name="Picture 930"/>
          <p:cNvPicPr>
            <a:picLocks noChangeAspect="1"/>
          </p:cNvPicPr>
          <p:nvPr/>
        </p:nvPicPr>
        <p:blipFill>
          <a:blip r:embed="rId5"/>
          <a:stretch/>
        </p:blipFill>
        <p:spPr>
          <a:xfrm>
            <a:off x="1428750" y="2968503"/>
            <a:ext cx="3048000" cy="6588369"/>
          </a:xfrm>
          <a:prstGeom prst="rect">
            <a:avLst/>
          </a:prstGeom>
        </p:spPr>
      </p:pic>
      <p:sp>
        <p:nvSpPr>
          <p:cNvPr id="914" name="text-m5iz5z-3">
            <a:extLst>
              <a:ext uri="{FF2B5EF4-FFF2-40B4-BE49-F238E27FC236}">
                <a16:creationId xmlns:a16="http://schemas.microsoft.com/office/drawing/2014/main" id="{38548256-18D6-4923-87AD-03BC150E81E1}"/>
              </a:ext>
            </a:extLst>
          </p:cNvPr>
          <p:cNvSpPr>
            <a:spLocks noGrp="1"/>
          </p:cNvSpPr>
          <p:nvPr/>
        </p:nvSpPr>
        <p:spPr>
          <a:xfrm>
            <a:off x="15621000" y="3381375"/>
            <a:ext cx="952500" cy="647700"/>
          </a:xfrm>
          <a:prstGeom prst="rect">
            <a:avLst/>
          </a:prstGeom>
          <a:noFill/>
          <a:ln w="0">
            <a:noFill/>
          </a:ln>
        </p:spPr>
        <p:txBody>
          <a:bodyPr wrap="square" lIns="0" tIns="0" rIns="0" bIns="0" anchor="t">
            <a:noAutofit/>
          </a:bodyPr>
          <a:lstStyle/>
          <a:p>
            <a:pPr algn="r" rtl="1">
              <a:defRPr sz="3750" b="1">
                <a:solidFill>
                  <a:srgbClr val="6150EA"/>
                </a:solidFill>
                <a:latin typeface="Readex Pro"/>
                <a:ea typeface="Readex Pro"/>
                <a:cs typeface="Readex Pro"/>
              </a:defRPr>
            </a:pPr>
            <a:r>
              <a:rPr lang="ar-SA" altLang="en-US" sz="3750" b="1">
                <a:solidFill>
                  <a:srgbClr val="6150EA"/>
                </a:solidFill>
                <a:latin typeface="Readex Pro"/>
                <a:ea typeface="Readex Pro"/>
                <a:cs typeface="Readex Pro"/>
              </a:rPr>
              <a:t>١</a:t>
            </a:r>
          </a:p>
        </p:txBody>
      </p:sp>
      <p:sp>
        <p:nvSpPr>
          <p:cNvPr id="915" name="text-m5iz5z-4">
            <a:extLst>
              <a:ext uri="{FF2B5EF4-FFF2-40B4-BE49-F238E27FC236}">
                <a16:creationId xmlns:a16="http://schemas.microsoft.com/office/drawing/2014/main" id="{6095DA82-1184-4505-8B21-7C03CD7D78CF}"/>
              </a:ext>
            </a:extLst>
          </p:cNvPr>
          <p:cNvSpPr>
            <a:spLocks noGrp="1"/>
          </p:cNvSpPr>
          <p:nvPr/>
        </p:nvSpPr>
        <p:spPr>
          <a:xfrm>
            <a:off x="6477000" y="3381375"/>
            <a:ext cx="8477250" cy="590550"/>
          </a:xfrm>
          <a:prstGeom prst="rect">
            <a:avLst/>
          </a:prstGeom>
          <a:noFill/>
          <a:ln w="0">
            <a:noFill/>
          </a:ln>
        </p:spPr>
        <p:txBody>
          <a:bodyPr wrap="square" lIns="0" tIns="0" rIns="0" bIns="0" anchor="t">
            <a:noAutofit/>
          </a:bodyPr>
          <a:lstStyle/>
          <a:p>
            <a:pPr algn="r" rtl="1">
              <a:defRPr sz="2775" b="1">
                <a:solidFill>
                  <a:srgbClr val="12183F"/>
                </a:solidFill>
                <a:latin typeface="Readex Pro"/>
                <a:ea typeface="Readex Pro"/>
                <a:cs typeface="Readex Pro"/>
              </a:defRPr>
            </a:pPr>
            <a:r>
              <a:rPr lang="ar-SA" altLang="en-US" sz="2775" b="1">
                <a:solidFill>
                  <a:srgbClr val="12183F"/>
                </a:solidFill>
                <a:latin typeface="Readex Pro"/>
                <a:ea typeface="Readex Pro"/>
                <a:cs typeface="Readex Pro"/>
              </a:rPr>
              <a:t>أختار الموضوع</a:t>
            </a:r>
          </a:p>
        </p:txBody>
      </p:sp>
      <p:sp>
        <p:nvSpPr>
          <p:cNvPr id="916" name="text-m5iz5z-5">
            <a:extLst>
              <a:ext uri="{FF2B5EF4-FFF2-40B4-BE49-F238E27FC236}">
                <a16:creationId xmlns:a16="http://schemas.microsoft.com/office/drawing/2014/main" id="{24631D3C-EA7D-4369-B854-3D6938C07356}"/>
              </a:ext>
            </a:extLst>
          </p:cNvPr>
          <p:cNvSpPr>
            <a:spLocks noGrp="1"/>
          </p:cNvSpPr>
          <p:nvPr/>
        </p:nvSpPr>
        <p:spPr>
          <a:xfrm>
            <a:off x="6191250" y="4010025"/>
            <a:ext cx="8763000" cy="619125"/>
          </a:xfrm>
          <a:prstGeom prst="rect">
            <a:avLst/>
          </a:prstGeom>
          <a:noFill/>
          <a:ln w="0">
            <a:noFill/>
          </a:ln>
        </p:spPr>
        <p:txBody>
          <a:bodyPr wrap="square" lIns="0" tIns="0" rIns="0" bIns="0" anchor="t">
            <a:noAutofit/>
          </a:bodyPr>
          <a:lstStyle/>
          <a:p>
            <a:pPr algn="r" rtl="1">
              <a:defRPr sz="2250" b="0">
                <a:solidFill>
                  <a:srgbClr val="323D68"/>
                </a:solidFill>
                <a:latin typeface="Readex Pro"/>
                <a:ea typeface="Readex Pro"/>
                <a:cs typeface="Readex Pro"/>
              </a:defRPr>
            </a:pPr>
            <a:r>
              <a:rPr lang="ar-SA" altLang="en-US" sz="2250" b="0">
                <a:solidFill>
                  <a:srgbClr val="323D68"/>
                </a:solidFill>
                <a:latin typeface="Readex Pro"/>
                <a:ea typeface="Readex Pro"/>
                <a:cs typeface="Readex Pro"/>
              </a:rPr>
              <a:t>الرحمة وحسن الخلق</a:t>
            </a:r>
          </a:p>
        </p:txBody>
      </p:sp>
      <p:sp>
        <p:nvSpPr>
          <p:cNvPr id="917" name="text-m5iz5z-6">
            <a:extLst>
              <a:ext uri="{FF2B5EF4-FFF2-40B4-BE49-F238E27FC236}">
                <a16:creationId xmlns:a16="http://schemas.microsoft.com/office/drawing/2014/main" id="{BCC307A9-216F-4E46-A089-25EECCB716B5}"/>
              </a:ext>
            </a:extLst>
          </p:cNvPr>
          <p:cNvSpPr>
            <a:spLocks noGrp="1"/>
          </p:cNvSpPr>
          <p:nvPr/>
        </p:nvSpPr>
        <p:spPr>
          <a:xfrm>
            <a:off x="15621000" y="4743450"/>
            <a:ext cx="952500" cy="647700"/>
          </a:xfrm>
          <a:prstGeom prst="rect">
            <a:avLst/>
          </a:prstGeom>
          <a:noFill/>
          <a:ln w="0">
            <a:noFill/>
          </a:ln>
        </p:spPr>
        <p:txBody>
          <a:bodyPr wrap="square" lIns="0" tIns="0" rIns="0" bIns="0" anchor="t">
            <a:noAutofit/>
          </a:bodyPr>
          <a:lstStyle/>
          <a:p>
            <a:pPr algn="r" rtl="1">
              <a:defRPr sz="3750" b="1">
                <a:solidFill>
                  <a:srgbClr val="6150EA"/>
                </a:solidFill>
                <a:latin typeface="Readex Pro"/>
                <a:ea typeface="Readex Pro"/>
                <a:cs typeface="Readex Pro"/>
              </a:defRPr>
            </a:pPr>
            <a:r>
              <a:rPr lang="ar-SA" altLang="en-US" sz="3750" b="1">
                <a:solidFill>
                  <a:srgbClr val="6150EA"/>
                </a:solidFill>
                <a:latin typeface="Readex Pro"/>
                <a:ea typeface="Readex Pro"/>
                <a:cs typeface="Readex Pro"/>
              </a:rPr>
              <a:t>٢</a:t>
            </a:r>
          </a:p>
        </p:txBody>
      </p:sp>
      <p:sp>
        <p:nvSpPr>
          <p:cNvPr id="918" name="text-m5iz5z-7">
            <a:extLst>
              <a:ext uri="{FF2B5EF4-FFF2-40B4-BE49-F238E27FC236}">
                <a16:creationId xmlns:a16="http://schemas.microsoft.com/office/drawing/2014/main" id="{5CF55C03-7062-4E8E-B1AF-C28E3512D740}"/>
              </a:ext>
            </a:extLst>
          </p:cNvPr>
          <p:cNvSpPr>
            <a:spLocks noGrp="1"/>
          </p:cNvSpPr>
          <p:nvPr/>
        </p:nvSpPr>
        <p:spPr>
          <a:xfrm>
            <a:off x="6477000" y="4743450"/>
            <a:ext cx="8477250" cy="590550"/>
          </a:xfrm>
          <a:prstGeom prst="rect">
            <a:avLst/>
          </a:prstGeom>
          <a:noFill/>
          <a:ln w="0">
            <a:noFill/>
          </a:ln>
        </p:spPr>
        <p:txBody>
          <a:bodyPr wrap="square" lIns="0" tIns="0" rIns="0" bIns="0" anchor="t">
            <a:noAutofit/>
          </a:bodyPr>
          <a:lstStyle/>
          <a:p>
            <a:pPr algn="r" rtl="1">
              <a:defRPr sz="2775" b="1">
                <a:solidFill>
                  <a:srgbClr val="12183F"/>
                </a:solidFill>
                <a:latin typeface="Readex Pro"/>
                <a:ea typeface="Readex Pro"/>
                <a:cs typeface="Readex Pro"/>
              </a:defRPr>
            </a:pPr>
            <a:r>
              <a:rPr lang="ar-SA" altLang="en-US" sz="2775" b="1">
                <a:solidFill>
                  <a:srgbClr val="12183F"/>
                </a:solidFill>
                <a:latin typeface="Readex Pro"/>
                <a:ea typeface="Readex Pro"/>
                <a:cs typeface="Readex Pro"/>
              </a:rPr>
              <a:t>أحدّد المستفيد</a:t>
            </a:r>
          </a:p>
        </p:txBody>
      </p:sp>
      <p:sp>
        <p:nvSpPr>
          <p:cNvPr id="919" name="text-m5iz5z-8">
            <a:extLst>
              <a:ext uri="{FF2B5EF4-FFF2-40B4-BE49-F238E27FC236}">
                <a16:creationId xmlns:a16="http://schemas.microsoft.com/office/drawing/2014/main" id="{92CDB2FD-32A2-4B2D-A5AE-972CF752C05F}"/>
              </a:ext>
            </a:extLst>
          </p:cNvPr>
          <p:cNvSpPr>
            <a:spLocks noGrp="1"/>
          </p:cNvSpPr>
          <p:nvPr/>
        </p:nvSpPr>
        <p:spPr>
          <a:xfrm>
            <a:off x="6191250" y="5372100"/>
            <a:ext cx="8763000" cy="619125"/>
          </a:xfrm>
          <a:prstGeom prst="rect">
            <a:avLst/>
          </a:prstGeom>
          <a:noFill/>
          <a:ln w="0">
            <a:noFill/>
          </a:ln>
        </p:spPr>
        <p:txBody>
          <a:bodyPr wrap="square" lIns="0" tIns="0" rIns="0" bIns="0" anchor="t">
            <a:noAutofit/>
          </a:bodyPr>
          <a:lstStyle/>
          <a:p>
            <a:pPr algn="r" rtl="1">
              <a:defRPr sz="2250" b="0">
                <a:solidFill>
                  <a:srgbClr val="323D68"/>
                </a:solidFill>
                <a:latin typeface="Readex Pro"/>
                <a:ea typeface="Readex Pro"/>
                <a:cs typeface="Readex Pro"/>
              </a:defRPr>
            </a:pPr>
            <a:r>
              <a:rPr lang="ar-SA" altLang="en-US" sz="2250" b="0">
                <a:solidFill>
                  <a:srgbClr val="323D68"/>
                </a:solidFill>
                <a:latin typeface="Readex Pro"/>
                <a:ea typeface="Readex Pro"/>
                <a:cs typeface="Readex Pro"/>
              </a:rPr>
              <a:t>متعرّف على الإسلام، مسلم جديد، أو معرّف</a:t>
            </a:r>
          </a:p>
        </p:txBody>
      </p:sp>
      <p:sp>
        <p:nvSpPr>
          <p:cNvPr id="920" name="text-m5iz5z-9">
            <a:extLst>
              <a:ext uri="{FF2B5EF4-FFF2-40B4-BE49-F238E27FC236}">
                <a16:creationId xmlns:a16="http://schemas.microsoft.com/office/drawing/2014/main" id="{F246610B-3CB6-495D-965B-F814D735D2AE}"/>
              </a:ext>
            </a:extLst>
          </p:cNvPr>
          <p:cNvSpPr>
            <a:spLocks noGrp="1"/>
          </p:cNvSpPr>
          <p:nvPr/>
        </p:nvSpPr>
        <p:spPr>
          <a:xfrm>
            <a:off x="15621000" y="6105525"/>
            <a:ext cx="952500" cy="647700"/>
          </a:xfrm>
          <a:prstGeom prst="rect">
            <a:avLst/>
          </a:prstGeom>
          <a:noFill/>
          <a:ln w="0">
            <a:noFill/>
          </a:ln>
        </p:spPr>
        <p:txBody>
          <a:bodyPr wrap="square" lIns="0" tIns="0" rIns="0" bIns="0" anchor="t">
            <a:noAutofit/>
          </a:bodyPr>
          <a:lstStyle/>
          <a:p>
            <a:pPr algn="r" rtl="1">
              <a:defRPr sz="3750" b="1">
                <a:solidFill>
                  <a:srgbClr val="6150EA"/>
                </a:solidFill>
                <a:latin typeface="Readex Pro"/>
                <a:ea typeface="Readex Pro"/>
                <a:cs typeface="Readex Pro"/>
              </a:defRPr>
            </a:pPr>
            <a:r>
              <a:rPr lang="ar-SA" altLang="en-US" sz="3750" b="1">
                <a:solidFill>
                  <a:srgbClr val="6150EA"/>
                </a:solidFill>
                <a:latin typeface="Readex Pro"/>
                <a:ea typeface="Readex Pro"/>
                <a:cs typeface="Readex Pro"/>
              </a:rPr>
              <a:t>٣</a:t>
            </a:r>
          </a:p>
        </p:txBody>
      </p:sp>
      <p:sp>
        <p:nvSpPr>
          <p:cNvPr id="921" name="text-m5iz5z-10">
            <a:extLst>
              <a:ext uri="{FF2B5EF4-FFF2-40B4-BE49-F238E27FC236}">
                <a16:creationId xmlns:a16="http://schemas.microsoft.com/office/drawing/2014/main" id="{FF25332F-B5C5-4026-89DA-89A0DEF14C52}"/>
              </a:ext>
            </a:extLst>
          </p:cNvPr>
          <p:cNvSpPr>
            <a:spLocks noGrp="1"/>
          </p:cNvSpPr>
          <p:nvPr/>
        </p:nvSpPr>
        <p:spPr>
          <a:xfrm>
            <a:off x="6477000" y="6105525"/>
            <a:ext cx="8477250" cy="590550"/>
          </a:xfrm>
          <a:prstGeom prst="rect">
            <a:avLst/>
          </a:prstGeom>
          <a:noFill/>
          <a:ln w="0">
            <a:noFill/>
          </a:ln>
        </p:spPr>
        <p:txBody>
          <a:bodyPr wrap="square" lIns="0" tIns="0" rIns="0" bIns="0" anchor="t">
            <a:noAutofit/>
          </a:bodyPr>
          <a:lstStyle/>
          <a:p>
            <a:pPr algn="r" rtl="1">
              <a:defRPr sz="2775" b="1">
                <a:solidFill>
                  <a:srgbClr val="12183F"/>
                </a:solidFill>
                <a:latin typeface="Readex Pro"/>
                <a:ea typeface="Readex Pro"/>
                <a:cs typeface="Readex Pro"/>
              </a:defRPr>
            </a:pPr>
            <a:r>
              <a:rPr lang="ar-SA" altLang="en-US" sz="2775" b="1">
                <a:solidFill>
                  <a:srgbClr val="12183F"/>
                </a:solidFill>
                <a:latin typeface="Readex Pro"/>
                <a:ea typeface="Readex Pro"/>
                <a:cs typeface="Readex Pro"/>
              </a:rPr>
              <a:t>أختار الصيغة</a:t>
            </a:r>
          </a:p>
        </p:txBody>
      </p:sp>
      <p:sp>
        <p:nvSpPr>
          <p:cNvPr id="922" name="text-m5iz5z-11">
            <a:extLst>
              <a:ext uri="{FF2B5EF4-FFF2-40B4-BE49-F238E27FC236}">
                <a16:creationId xmlns:a16="http://schemas.microsoft.com/office/drawing/2014/main" id="{90E6DCDB-5292-4571-9592-40EB36969C53}"/>
              </a:ext>
            </a:extLst>
          </p:cNvPr>
          <p:cNvSpPr>
            <a:spLocks noGrp="1"/>
          </p:cNvSpPr>
          <p:nvPr/>
        </p:nvSpPr>
        <p:spPr>
          <a:xfrm>
            <a:off x="6191250" y="6734175"/>
            <a:ext cx="8763000" cy="619125"/>
          </a:xfrm>
          <a:prstGeom prst="rect">
            <a:avLst/>
          </a:prstGeom>
          <a:noFill/>
          <a:ln w="0">
            <a:noFill/>
          </a:ln>
        </p:spPr>
        <p:txBody>
          <a:bodyPr wrap="square" lIns="0" tIns="0" rIns="0" bIns="0" anchor="t">
            <a:noAutofit/>
          </a:bodyPr>
          <a:lstStyle/>
          <a:p>
            <a:pPr algn="r" rtl="1">
              <a:defRPr sz="2250" b="0">
                <a:solidFill>
                  <a:srgbClr val="323D68"/>
                </a:solidFill>
                <a:latin typeface="Readex Pro"/>
                <a:ea typeface="Readex Pro"/>
                <a:cs typeface="Readex Pro"/>
              </a:defRPr>
            </a:pPr>
            <a:r>
              <a:rPr lang="ar-SA" altLang="en-US" sz="2250" b="0">
                <a:solidFill>
                  <a:srgbClr val="323D68"/>
                </a:solidFill>
                <a:latin typeface="Readex Pro"/>
                <a:ea typeface="Readex Pro"/>
                <a:cs typeface="Readex Pro"/>
              </a:rPr>
              <a:t>بطاقة، سؤال وجواب، أو عرض دقيقتين</a:t>
            </a:r>
          </a:p>
        </p:txBody>
      </p:sp>
      <p:sp>
        <p:nvSpPr>
          <p:cNvPr id="923" name="text-m5iz5z-12">
            <a:extLst>
              <a:ext uri="{FF2B5EF4-FFF2-40B4-BE49-F238E27FC236}">
                <a16:creationId xmlns:a16="http://schemas.microsoft.com/office/drawing/2014/main" id="{684CB770-E261-4DC0-A29D-8A3358FE3ABC}"/>
              </a:ext>
            </a:extLst>
          </p:cNvPr>
          <p:cNvSpPr>
            <a:spLocks noGrp="1"/>
          </p:cNvSpPr>
          <p:nvPr/>
        </p:nvSpPr>
        <p:spPr>
          <a:xfrm>
            <a:off x="15621000" y="7467600"/>
            <a:ext cx="952500" cy="647700"/>
          </a:xfrm>
          <a:prstGeom prst="rect">
            <a:avLst/>
          </a:prstGeom>
          <a:noFill/>
          <a:ln w="0">
            <a:noFill/>
          </a:ln>
        </p:spPr>
        <p:txBody>
          <a:bodyPr wrap="square" lIns="0" tIns="0" rIns="0" bIns="0" anchor="t">
            <a:noAutofit/>
          </a:bodyPr>
          <a:lstStyle/>
          <a:p>
            <a:pPr algn="r" rtl="1">
              <a:defRPr sz="3750" b="1">
                <a:solidFill>
                  <a:srgbClr val="6150EA"/>
                </a:solidFill>
                <a:latin typeface="Readex Pro"/>
                <a:ea typeface="Readex Pro"/>
                <a:cs typeface="Readex Pro"/>
              </a:defRPr>
            </a:pPr>
            <a:r>
              <a:rPr lang="ar-SA" altLang="en-US" sz="3750" b="1">
                <a:solidFill>
                  <a:srgbClr val="6150EA"/>
                </a:solidFill>
                <a:latin typeface="Readex Pro"/>
                <a:ea typeface="Readex Pro"/>
                <a:cs typeface="Readex Pro"/>
              </a:rPr>
              <a:t>٤</a:t>
            </a:r>
          </a:p>
        </p:txBody>
      </p:sp>
      <p:sp>
        <p:nvSpPr>
          <p:cNvPr id="924" name="text-m5iz5z-13">
            <a:extLst>
              <a:ext uri="{FF2B5EF4-FFF2-40B4-BE49-F238E27FC236}">
                <a16:creationId xmlns:a16="http://schemas.microsoft.com/office/drawing/2014/main" id="{70283603-B1E2-410C-9CCA-2A9B0D2B5878}"/>
              </a:ext>
            </a:extLst>
          </p:cNvPr>
          <p:cNvSpPr>
            <a:spLocks noGrp="1"/>
          </p:cNvSpPr>
          <p:nvPr/>
        </p:nvSpPr>
        <p:spPr>
          <a:xfrm>
            <a:off x="6477000" y="7467600"/>
            <a:ext cx="8477250" cy="590550"/>
          </a:xfrm>
          <a:prstGeom prst="rect">
            <a:avLst/>
          </a:prstGeom>
          <a:noFill/>
          <a:ln w="0">
            <a:noFill/>
          </a:ln>
        </p:spPr>
        <p:txBody>
          <a:bodyPr wrap="square" lIns="0" tIns="0" rIns="0" bIns="0" anchor="t">
            <a:noAutofit/>
          </a:bodyPr>
          <a:lstStyle/>
          <a:p>
            <a:pPr algn="r" rtl="1">
              <a:defRPr sz="2775" b="1">
                <a:solidFill>
                  <a:srgbClr val="12183F"/>
                </a:solidFill>
                <a:latin typeface="Readex Pro"/>
                <a:ea typeface="Readex Pro"/>
                <a:cs typeface="Readex Pro"/>
              </a:defRPr>
            </a:pPr>
            <a:r>
              <a:rPr lang="ar-SA" altLang="en-US" sz="2775" b="1">
                <a:solidFill>
                  <a:srgbClr val="12183F"/>
                </a:solidFill>
                <a:latin typeface="Readex Pro"/>
                <a:ea typeface="Readex Pro"/>
                <a:cs typeface="Readex Pro"/>
              </a:rPr>
              <a:t>أفحص الشاهد وأكمل</a:t>
            </a:r>
          </a:p>
        </p:txBody>
      </p:sp>
      <p:sp>
        <p:nvSpPr>
          <p:cNvPr id="925" name="text-m5iz5z-14">
            <a:extLst>
              <a:ext uri="{FF2B5EF4-FFF2-40B4-BE49-F238E27FC236}">
                <a16:creationId xmlns:a16="http://schemas.microsoft.com/office/drawing/2014/main" id="{42CEBA81-E747-439B-B98B-3933578CA817}"/>
              </a:ext>
            </a:extLst>
          </p:cNvPr>
          <p:cNvSpPr>
            <a:spLocks noGrp="1"/>
          </p:cNvSpPr>
          <p:nvPr/>
        </p:nvSpPr>
        <p:spPr>
          <a:xfrm>
            <a:off x="6191250" y="8096250"/>
            <a:ext cx="8763000" cy="619125"/>
          </a:xfrm>
          <a:prstGeom prst="rect">
            <a:avLst/>
          </a:prstGeom>
          <a:noFill/>
          <a:ln w="0">
            <a:noFill/>
          </a:ln>
        </p:spPr>
        <p:txBody>
          <a:bodyPr wrap="square" lIns="0" tIns="0" rIns="0" bIns="0" anchor="t">
            <a:noAutofit/>
          </a:bodyPr>
          <a:lstStyle/>
          <a:p>
            <a:pPr algn="r" rtl="1">
              <a:defRPr sz="2250" b="0">
                <a:solidFill>
                  <a:srgbClr val="323D68"/>
                </a:solidFill>
                <a:latin typeface="Readex Pro"/>
                <a:ea typeface="Readex Pro"/>
                <a:cs typeface="Readex Pro"/>
              </a:defRPr>
            </a:pPr>
            <a:r>
              <a:rPr lang="ar-SA" altLang="en-US" sz="2250" b="0">
                <a:solidFill>
                  <a:srgbClr val="323D68"/>
                </a:solidFill>
                <a:latin typeface="Readex Pro"/>
                <a:ea typeface="Readex Pro"/>
                <a:cs typeface="Readex Pro"/>
              </a:rPr>
              <a:t>أفتح النص والعزو، ثم أطلب شرحًا أو متابعة</a:t>
            </a:r>
          </a:p>
        </p:txBody>
      </p:sp>
    </p:spTree>
    <p:extLst>
      <p:ext uri="{BB962C8B-B14F-4D97-AF65-F5344CB8AC3E}">
        <p14:creationId xmlns:p14="http://schemas.microsoft.com/office/powerpoint/2010/main" val="105568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39BFB0FA-5DC7-50DB-D53A-0B6D0E34987E}" type="slidenum">
              <a:rPr sz="1800">
                <a:solidFill>
                  <a:srgbClr val="8E99CC"/>
                </a:solidFill>
                <a:latin typeface="Readex Pro"/>
                <a:ea typeface="Readex Pro"/>
                <a:cs typeface="Readex Pro"/>
              </a:rPr>
              <a:t>6</a:t>
            </a:fld>
            <a:endParaRPr/>
          </a:p>
        </p:txBody>
      </p:sp>
      <p:pic>
        <p:nvPicPr>
          <p:cNvPr id="923"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24"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h4esj1-1">
            <a:extLst>
              <a:ext uri="{FF2B5EF4-FFF2-40B4-BE49-F238E27FC236}">
                <a16:creationId xmlns:a16="http://schemas.microsoft.com/office/drawing/2014/main" id="{9ED53087-45F7-440F-9742-EDA1C424BDF3}"/>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التحليل الموضوعي للكتب الستة</a:t>
            </a:r>
          </a:p>
        </p:txBody>
      </p:sp>
      <p:sp>
        <p:nvSpPr>
          <p:cNvPr id="902" name="slide-title">
            <a:extLst>
              <a:ext uri="{FF2B5EF4-FFF2-40B4-BE49-F238E27FC236}">
                <a16:creationId xmlns:a16="http://schemas.microsoft.com/office/drawing/2014/main" id="{EA80BDEE-D3AF-4502-85FD-02BA64162D6A}"/>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ستة أبواب للتعريف بالإسلام</a:t>
            </a:r>
          </a:p>
        </p:txBody>
      </p:sp>
      <p:sp>
        <p:nvSpPr>
          <p:cNvPr id="903" name="text-h4esj1-3">
            <a:extLst>
              <a:ext uri="{FF2B5EF4-FFF2-40B4-BE49-F238E27FC236}">
                <a16:creationId xmlns:a16="http://schemas.microsoft.com/office/drawing/2014/main" id="{2BCEEC1B-C541-4DFE-B509-19D42186E9C5}"/>
              </a:ext>
            </a:extLst>
          </p:cNvPr>
          <p:cNvSpPr>
            <a:spLocks noGrp="1"/>
          </p:cNvSpPr>
          <p:nvPr/>
        </p:nvSpPr>
        <p:spPr>
          <a:xfrm>
            <a:off x="1428750" y="2619375"/>
            <a:ext cx="15240000" cy="762000"/>
          </a:xfrm>
          <a:prstGeom prst="rect">
            <a:avLst/>
          </a:prstGeom>
          <a:noFill/>
          <a:ln w="0">
            <a:noFill/>
          </a:ln>
        </p:spPr>
        <p:txBody>
          <a:bodyPr wrap="square" lIns="0" tIns="0" rIns="0" bIns="0" anchor="t">
            <a:noAutofit/>
          </a:bodyPr>
          <a:lstStyle/>
          <a:p>
            <a:pPr algn="r" rtl="1">
              <a:defRPr sz="2250" b="0">
                <a:solidFill>
                  <a:srgbClr val="CBCFE6"/>
                </a:solidFill>
                <a:latin typeface="Readex Pro"/>
                <a:ea typeface="Readex Pro"/>
                <a:cs typeface="Readex Pro"/>
              </a:defRPr>
            </a:pPr>
            <a:r>
              <a:rPr lang="ar-SA" altLang="en-US" sz="2250" b="0">
                <a:solidFill>
                  <a:srgbClr val="CBCFE6"/>
                </a:solidFill>
                <a:latin typeface="Readex Pro"/>
                <a:ea typeface="Readex Pro"/>
                <a:cs typeface="Readex Pro"/>
              </a:rPr>
              <a:t>حزمة أولية من ١٣ شاهدًا مختارًا؛ قابلة للتوسعة والمراجعة</a:t>
            </a:r>
          </a:p>
        </p:txBody>
      </p:sp>
      <p:sp>
        <p:nvSpPr>
          <p:cNvPr id="904" name="text-h4esj1-4">
            <a:extLst>
              <a:ext uri="{FF2B5EF4-FFF2-40B4-BE49-F238E27FC236}">
                <a16:creationId xmlns:a16="http://schemas.microsoft.com/office/drawing/2014/main" id="{7C0463C2-C074-4084-8F95-7D008301B71A}"/>
              </a:ext>
            </a:extLst>
          </p:cNvPr>
          <p:cNvSpPr>
            <a:spLocks noGrp="1"/>
          </p:cNvSpPr>
          <p:nvPr/>
        </p:nvSpPr>
        <p:spPr>
          <a:xfrm>
            <a:off x="11620500" y="3762375"/>
            <a:ext cx="4572000" cy="571500"/>
          </a:xfrm>
          <a:prstGeom prst="rect">
            <a:avLst/>
          </a:prstGeom>
          <a:noFill/>
          <a:ln w="0">
            <a:noFill/>
          </a:ln>
        </p:spPr>
        <p:txBody>
          <a:bodyPr wrap="square" lIns="0" tIns="0" rIns="0" bIns="0" anchor="t">
            <a:noAutofit/>
          </a:bodyPr>
          <a:lstStyle/>
          <a:p>
            <a:pPr algn="r">
              <a:defRPr sz="3300" b="1">
                <a:solidFill>
                  <a:srgbClr val="2EF2C2"/>
                </a:solidFill>
                <a:latin typeface="Readex Pro"/>
                <a:ea typeface="Readex Pro"/>
                <a:cs typeface="Readex Pro"/>
              </a:defRPr>
            </a:pPr>
            <a:r>
              <a:rPr sz="3300" b="1">
                <a:solidFill>
                  <a:srgbClr val="2EF2C2"/>
                </a:solidFill>
                <a:latin typeface="Readex Pro"/>
                <a:ea typeface="Readex Pro"/>
                <a:cs typeface="Readex Pro"/>
              </a:rPr>
              <a:t>01</a:t>
            </a:r>
          </a:p>
        </p:txBody>
      </p:sp>
      <p:sp>
        <p:nvSpPr>
          <p:cNvPr id="905" name="text-h4esj1-5">
            <a:extLst>
              <a:ext uri="{FF2B5EF4-FFF2-40B4-BE49-F238E27FC236}">
                <a16:creationId xmlns:a16="http://schemas.microsoft.com/office/drawing/2014/main" id="{4003358D-11BB-4E00-9CE5-3CE0410C893C}"/>
              </a:ext>
            </a:extLst>
          </p:cNvPr>
          <p:cNvSpPr>
            <a:spLocks noGrp="1"/>
          </p:cNvSpPr>
          <p:nvPr/>
        </p:nvSpPr>
        <p:spPr>
          <a:xfrm>
            <a:off x="11620500" y="4476750"/>
            <a:ext cx="4572000" cy="628650"/>
          </a:xfrm>
          <a:prstGeom prst="rect">
            <a:avLst/>
          </a:prstGeom>
          <a:noFill/>
          <a:ln w="0">
            <a:noFill/>
          </a:ln>
        </p:spPr>
        <p:txBody>
          <a:bodyPr wrap="square" lIns="0" tIns="0" rIns="0" bIns="0" anchor="t">
            <a:noAutofit/>
          </a:bodyPr>
          <a:lstStyle/>
          <a:p>
            <a:pPr algn="r" rtl="1">
              <a:defRPr sz="2775" b="1">
                <a:solidFill>
                  <a:srgbClr val="F2F4FF"/>
                </a:solidFill>
                <a:latin typeface="Readex Pro"/>
                <a:ea typeface="Readex Pro"/>
                <a:cs typeface="Readex Pro"/>
              </a:defRPr>
            </a:pPr>
            <a:r>
              <a:rPr lang="ar-SA" altLang="en-US" sz="2775" b="1">
                <a:solidFill>
                  <a:srgbClr val="F2F4FF"/>
                </a:solidFill>
                <a:latin typeface="Readex Pro"/>
                <a:ea typeface="Readex Pro"/>
                <a:cs typeface="Readex Pro"/>
              </a:rPr>
              <a:t>الإيمان والمعنى</a:t>
            </a:r>
          </a:p>
        </p:txBody>
      </p:sp>
      <p:sp>
        <p:nvSpPr>
          <p:cNvPr id="906" name="text-h4esj1-6">
            <a:extLst>
              <a:ext uri="{FF2B5EF4-FFF2-40B4-BE49-F238E27FC236}">
                <a16:creationId xmlns:a16="http://schemas.microsoft.com/office/drawing/2014/main" id="{0C789F62-D58A-4733-9734-BC184B78B646}"/>
              </a:ext>
            </a:extLst>
          </p:cNvPr>
          <p:cNvSpPr>
            <a:spLocks noGrp="1"/>
          </p:cNvSpPr>
          <p:nvPr/>
        </p:nvSpPr>
        <p:spPr>
          <a:xfrm>
            <a:off x="11620500" y="5191125"/>
            <a:ext cx="4572000" cy="762000"/>
          </a:xfrm>
          <a:prstGeom prst="rect">
            <a:avLst/>
          </a:prstGeom>
          <a:noFill/>
          <a:ln w="0">
            <a:noFill/>
          </a:ln>
        </p:spPr>
        <p:txBody>
          <a:bodyPr wrap="square" lIns="0" tIns="0" rIns="0" bIns="0" anchor="t">
            <a:noAutofit/>
          </a:bodyPr>
          <a:lstStyle/>
          <a:p>
            <a:pPr algn="r" rtl="1">
              <a:defRPr sz="2175" b="0">
                <a:solidFill>
                  <a:srgbClr val="CBCFE6"/>
                </a:solidFill>
                <a:latin typeface="Readex Pro"/>
                <a:ea typeface="Readex Pro"/>
                <a:cs typeface="Readex Pro"/>
              </a:defRPr>
            </a:pPr>
            <a:r>
              <a:rPr lang="ar-SA" altLang="en-US" sz="2175" b="0">
                <a:solidFill>
                  <a:srgbClr val="CBCFE6"/>
                </a:solidFill>
                <a:latin typeface="Readex Pro"/>
                <a:ea typeface="Readex Pro"/>
                <a:cs typeface="Readex Pro"/>
              </a:rPr>
              <a:t>النية والإيمان والحياء</a:t>
            </a:r>
          </a:p>
        </p:txBody>
      </p:sp>
      <p:sp>
        <p:nvSpPr>
          <p:cNvPr id="907" name="text-h4esj1-7">
            <a:extLst>
              <a:ext uri="{FF2B5EF4-FFF2-40B4-BE49-F238E27FC236}">
                <a16:creationId xmlns:a16="http://schemas.microsoft.com/office/drawing/2014/main" id="{02949B9F-3CD8-48AB-ADBD-6FA69B5DBF9E}"/>
              </a:ext>
            </a:extLst>
          </p:cNvPr>
          <p:cNvSpPr>
            <a:spLocks noGrp="1"/>
          </p:cNvSpPr>
          <p:nvPr/>
        </p:nvSpPr>
        <p:spPr>
          <a:xfrm>
            <a:off x="6572250" y="3762375"/>
            <a:ext cx="4572000" cy="571500"/>
          </a:xfrm>
          <a:prstGeom prst="rect">
            <a:avLst/>
          </a:prstGeom>
          <a:noFill/>
          <a:ln w="0">
            <a:noFill/>
          </a:ln>
        </p:spPr>
        <p:txBody>
          <a:bodyPr wrap="square" lIns="0" tIns="0" rIns="0" bIns="0" anchor="t">
            <a:noAutofit/>
          </a:bodyPr>
          <a:lstStyle/>
          <a:p>
            <a:pPr algn="r">
              <a:defRPr sz="3300" b="1">
                <a:solidFill>
                  <a:srgbClr val="2EF2C2"/>
                </a:solidFill>
                <a:latin typeface="Readex Pro"/>
                <a:ea typeface="Readex Pro"/>
                <a:cs typeface="Readex Pro"/>
              </a:defRPr>
            </a:pPr>
            <a:r>
              <a:rPr sz="3300" b="1">
                <a:solidFill>
                  <a:srgbClr val="2EF2C2"/>
                </a:solidFill>
                <a:latin typeface="Readex Pro"/>
                <a:ea typeface="Readex Pro"/>
                <a:cs typeface="Readex Pro"/>
              </a:rPr>
              <a:t>02</a:t>
            </a:r>
          </a:p>
        </p:txBody>
      </p:sp>
      <p:sp>
        <p:nvSpPr>
          <p:cNvPr id="908" name="text-h4esj1-8">
            <a:extLst>
              <a:ext uri="{FF2B5EF4-FFF2-40B4-BE49-F238E27FC236}">
                <a16:creationId xmlns:a16="http://schemas.microsoft.com/office/drawing/2014/main" id="{4E6AEF26-4FA1-41BB-98BB-EBFA622DBC24}"/>
              </a:ext>
            </a:extLst>
          </p:cNvPr>
          <p:cNvSpPr>
            <a:spLocks noGrp="1"/>
          </p:cNvSpPr>
          <p:nvPr/>
        </p:nvSpPr>
        <p:spPr>
          <a:xfrm>
            <a:off x="6572250" y="4476750"/>
            <a:ext cx="4572000" cy="628650"/>
          </a:xfrm>
          <a:prstGeom prst="rect">
            <a:avLst/>
          </a:prstGeom>
          <a:noFill/>
          <a:ln w="0">
            <a:noFill/>
          </a:ln>
        </p:spPr>
        <p:txBody>
          <a:bodyPr wrap="square" lIns="0" tIns="0" rIns="0" bIns="0" anchor="t">
            <a:noAutofit/>
          </a:bodyPr>
          <a:lstStyle/>
          <a:p>
            <a:pPr algn="r" rtl="1">
              <a:defRPr sz="2775" b="1">
                <a:solidFill>
                  <a:srgbClr val="F2F4FF"/>
                </a:solidFill>
                <a:latin typeface="Readex Pro"/>
                <a:ea typeface="Readex Pro"/>
                <a:cs typeface="Readex Pro"/>
              </a:defRPr>
            </a:pPr>
            <a:r>
              <a:rPr lang="ar-SA" altLang="en-US" sz="2775" b="1">
                <a:solidFill>
                  <a:srgbClr val="F2F4FF"/>
                </a:solidFill>
                <a:latin typeface="Readex Pro"/>
                <a:ea typeface="Readex Pro"/>
                <a:cs typeface="Readex Pro"/>
              </a:rPr>
              <a:t>الرحمة وحسن الخلق</a:t>
            </a:r>
          </a:p>
        </p:txBody>
      </p:sp>
      <p:sp>
        <p:nvSpPr>
          <p:cNvPr id="909" name="text-h4esj1-9">
            <a:extLst>
              <a:ext uri="{FF2B5EF4-FFF2-40B4-BE49-F238E27FC236}">
                <a16:creationId xmlns:a16="http://schemas.microsoft.com/office/drawing/2014/main" id="{B0C20B85-7F88-42FD-A6D6-C1CAF364A652}"/>
              </a:ext>
            </a:extLst>
          </p:cNvPr>
          <p:cNvSpPr>
            <a:spLocks noGrp="1"/>
          </p:cNvSpPr>
          <p:nvPr/>
        </p:nvSpPr>
        <p:spPr>
          <a:xfrm>
            <a:off x="6572250" y="5191125"/>
            <a:ext cx="4572000" cy="762000"/>
          </a:xfrm>
          <a:prstGeom prst="rect">
            <a:avLst/>
          </a:prstGeom>
          <a:noFill/>
          <a:ln w="0">
            <a:noFill/>
          </a:ln>
        </p:spPr>
        <p:txBody>
          <a:bodyPr wrap="square" lIns="0" tIns="0" rIns="0" bIns="0" anchor="t">
            <a:noAutofit/>
          </a:bodyPr>
          <a:lstStyle/>
          <a:p>
            <a:pPr algn="r" rtl="1">
              <a:defRPr sz="2175" b="0">
                <a:solidFill>
                  <a:srgbClr val="CBCFE6"/>
                </a:solidFill>
                <a:latin typeface="Readex Pro"/>
                <a:ea typeface="Readex Pro"/>
                <a:cs typeface="Readex Pro"/>
              </a:defRPr>
            </a:pPr>
            <a:r>
              <a:rPr lang="ar-SA" altLang="en-US" sz="2175" b="0">
                <a:solidFill>
                  <a:srgbClr val="CBCFE6"/>
                </a:solidFill>
                <a:latin typeface="Readex Pro"/>
                <a:ea typeface="Readex Pro"/>
                <a:cs typeface="Readex Pro"/>
              </a:rPr>
              <a:t>الرفق والرحمة وصيانة اللسان</a:t>
            </a:r>
          </a:p>
        </p:txBody>
      </p:sp>
      <p:sp>
        <p:nvSpPr>
          <p:cNvPr id="910" name="text-h4esj1-10">
            <a:extLst>
              <a:ext uri="{FF2B5EF4-FFF2-40B4-BE49-F238E27FC236}">
                <a16:creationId xmlns:a16="http://schemas.microsoft.com/office/drawing/2014/main" id="{CDCA4399-0AFC-4D98-882E-A3B307DE6DD3}"/>
              </a:ext>
            </a:extLst>
          </p:cNvPr>
          <p:cNvSpPr>
            <a:spLocks noGrp="1"/>
          </p:cNvSpPr>
          <p:nvPr/>
        </p:nvSpPr>
        <p:spPr>
          <a:xfrm>
            <a:off x="1524000" y="3762375"/>
            <a:ext cx="4572000" cy="571500"/>
          </a:xfrm>
          <a:prstGeom prst="rect">
            <a:avLst/>
          </a:prstGeom>
          <a:noFill/>
          <a:ln w="0">
            <a:noFill/>
          </a:ln>
        </p:spPr>
        <p:txBody>
          <a:bodyPr wrap="square" lIns="0" tIns="0" rIns="0" bIns="0" anchor="t">
            <a:noAutofit/>
          </a:bodyPr>
          <a:lstStyle/>
          <a:p>
            <a:pPr algn="r">
              <a:defRPr sz="3300" b="1">
                <a:solidFill>
                  <a:srgbClr val="2EF2C2"/>
                </a:solidFill>
                <a:latin typeface="Readex Pro"/>
                <a:ea typeface="Readex Pro"/>
                <a:cs typeface="Readex Pro"/>
              </a:defRPr>
            </a:pPr>
            <a:r>
              <a:rPr sz="3300" b="1">
                <a:solidFill>
                  <a:srgbClr val="2EF2C2"/>
                </a:solidFill>
                <a:latin typeface="Readex Pro"/>
                <a:ea typeface="Readex Pro"/>
                <a:cs typeface="Readex Pro"/>
              </a:rPr>
              <a:t>03</a:t>
            </a:r>
          </a:p>
        </p:txBody>
      </p:sp>
      <p:sp>
        <p:nvSpPr>
          <p:cNvPr id="911" name="text-h4esj1-11">
            <a:extLst>
              <a:ext uri="{FF2B5EF4-FFF2-40B4-BE49-F238E27FC236}">
                <a16:creationId xmlns:a16="http://schemas.microsoft.com/office/drawing/2014/main" id="{97285CF1-94DF-41A7-B1C7-3781D3912D97}"/>
              </a:ext>
            </a:extLst>
          </p:cNvPr>
          <p:cNvSpPr>
            <a:spLocks noGrp="1"/>
          </p:cNvSpPr>
          <p:nvPr/>
        </p:nvSpPr>
        <p:spPr>
          <a:xfrm>
            <a:off x="1524000" y="4476750"/>
            <a:ext cx="4572000" cy="628650"/>
          </a:xfrm>
          <a:prstGeom prst="rect">
            <a:avLst/>
          </a:prstGeom>
          <a:noFill/>
          <a:ln w="0">
            <a:noFill/>
          </a:ln>
        </p:spPr>
        <p:txBody>
          <a:bodyPr wrap="square" lIns="0" tIns="0" rIns="0" bIns="0" anchor="t">
            <a:noAutofit/>
          </a:bodyPr>
          <a:lstStyle/>
          <a:p>
            <a:pPr algn="r" rtl="1">
              <a:defRPr sz="2775" b="1">
                <a:solidFill>
                  <a:srgbClr val="F2F4FF"/>
                </a:solidFill>
                <a:latin typeface="Readex Pro"/>
                <a:ea typeface="Readex Pro"/>
                <a:cs typeface="Readex Pro"/>
              </a:defRPr>
            </a:pPr>
            <a:r>
              <a:rPr lang="ar-SA" altLang="en-US" sz="2775" b="1">
                <a:solidFill>
                  <a:srgbClr val="F2F4FF"/>
                </a:solidFill>
                <a:latin typeface="Readex Pro"/>
                <a:ea typeface="Readex Pro"/>
                <a:cs typeface="Readex Pro"/>
              </a:rPr>
              <a:t>العبادة والحياة</a:t>
            </a:r>
          </a:p>
        </p:txBody>
      </p:sp>
      <p:sp>
        <p:nvSpPr>
          <p:cNvPr id="912" name="text-h4esj1-12">
            <a:extLst>
              <a:ext uri="{FF2B5EF4-FFF2-40B4-BE49-F238E27FC236}">
                <a16:creationId xmlns:a16="http://schemas.microsoft.com/office/drawing/2014/main" id="{F2EAA001-1549-411C-9C43-EBBD95F973CD}"/>
              </a:ext>
            </a:extLst>
          </p:cNvPr>
          <p:cNvSpPr>
            <a:spLocks noGrp="1"/>
          </p:cNvSpPr>
          <p:nvPr/>
        </p:nvSpPr>
        <p:spPr>
          <a:xfrm>
            <a:off x="1524000" y="5191125"/>
            <a:ext cx="4572000" cy="762000"/>
          </a:xfrm>
          <a:prstGeom prst="rect">
            <a:avLst/>
          </a:prstGeom>
          <a:noFill/>
          <a:ln w="0">
            <a:noFill/>
          </a:ln>
        </p:spPr>
        <p:txBody>
          <a:bodyPr wrap="square" lIns="0" tIns="0" rIns="0" bIns="0" anchor="t">
            <a:noAutofit/>
          </a:bodyPr>
          <a:lstStyle/>
          <a:p>
            <a:pPr algn="r" rtl="1">
              <a:defRPr sz="2175" b="0">
                <a:solidFill>
                  <a:srgbClr val="CBCFE6"/>
                </a:solidFill>
                <a:latin typeface="Readex Pro"/>
                <a:ea typeface="Readex Pro"/>
                <a:cs typeface="Readex Pro"/>
              </a:defRPr>
            </a:pPr>
            <a:r>
              <a:rPr lang="ar-SA" altLang="en-US" sz="2175" b="0">
                <a:solidFill>
                  <a:srgbClr val="CBCFE6"/>
                </a:solidFill>
                <a:latin typeface="Readex Pro"/>
                <a:ea typeface="Readex Pro"/>
                <a:cs typeface="Readex Pro"/>
              </a:rPr>
              <a:t>الصلاة وأثر العبادة في اليوم</a:t>
            </a:r>
          </a:p>
        </p:txBody>
      </p:sp>
      <p:sp>
        <p:nvSpPr>
          <p:cNvPr id="913" name="text-h4esj1-13">
            <a:extLst>
              <a:ext uri="{FF2B5EF4-FFF2-40B4-BE49-F238E27FC236}">
                <a16:creationId xmlns:a16="http://schemas.microsoft.com/office/drawing/2014/main" id="{74217B64-FF21-4E7F-A502-8E3D048395EB}"/>
              </a:ext>
            </a:extLst>
          </p:cNvPr>
          <p:cNvSpPr>
            <a:spLocks noGrp="1"/>
          </p:cNvSpPr>
          <p:nvPr/>
        </p:nvSpPr>
        <p:spPr>
          <a:xfrm>
            <a:off x="11620500" y="6238875"/>
            <a:ext cx="4572000" cy="571500"/>
          </a:xfrm>
          <a:prstGeom prst="rect">
            <a:avLst/>
          </a:prstGeom>
          <a:noFill/>
          <a:ln w="0">
            <a:noFill/>
          </a:ln>
        </p:spPr>
        <p:txBody>
          <a:bodyPr wrap="square" lIns="0" tIns="0" rIns="0" bIns="0" anchor="t">
            <a:noAutofit/>
          </a:bodyPr>
          <a:lstStyle/>
          <a:p>
            <a:pPr algn="r">
              <a:defRPr sz="3300" b="1">
                <a:solidFill>
                  <a:srgbClr val="2EF2C2"/>
                </a:solidFill>
                <a:latin typeface="Readex Pro"/>
                <a:ea typeface="Readex Pro"/>
                <a:cs typeface="Readex Pro"/>
              </a:defRPr>
            </a:pPr>
            <a:r>
              <a:rPr sz="3300" b="1">
                <a:solidFill>
                  <a:srgbClr val="2EF2C2"/>
                </a:solidFill>
                <a:latin typeface="Readex Pro"/>
                <a:ea typeface="Readex Pro"/>
                <a:cs typeface="Readex Pro"/>
              </a:rPr>
              <a:t>04</a:t>
            </a:r>
          </a:p>
        </p:txBody>
      </p:sp>
      <p:sp>
        <p:nvSpPr>
          <p:cNvPr id="914" name="text-h4esj1-14">
            <a:extLst>
              <a:ext uri="{FF2B5EF4-FFF2-40B4-BE49-F238E27FC236}">
                <a16:creationId xmlns:a16="http://schemas.microsoft.com/office/drawing/2014/main" id="{A8FEACE6-4B04-421E-9702-A6BF97D61A86}"/>
              </a:ext>
            </a:extLst>
          </p:cNvPr>
          <p:cNvSpPr>
            <a:spLocks noGrp="1"/>
          </p:cNvSpPr>
          <p:nvPr/>
        </p:nvSpPr>
        <p:spPr>
          <a:xfrm>
            <a:off x="11620500" y="6953250"/>
            <a:ext cx="4572000" cy="628650"/>
          </a:xfrm>
          <a:prstGeom prst="rect">
            <a:avLst/>
          </a:prstGeom>
          <a:noFill/>
          <a:ln w="0">
            <a:noFill/>
          </a:ln>
        </p:spPr>
        <p:txBody>
          <a:bodyPr wrap="square" lIns="0" tIns="0" rIns="0" bIns="0" anchor="t">
            <a:noAutofit/>
          </a:bodyPr>
          <a:lstStyle/>
          <a:p>
            <a:pPr algn="r" rtl="1">
              <a:defRPr sz="2775" b="1">
                <a:solidFill>
                  <a:srgbClr val="F2F4FF"/>
                </a:solidFill>
                <a:latin typeface="Readex Pro"/>
                <a:ea typeface="Readex Pro"/>
                <a:cs typeface="Readex Pro"/>
              </a:defRPr>
            </a:pPr>
            <a:r>
              <a:rPr lang="ar-SA" altLang="en-US" sz="2775" b="1">
                <a:solidFill>
                  <a:srgbClr val="F2F4FF"/>
                </a:solidFill>
                <a:latin typeface="Readex Pro"/>
                <a:ea typeface="Readex Pro"/>
                <a:cs typeface="Readex Pro"/>
              </a:rPr>
              <a:t>الأسرة والجوار</a:t>
            </a:r>
          </a:p>
        </p:txBody>
      </p:sp>
      <p:sp>
        <p:nvSpPr>
          <p:cNvPr id="915" name="text-h4esj1-15">
            <a:extLst>
              <a:ext uri="{FF2B5EF4-FFF2-40B4-BE49-F238E27FC236}">
                <a16:creationId xmlns:a16="http://schemas.microsoft.com/office/drawing/2014/main" id="{4DEB96F8-B51C-4C1C-A643-8344208B8C30}"/>
              </a:ext>
            </a:extLst>
          </p:cNvPr>
          <p:cNvSpPr>
            <a:spLocks noGrp="1"/>
          </p:cNvSpPr>
          <p:nvPr/>
        </p:nvSpPr>
        <p:spPr>
          <a:xfrm>
            <a:off x="11620500" y="7667625"/>
            <a:ext cx="4572000" cy="762000"/>
          </a:xfrm>
          <a:prstGeom prst="rect">
            <a:avLst/>
          </a:prstGeom>
          <a:noFill/>
          <a:ln w="0">
            <a:noFill/>
          </a:ln>
        </p:spPr>
        <p:txBody>
          <a:bodyPr wrap="square" lIns="0" tIns="0" rIns="0" bIns="0" anchor="t">
            <a:noAutofit/>
          </a:bodyPr>
          <a:lstStyle/>
          <a:p>
            <a:pPr algn="r" rtl="1">
              <a:defRPr sz="2175" b="0">
                <a:solidFill>
                  <a:srgbClr val="CBCFE6"/>
                </a:solidFill>
                <a:latin typeface="Readex Pro"/>
                <a:ea typeface="Readex Pro"/>
                <a:cs typeface="Readex Pro"/>
              </a:defRPr>
            </a:pPr>
            <a:r>
              <a:rPr lang="ar-SA" altLang="en-US" sz="2175" b="0">
                <a:solidFill>
                  <a:srgbClr val="CBCFE6"/>
                </a:solidFill>
                <a:latin typeface="Readex Pro"/>
                <a:ea typeface="Readex Pro"/>
                <a:cs typeface="Readex Pro"/>
              </a:rPr>
              <a:t>العلاقات والحقوق والإحسان</a:t>
            </a:r>
          </a:p>
        </p:txBody>
      </p:sp>
      <p:sp>
        <p:nvSpPr>
          <p:cNvPr id="916" name="text-h4esj1-16">
            <a:extLst>
              <a:ext uri="{FF2B5EF4-FFF2-40B4-BE49-F238E27FC236}">
                <a16:creationId xmlns:a16="http://schemas.microsoft.com/office/drawing/2014/main" id="{1A6F9089-8B8A-4C10-AEBE-15368B531E29}"/>
              </a:ext>
            </a:extLst>
          </p:cNvPr>
          <p:cNvSpPr>
            <a:spLocks noGrp="1"/>
          </p:cNvSpPr>
          <p:nvPr/>
        </p:nvSpPr>
        <p:spPr>
          <a:xfrm>
            <a:off x="6572250" y="6238875"/>
            <a:ext cx="4572000" cy="571500"/>
          </a:xfrm>
          <a:prstGeom prst="rect">
            <a:avLst/>
          </a:prstGeom>
          <a:noFill/>
          <a:ln w="0">
            <a:noFill/>
          </a:ln>
        </p:spPr>
        <p:txBody>
          <a:bodyPr wrap="square" lIns="0" tIns="0" rIns="0" bIns="0" anchor="t">
            <a:noAutofit/>
          </a:bodyPr>
          <a:lstStyle/>
          <a:p>
            <a:pPr algn="r">
              <a:defRPr sz="3300" b="1">
                <a:solidFill>
                  <a:srgbClr val="2EF2C2"/>
                </a:solidFill>
                <a:latin typeface="Readex Pro"/>
                <a:ea typeface="Readex Pro"/>
                <a:cs typeface="Readex Pro"/>
              </a:defRPr>
            </a:pPr>
            <a:r>
              <a:rPr sz="3300" b="1">
                <a:solidFill>
                  <a:srgbClr val="2EF2C2"/>
                </a:solidFill>
                <a:latin typeface="Readex Pro"/>
                <a:ea typeface="Readex Pro"/>
                <a:cs typeface="Readex Pro"/>
              </a:rPr>
              <a:t>05</a:t>
            </a:r>
          </a:p>
        </p:txBody>
      </p:sp>
      <p:sp>
        <p:nvSpPr>
          <p:cNvPr id="917" name="text-h4esj1-17">
            <a:extLst>
              <a:ext uri="{FF2B5EF4-FFF2-40B4-BE49-F238E27FC236}">
                <a16:creationId xmlns:a16="http://schemas.microsoft.com/office/drawing/2014/main" id="{AB6D569C-130D-403C-ADC3-8AC5D2B04DED}"/>
              </a:ext>
            </a:extLst>
          </p:cNvPr>
          <p:cNvSpPr>
            <a:spLocks noGrp="1"/>
          </p:cNvSpPr>
          <p:nvPr/>
        </p:nvSpPr>
        <p:spPr>
          <a:xfrm>
            <a:off x="6572250" y="6953250"/>
            <a:ext cx="4572000" cy="628650"/>
          </a:xfrm>
          <a:prstGeom prst="rect">
            <a:avLst/>
          </a:prstGeom>
          <a:noFill/>
          <a:ln w="0">
            <a:noFill/>
          </a:ln>
        </p:spPr>
        <p:txBody>
          <a:bodyPr wrap="square" lIns="0" tIns="0" rIns="0" bIns="0" anchor="t">
            <a:noAutofit/>
          </a:bodyPr>
          <a:lstStyle/>
          <a:p>
            <a:pPr algn="r" rtl="1">
              <a:defRPr sz="2775" b="1">
                <a:solidFill>
                  <a:srgbClr val="F2F4FF"/>
                </a:solidFill>
                <a:latin typeface="Readex Pro"/>
                <a:ea typeface="Readex Pro"/>
                <a:cs typeface="Readex Pro"/>
              </a:defRPr>
            </a:pPr>
            <a:r>
              <a:rPr lang="ar-SA" altLang="en-US" sz="2775" b="1">
                <a:solidFill>
                  <a:srgbClr val="F2F4FF"/>
                </a:solidFill>
                <a:latin typeface="Readex Pro"/>
                <a:ea typeface="Readex Pro"/>
                <a:cs typeface="Readex Pro"/>
              </a:rPr>
              <a:t>العدل والأمانة</a:t>
            </a:r>
          </a:p>
        </p:txBody>
      </p:sp>
      <p:sp>
        <p:nvSpPr>
          <p:cNvPr id="918" name="text-h4esj1-18">
            <a:extLst>
              <a:ext uri="{FF2B5EF4-FFF2-40B4-BE49-F238E27FC236}">
                <a16:creationId xmlns:a16="http://schemas.microsoft.com/office/drawing/2014/main" id="{80A88470-1F38-4563-BA27-5CFA36584839}"/>
              </a:ext>
            </a:extLst>
          </p:cNvPr>
          <p:cNvSpPr>
            <a:spLocks noGrp="1"/>
          </p:cNvSpPr>
          <p:nvPr/>
        </p:nvSpPr>
        <p:spPr>
          <a:xfrm>
            <a:off x="6572250" y="7667625"/>
            <a:ext cx="4572000" cy="762000"/>
          </a:xfrm>
          <a:prstGeom prst="rect">
            <a:avLst/>
          </a:prstGeom>
          <a:noFill/>
          <a:ln w="0">
            <a:noFill/>
          </a:ln>
        </p:spPr>
        <p:txBody>
          <a:bodyPr wrap="square" lIns="0" tIns="0" rIns="0" bIns="0" anchor="t">
            <a:noAutofit/>
          </a:bodyPr>
          <a:lstStyle/>
          <a:p>
            <a:pPr algn="r" rtl="1">
              <a:defRPr sz="2175" b="0">
                <a:solidFill>
                  <a:srgbClr val="CBCFE6"/>
                </a:solidFill>
                <a:latin typeface="Readex Pro"/>
                <a:ea typeface="Readex Pro"/>
                <a:cs typeface="Readex Pro"/>
              </a:defRPr>
            </a:pPr>
            <a:r>
              <a:rPr lang="ar-SA" altLang="en-US" sz="2175" b="0">
                <a:solidFill>
                  <a:srgbClr val="CBCFE6"/>
                </a:solidFill>
                <a:latin typeface="Readex Pro"/>
                <a:ea typeface="Readex Pro"/>
                <a:cs typeface="Readex Pro"/>
              </a:rPr>
              <a:t>الصدق والمعاملة ومنع الغش</a:t>
            </a:r>
          </a:p>
        </p:txBody>
      </p:sp>
      <p:sp>
        <p:nvSpPr>
          <p:cNvPr id="919" name="text-h4esj1-19">
            <a:extLst>
              <a:ext uri="{FF2B5EF4-FFF2-40B4-BE49-F238E27FC236}">
                <a16:creationId xmlns:a16="http://schemas.microsoft.com/office/drawing/2014/main" id="{F24ABE8C-E702-470B-94C8-496127C1DD87}"/>
              </a:ext>
            </a:extLst>
          </p:cNvPr>
          <p:cNvSpPr>
            <a:spLocks noGrp="1"/>
          </p:cNvSpPr>
          <p:nvPr/>
        </p:nvSpPr>
        <p:spPr>
          <a:xfrm>
            <a:off x="1524000" y="6238875"/>
            <a:ext cx="4572000" cy="571500"/>
          </a:xfrm>
          <a:prstGeom prst="rect">
            <a:avLst/>
          </a:prstGeom>
          <a:noFill/>
          <a:ln w="0">
            <a:noFill/>
          </a:ln>
        </p:spPr>
        <p:txBody>
          <a:bodyPr wrap="square" lIns="0" tIns="0" rIns="0" bIns="0" anchor="t">
            <a:noAutofit/>
          </a:bodyPr>
          <a:lstStyle/>
          <a:p>
            <a:pPr algn="r">
              <a:defRPr sz="3300" b="1">
                <a:solidFill>
                  <a:srgbClr val="2EF2C2"/>
                </a:solidFill>
                <a:latin typeface="Readex Pro"/>
                <a:ea typeface="Readex Pro"/>
                <a:cs typeface="Readex Pro"/>
              </a:defRPr>
            </a:pPr>
            <a:r>
              <a:rPr sz="3300" b="1">
                <a:solidFill>
                  <a:srgbClr val="2EF2C2"/>
                </a:solidFill>
                <a:latin typeface="Readex Pro"/>
                <a:ea typeface="Readex Pro"/>
                <a:cs typeface="Readex Pro"/>
              </a:rPr>
              <a:t>06</a:t>
            </a:r>
          </a:p>
        </p:txBody>
      </p:sp>
      <p:sp>
        <p:nvSpPr>
          <p:cNvPr id="920" name="text-h4esj1-20">
            <a:extLst>
              <a:ext uri="{FF2B5EF4-FFF2-40B4-BE49-F238E27FC236}">
                <a16:creationId xmlns:a16="http://schemas.microsoft.com/office/drawing/2014/main" id="{8C540471-FFC9-49A2-9E93-C37EF07B9887}"/>
              </a:ext>
            </a:extLst>
          </p:cNvPr>
          <p:cNvSpPr>
            <a:spLocks noGrp="1"/>
          </p:cNvSpPr>
          <p:nvPr/>
        </p:nvSpPr>
        <p:spPr>
          <a:xfrm>
            <a:off x="1524000" y="6953250"/>
            <a:ext cx="4572000" cy="628650"/>
          </a:xfrm>
          <a:prstGeom prst="rect">
            <a:avLst/>
          </a:prstGeom>
          <a:noFill/>
          <a:ln w="0">
            <a:noFill/>
          </a:ln>
        </p:spPr>
        <p:txBody>
          <a:bodyPr wrap="square" lIns="0" tIns="0" rIns="0" bIns="0" anchor="t">
            <a:noAutofit/>
          </a:bodyPr>
          <a:lstStyle/>
          <a:p>
            <a:pPr algn="r" rtl="1">
              <a:defRPr sz="2775" b="1">
                <a:solidFill>
                  <a:srgbClr val="F2F4FF"/>
                </a:solidFill>
                <a:latin typeface="Readex Pro"/>
                <a:ea typeface="Readex Pro"/>
                <a:cs typeface="Readex Pro"/>
              </a:defRPr>
            </a:pPr>
            <a:r>
              <a:rPr lang="ar-SA" altLang="en-US" sz="2775" b="1">
                <a:solidFill>
                  <a:srgbClr val="F2F4FF"/>
                </a:solidFill>
                <a:latin typeface="Readex Pro"/>
                <a:ea typeface="Readex Pro"/>
                <a:cs typeface="Readex Pro"/>
              </a:rPr>
              <a:t>العلم والحوار</a:t>
            </a:r>
          </a:p>
        </p:txBody>
      </p:sp>
      <p:sp>
        <p:nvSpPr>
          <p:cNvPr id="921" name="text-h4esj1-21">
            <a:extLst>
              <a:ext uri="{FF2B5EF4-FFF2-40B4-BE49-F238E27FC236}">
                <a16:creationId xmlns:a16="http://schemas.microsoft.com/office/drawing/2014/main" id="{AC25A87E-AD9F-4F4C-8518-192473DF3614}"/>
              </a:ext>
            </a:extLst>
          </p:cNvPr>
          <p:cNvSpPr>
            <a:spLocks noGrp="1"/>
          </p:cNvSpPr>
          <p:nvPr/>
        </p:nvSpPr>
        <p:spPr>
          <a:xfrm>
            <a:off x="1524000" y="7667625"/>
            <a:ext cx="4572000" cy="762000"/>
          </a:xfrm>
          <a:prstGeom prst="rect">
            <a:avLst/>
          </a:prstGeom>
          <a:noFill/>
          <a:ln w="0">
            <a:noFill/>
          </a:ln>
        </p:spPr>
        <p:txBody>
          <a:bodyPr wrap="square" lIns="0" tIns="0" rIns="0" bIns="0" anchor="t">
            <a:noAutofit/>
          </a:bodyPr>
          <a:lstStyle/>
          <a:p>
            <a:pPr algn="r" rtl="1">
              <a:defRPr sz="2175" b="0">
                <a:solidFill>
                  <a:srgbClr val="CBCFE6"/>
                </a:solidFill>
                <a:latin typeface="Readex Pro"/>
                <a:ea typeface="Readex Pro"/>
                <a:cs typeface="Readex Pro"/>
              </a:defRPr>
            </a:pPr>
            <a:r>
              <a:rPr lang="ar-SA" altLang="en-US" sz="2175" b="0">
                <a:solidFill>
                  <a:srgbClr val="CBCFE6"/>
                </a:solidFill>
                <a:latin typeface="Readex Pro"/>
                <a:ea typeface="Readex Pro"/>
                <a:cs typeface="Readex Pro"/>
              </a:rPr>
              <a:t>التعلّم وحسن السؤال والتواصل</a:t>
            </a:r>
          </a:p>
        </p:txBody>
      </p:sp>
    </p:spTree>
    <p:extLst>
      <p:ext uri="{BB962C8B-B14F-4D97-AF65-F5344CB8AC3E}">
        <p14:creationId xmlns:p14="http://schemas.microsoft.com/office/powerpoint/2010/main" val="1124452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6"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7"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C1C5B3A8-B30B-D205-8921-516C108AB9AB}" type="slidenum">
              <a:rPr sz="1800">
                <a:solidFill>
                  <a:srgbClr val="4A5590"/>
                </a:solidFill>
                <a:latin typeface="Readex Pro"/>
                <a:ea typeface="Readex Pro"/>
                <a:cs typeface="Readex Pro"/>
              </a:rPr>
              <a:t>7</a:t>
            </a:fld>
            <a:endParaRPr/>
          </a:p>
        </p:txBody>
      </p:sp>
      <p:sp>
        <p:nvSpPr>
          <p:cNvPr id="911" name="text-e23eyp-1">
            <a:extLst>
              <a:ext uri="{FF2B5EF4-FFF2-40B4-BE49-F238E27FC236}">
                <a16:creationId xmlns:a16="http://schemas.microsoft.com/office/drawing/2014/main" id="{9842D267-B0B0-4CA3-AFC0-FAF1906DF2B9}"/>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الاستكشاف والبحث</a:t>
            </a:r>
          </a:p>
        </p:txBody>
      </p:sp>
      <p:sp>
        <p:nvSpPr>
          <p:cNvPr id="912" name="slide-title">
            <a:extLst>
              <a:ext uri="{FF2B5EF4-FFF2-40B4-BE49-F238E27FC236}">
                <a16:creationId xmlns:a16="http://schemas.microsoft.com/office/drawing/2014/main" id="{EDA5A012-4144-4F31-839B-34665F0A4D65}"/>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كل حالة تفتح نموذجًا مهيّأً للمهمة</a:t>
            </a:r>
          </a:p>
        </p:txBody>
      </p:sp>
      <p:sp>
        <p:nvSpPr>
          <p:cNvPr id="913" name="text-e23eyp-3">
            <a:extLst>
              <a:ext uri="{FF2B5EF4-FFF2-40B4-BE49-F238E27FC236}">
                <a16:creationId xmlns:a16="http://schemas.microsoft.com/office/drawing/2014/main" id="{BA2D5B0B-B45F-4CA3-8E5D-DA39FA925C2E}"/>
              </a:ext>
            </a:extLst>
          </p:cNvPr>
          <p:cNvSpPr>
            <a:spLocks noGrp="1"/>
          </p:cNvSpPr>
          <p:nvPr/>
        </p:nvSpPr>
        <p:spPr>
          <a:xfrm>
            <a:off x="1428750" y="2619375"/>
            <a:ext cx="15240000" cy="762000"/>
          </a:xfrm>
          <a:prstGeom prst="rect">
            <a:avLst/>
          </a:prstGeom>
          <a:noFill/>
          <a:ln w="0">
            <a:noFill/>
          </a:ln>
        </p:spPr>
        <p:txBody>
          <a:bodyPr wrap="square" lIns="0" tIns="0" rIns="0" bIns="0" anchor="t">
            <a:noAutofit/>
          </a:bodyPr>
          <a:lstStyle/>
          <a:p>
            <a:pPr algn="r" rtl="1">
              <a:defRPr sz="2250" b="0">
                <a:solidFill>
                  <a:srgbClr val="323D68"/>
                </a:solidFill>
                <a:latin typeface="Readex Pro"/>
                <a:ea typeface="Readex Pro"/>
                <a:cs typeface="Readex Pro"/>
              </a:defRPr>
            </a:pPr>
            <a:r>
              <a:rPr lang="ar-SA" altLang="en-US" sz="2250" b="0">
                <a:solidFill>
                  <a:srgbClr val="323D68"/>
                </a:solidFill>
                <a:latin typeface="Readex Pro"/>
                <a:ea typeface="Readex Pro"/>
                <a:cs typeface="Readex Pro"/>
              </a:rPr>
              <a:t>نماذج إعداد متخصصة، وتعليمات لاستدعاء الأدوات قبل بناء الجواب</a:t>
            </a:r>
          </a:p>
        </p:txBody>
      </p:sp>
      <p:graphicFrame>
        <p:nvGraphicFramePr>
          <p:cNvPr id="922" name="Table 921"/>
          <p:cNvGraphicFramePr/>
          <p:nvPr/>
        </p:nvGraphicFramePr>
        <p:xfrm>
          <a:off x="1428750" y="3524250"/>
          <a:ext cx="15240000" cy="4762500"/>
        </p:xfrm>
        <a:graphic>
          <a:graphicData uri="http://schemas.openxmlformats.org/drawingml/2006/table">
            <a:tbl>
              <a:tblPr/>
              <a:tblGrid>
                <a:gridCol w="55245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gridCol w="4762500">
                  <a:extLst>
                    <a:ext uri="{9D8B030D-6E8A-4147-A177-3AD203B41FA5}">
                      <a16:colId xmlns:a16="http://schemas.microsoft.com/office/drawing/2014/main" val="20002"/>
                    </a:ext>
                  </a:extLst>
                </a:gridCol>
              </a:tblGrid>
              <a:tr h="1190625">
                <a:tc>
                  <a:txBody>
                    <a:bodyPr/>
                    <a:lstStyle/>
                    <a:p>
                      <a:pPr algn="r" rtl="1"/>
                      <a:r>
                        <a:rPr lang="ar-SA" altLang="en-US" sz="2175" b="1">
                          <a:solidFill>
                            <a:srgbClr val="F2F4FF"/>
                          </a:solidFill>
                          <a:latin typeface="Readex Pro"/>
                          <a:ea typeface="Readex Pro"/>
                          <a:cs typeface="Readex Pro"/>
                        </a:rPr>
                        <a:t>المخرج الذي نفحصه</a:t>
                      </a:r>
                    </a:p>
                  </a:txBody>
                  <a:tcPr anchor="ctr">
                    <a:solidFill>
                      <a:srgbClr val="6150EA"/>
                    </a:solidFill>
                  </a:tcPr>
                </a:tc>
                <a:tc>
                  <a:txBody>
                    <a:bodyPr/>
                    <a:lstStyle/>
                    <a:p>
                      <a:pPr algn="r" rtl="1"/>
                      <a:r>
                        <a:rPr lang="ar-SA" altLang="en-US" sz="2175" b="1">
                          <a:solidFill>
                            <a:srgbClr val="F2F4FF"/>
                          </a:solidFill>
                          <a:latin typeface="Readex Pro"/>
                          <a:ea typeface="Readex Pro"/>
                          <a:cs typeface="Readex Pro"/>
                        </a:rPr>
                        <a:t>إعداد النموذج</a:t>
                      </a:r>
                    </a:p>
                  </a:txBody>
                  <a:tcPr anchor="ctr">
                    <a:solidFill>
                      <a:srgbClr val="6150EA"/>
                    </a:solidFill>
                  </a:tcPr>
                </a:tc>
                <a:tc>
                  <a:txBody>
                    <a:bodyPr/>
                    <a:lstStyle/>
                    <a:p>
                      <a:pPr algn="r" rtl="1"/>
                      <a:r>
                        <a:rPr lang="ar-SA" altLang="en-US" sz="2175" b="1">
                          <a:solidFill>
                            <a:srgbClr val="F2F4FF"/>
                          </a:solidFill>
                          <a:latin typeface="Readex Pro"/>
                          <a:ea typeface="Readex Pro"/>
                          <a:cs typeface="Readex Pro"/>
                        </a:rPr>
                        <a:t>مدخل المستخدم</a:t>
                      </a:r>
                    </a:p>
                  </a:txBody>
                  <a:tcPr anchor="ctr">
                    <a:solidFill>
                      <a:srgbClr val="6150EA"/>
                    </a:solidFill>
                  </a:tcPr>
                </a:tc>
                <a:extLst>
                  <a:ext uri="{0D108BD9-81ED-4DB2-BD59-A6C34878D82A}">
                    <a16:rowId xmlns:a16="http://schemas.microsoft.com/office/drawing/2014/main" val="10000"/>
                  </a:ext>
                </a:extLst>
              </a:tr>
              <a:tr h="1190625">
                <a:tc>
                  <a:txBody>
                    <a:bodyPr/>
                    <a:lstStyle/>
                    <a:p>
                      <a:pPr algn="r" rtl="1"/>
                      <a:r>
                        <a:rPr lang="ar-SA" altLang="en-US" sz="2175" b="0">
                          <a:solidFill>
                            <a:srgbClr val="12183F"/>
                          </a:solidFill>
                          <a:latin typeface="Readex Pro"/>
                          <a:ea typeface="Readex Pro"/>
                          <a:cs typeface="Readex Pro"/>
                        </a:rPr>
                        <a:t>نص الحديث، سياقه، وعزوه</a:t>
                      </a:r>
                    </a:p>
                  </a:txBody>
                  <a:tcPr anchor="ctr">
                    <a:solidFill>
                      <a:srgbClr val="F2F4FF"/>
                    </a:solidFill>
                  </a:tcPr>
                </a:tc>
                <a:tc>
                  <a:txBody>
                    <a:bodyPr/>
                    <a:lstStyle/>
                    <a:p>
                      <a:pPr algn="r"/>
                      <a:r>
                        <a:rPr sz="2175" b="0">
                          <a:solidFill>
                            <a:srgbClr val="12183F"/>
                          </a:solidFill>
                          <a:latin typeface="Readex Pro"/>
                          <a:ea typeface="Readex Pro"/>
                          <a:cs typeface="Readex Pro"/>
                        </a:rPr>
                        <a:t>hadith-model-1</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الصلاة جامعة</a:t>
                      </a:r>
                    </a:p>
                  </a:txBody>
                  <a:tcPr anchor="ctr">
                    <a:solidFill>
                      <a:srgbClr val="F2F4FF"/>
                    </a:solidFill>
                  </a:tcPr>
                </a:tc>
                <a:extLst>
                  <a:ext uri="{0D108BD9-81ED-4DB2-BD59-A6C34878D82A}">
                    <a16:rowId xmlns:a16="http://schemas.microsoft.com/office/drawing/2014/main" val="10001"/>
                  </a:ext>
                </a:extLst>
              </a:tr>
              <a:tr h="1190625">
                <a:tc>
                  <a:txBody>
                    <a:bodyPr/>
                    <a:lstStyle/>
                    <a:p>
                      <a:pPr algn="r" rtl="1"/>
                      <a:r>
                        <a:rPr lang="ar-SA" altLang="en-US" sz="2175" b="0">
                          <a:solidFill>
                            <a:srgbClr val="12183F"/>
                          </a:solidFill>
                          <a:latin typeface="Readex Pro"/>
                          <a:ea typeface="Readex Pro"/>
                          <a:cs typeface="Readex Pro"/>
                        </a:rPr>
                        <a:t>مواضع الرواية والمقارنة</a:t>
                      </a:r>
                    </a:p>
                  </a:txBody>
                  <a:tcPr anchor="ctr">
                    <a:solidFill>
                      <a:srgbClr val="EAE7FB"/>
                    </a:solidFill>
                  </a:tcPr>
                </a:tc>
                <a:tc>
                  <a:txBody>
                    <a:bodyPr/>
                    <a:lstStyle/>
                    <a:p>
                      <a:pPr algn="r"/>
                      <a:r>
                        <a:rPr sz="2175" b="0">
                          <a:solidFill>
                            <a:srgbClr val="12183F"/>
                          </a:solidFill>
                          <a:latin typeface="Readex Pro"/>
                          <a:ea typeface="Readex Pro"/>
                          <a:cs typeface="Readex Pro"/>
                        </a:rPr>
                        <a:t>hadith-modular-agent</a:t>
                      </a:r>
                    </a:p>
                  </a:txBody>
                  <a:tcPr anchor="ctr">
                    <a:solidFill>
                      <a:srgbClr val="EAE7FB"/>
                    </a:solidFill>
                  </a:tcPr>
                </a:tc>
                <a:tc>
                  <a:txBody>
                    <a:bodyPr/>
                    <a:lstStyle/>
                    <a:p>
                      <a:pPr algn="r" rtl="1"/>
                      <a:r>
                        <a:rPr lang="ar-SA" altLang="en-US" sz="2175" b="0">
                          <a:solidFill>
                            <a:srgbClr val="12183F"/>
                          </a:solidFill>
                          <a:latin typeface="Readex Pro"/>
                          <a:ea typeface="Readex Pro"/>
                          <a:cs typeface="Readex Pro"/>
                        </a:rPr>
                        <a:t>الحج عرفة</a:t>
                      </a:r>
                    </a:p>
                  </a:txBody>
                  <a:tcPr anchor="ctr">
                    <a:solidFill>
                      <a:srgbClr val="EAE7FB"/>
                    </a:solidFill>
                  </a:tcPr>
                </a:tc>
                <a:extLst>
                  <a:ext uri="{0D108BD9-81ED-4DB2-BD59-A6C34878D82A}">
                    <a16:rowId xmlns:a16="http://schemas.microsoft.com/office/drawing/2014/main" val="10002"/>
                  </a:ext>
                </a:extLst>
              </a:tr>
              <a:tr h="1190625">
                <a:tc>
                  <a:txBody>
                    <a:bodyPr/>
                    <a:lstStyle/>
                    <a:p>
                      <a:pPr algn="r" rtl="1"/>
                      <a:r>
                        <a:rPr lang="ar-SA" altLang="en-US" sz="2175" b="0">
                          <a:solidFill>
                            <a:srgbClr val="12183F"/>
                          </a:solidFill>
                          <a:latin typeface="Readex Pro"/>
                          <a:ea typeface="Readex Pro"/>
                          <a:cs typeface="Readex Pro"/>
                        </a:rPr>
                        <a:t>شبكة الرواة وأدلة العلاقات</a:t>
                      </a:r>
                    </a:p>
                  </a:txBody>
                  <a:tcPr anchor="ctr">
                    <a:solidFill>
                      <a:srgbClr val="F2F4FF"/>
                    </a:solidFill>
                  </a:tcPr>
                </a:tc>
                <a:tc>
                  <a:txBody>
                    <a:bodyPr/>
                    <a:lstStyle/>
                    <a:p>
                      <a:pPr algn="r"/>
                      <a:r>
                        <a:rPr sz="2175" b="0">
                          <a:solidFill>
                            <a:srgbClr val="12183F"/>
                          </a:solidFill>
                          <a:latin typeface="Readex Pro"/>
                          <a:ea typeface="Readex Pro"/>
                          <a:cs typeface="Readex Pro"/>
                        </a:rPr>
                        <a:t>hadith-rijal-agent</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رواة أبي هريرة</a:t>
                      </a:r>
                    </a:p>
                  </a:txBody>
                  <a:tcPr anchor="ctr">
                    <a:solidFill>
                      <a:srgbClr val="F2F4FF"/>
                    </a:solidFill>
                  </a:tcPr>
                </a:tc>
                <a:extLst>
                  <a:ext uri="{0D108BD9-81ED-4DB2-BD59-A6C34878D82A}">
                    <a16:rowId xmlns:a16="http://schemas.microsoft.com/office/drawing/2014/main" val="10003"/>
                  </a:ext>
                </a:extLst>
              </a:tr>
            </a:tbl>
          </a:graphicData>
        </a:graphic>
      </p:graphicFrame>
      <p:sp>
        <p:nvSpPr>
          <p:cNvPr id="915" name="text-e23eyp-4">
            <a:extLst>
              <a:ext uri="{FF2B5EF4-FFF2-40B4-BE49-F238E27FC236}">
                <a16:creationId xmlns:a16="http://schemas.microsoft.com/office/drawing/2014/main" id="{D9DB472F-AEC0-453C-A5F6-30E8A1019FBE}"/>
              </a:ext>
            </a:extLst>
          </p:cNvPr>
          <p:cNvSpPr>
            <a:spLocks noGrp="1"/>
          </p:cNvSpPr>
          <p:nvPr/>
        </p:nvSpPr>
        <p:spPr>
          <a:xfrm>
            <a:off x="1619250" y="8763000"/>
            <a:ext cx="15049500" cy="514350"/>
          </a:xfrm>
          <a:prstGeom prst="rect">
            <a:avLst/>
          </a:prstGeom>
          <a:noFill/>
          <a:ln w="0">
            <a:noFill/>
          </a:ln>
        </p:spPr>
        <p:txBody>
          <a:bodyPr wrap="square" lIns="0" tIns="0" rIns="0" bIns="0" anchor="t">
            <a:noAutofit/>
          </a:bodyPr>
          <a:lstStyle/>
          <a:p>
            <a:pPr algn="r" rtl="1">
              <a:defRPr sz="2325" b="1">
                <a:solidFill>
                  <a:srgbClr val="6150EA"/>
                </a:solidFill>
                <a:latin typeface="Readex Pro"/>
                <a:ea typeface="Readex Pro"/>
                <a:cs typeface="Readex Pro"/>
              </a:defRPr>
            </a:pPr>
            <a:r>
              <a:rPr lang="ar-SA" altLang="en-US" sz="2325" b="1">
                <a:solidFill>
                  <a:srgbClr val="6150EA"/>
                </a:solidFill>
                <a:latin typeface="Readex Pro"/>
                <a:ea typeface="Readex Pro"/>
                <a:cs typeface="Readex Pro"/>
              </a:rPr>
              <a:t>دليل التعريف بالإسلام: hadith-islam-guide</a:t>
            </a:r>
          </a:p>
        </p:txBody>
      </p:sp>
    </p:spTree>
    <p:extLst>
      <p:ext uri="{BB962C8B-B14F-4D97-AF65-F5344CB8AC3E}">
        <p14:creationId xmlns:p14="http://schemas.microsoft.com/office/powerpoint/2010/main" val="1055686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22E54B70-3376-18BE-56BD-5BB8BA701776}" type="slidenum">
              <a:rPr sz="1800">
                <a:solidFill>
                  <a:srgbClr val="8E99CC"/>
                </a:solidFill>
                <a:latin typeface="Readex Pro"/>
                <a:ea typeface="Readex Pro"/>
                <a:cs typeface="Readex Pro"/>
              </a:rPr>
              <a:t>8</a:t>
            </a:fld>
            <a:endParaRPr/>
          </a:p>
        </p:txBody>
      </p:sp>
      <p:pic>
        <p:nvPicPr>
          <p:cNvPr id="929"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30"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29siqa-1">
            <a:extLst>
              <a:ext uri="{FF2B5EF4-FFF2-40B4-BE49-F238E27FC236}">
                <a16:creationId xmlns:a16="http://schemas.microsoft.com/office/drawing/2014/main" id="{47B5B547-8158-4B9B-9D2C-5C1645EF4A34}"/>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مثال بحثي من صحيح مسلم</a:t>
            </a:r>
          </a:p>
        </p:txBody>
      </p:sp>
      <p:sp>
        <p:nvSpPr>
          <p:cNvPr id="902" name="slide-title">
            <a:extLst>
              <a:ext uri="{FF2B5EF4-FFF2-40B4-BE49-F238E27FC236}">
                <a16:creationId xmlns:a16="http://schemas.microsoft.com/office/drawing/2014/main" id="{14879876-AB1C-4893-970B-8A06AA0FAE8F}"/>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قصة إسناد: تحويل «ح» وأب وجد</a:t>
            </a:r>
          </a:p>
        </p:txBody>
      </p:sp>
      <p:sp>
        <p:nvSpPr>
          <p:cNvPr id="903" name="text-29siqa-3">
            <a:extLst>
              <a:ext uri="{FF2B5EF4-FFF2-40B4-BE49-F238E27FC236}">
                <a16:creationId xmlns:a16="http://schemas.microsoft.com/office/drawing/2014/main" id="{869830BC-8A5D-4B1F-A24B-322C9FBDCCCB}"/>
              </a:ext>
            </a:extLst>
          </p:cNvPr>
          <p:cNvSpPr>
            <a:spLocks noGrp="1"/>
          </p:cNvSpPr>
          <p:nvPr/>
        </p:nvSpPr>
        <p:spPr>
          <a:xfrm>
            <a:off x="1428750" y="2619375"/>
            <a:ext cx="15240000" cy="762000"/>
          </a:xfrm>
          <a:prstGeom prst="rect">
            <a:avLst/>
          </a:prstGeom>
          <a:noFill/>
          <a:ln w="0">
            <a:noFill/>
          </a:ln>
        </p:spPr>
        <p:txBody>
          <a:bodyPr wrap="square" lIns="0" tIns="0" rIns="0" bIns="0" anchor="t">
            <a:noAutofit/>
          </a:bodyPr>
          <a:lstStyle/>
          <a:p>
            <a:pPr algn="r" rtl="1">
              <a:defRPr sz="2250" b="0">
                <a:solidFill>
                  <a:srgbClr val="CBCFE6"/>
                </a:solidFill>
                <a:latin typeface="Readex Pro"/>
                <a:ea typeface="Readex Pro"/>
                <a:cs typeface="Readex Pro"/>
              </a:defRPr>
            </a:pPr>
            <a:r>
              <a:rPr lang="ar-SA" altLang="en-US" sz="2250" b="0">
                <a:solidFill>
                  <a:srgbClr val="CBCFE6"/>
                </a:solidFill>
                <a:latin typeface="Readex Pro"/>
                <a:ea typeface="Readex Pro"/>
                <a:cs typeface="Readex Pro"/>
              </a:rPr>
              <a:t>رسم منقول من ألفاظ السند لشرح العرض البصري؛ تعيين ضمائر القرابة يحتاج دليله</a:t>
            </a:r>
          </a:p>
        </p:txBody>
      </p:sp>
      <p:sp>
        <p:nvSpPr>
          <p:cNvPr id="904" name="Rectangle: Rounded Corners 903">
            <a:extLst>
              <a:ext uri="{FF2B5EF4-FFF2-40B4-BE49-F238E27FC236}">
                <a16:creationId xmlns:a16="http://schemas.microsoft.com/office/drawing/2014/main" id="{E317F9DE-A226-4B73-8ADE-E55973DDB22A}"/>
              </a:ext>
            </a:extLst>
          </p:cNvPr>
          <p:cNvSpPr>
            <a:spLocks noGrp="1"/>
          </p:cNvSpPr>
          <p:nvPr/>
        </p:nvSpPr>
        <p:spPr>
          <a:xfrm>
            <a:off x="12763500" y="3714750"/>
            <a:ext cx="3143250" cy="742950"/>
          </a:xfrm>
          <a:prstGeom prst="roundRect">
            <a:avLst>
              <a:gd name="adj" fmla="val 15385"/>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محمد بن عباد</a:t>
            </a:r>
          </a:p>
        </p:txBody>
      </p:sp>
      <p:sp>
        <p:nvSpPr>
          <p:cNvPr id="905" name="Rectangle: Rounded Corners 904">
            <a:extLst>
              <a:ext uri="{FF2B5EF4-FFF2-40B4-BE49-F238E27FC236}">
                <a16:creationId xmlns:a16="http://schemas.microsoft.com/office/drawing/2014/main" id="{EC1A0A29-1BBE-473B-ABE7-B00CCC58F1CF}"/>
              </a:ext>
            </a:extLst>
          </p:cNvPr>
          <p:cNvSpPr>
            <a:spLocks noGrp="1"/>
          </p:cNvSpPr>
          <p:nvPr/>
        </p:nvSpPr>
        <p:spPr>
          <a:xfrm>
            <a:off x="6286500" y="3619500"/>
            <a:ext cx="3952875" cy="952500"/>
          </a:xfrm>
          <a:prstGeom prst="roundRect">
            <a:avLst>
              <a:gd name="adj" fmla="val 12000"/>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إسحاق بن إبراهيم</a:t>
            </a:r>
          </a:p>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وابن أبي خلف</a:t>
            </a:r>
          </a:p>
        </p:txBody>
      </p:sp>
      <p:sp>
        <p:nvSpPr>
          <p:cNvPr id="906" name="Rectangle: Rounded Corners 905">
            <a:extLst>
              <a:ext uri="{FF2B5EF4-FFF2-40B4-BE49-F238E27FC236}">
                <a16:creationId xmlns:a16="http://schemas.microsoft.com/office/drawing/2014/main" id="{C20FE72D-F663-4949-9F02-017D021D6E64}"/>
              </a:ext>
            </a:extLst>
          </p:cNvPr>
          <p:cNvSpPr>
            <a:spLocks noGrp="1"/>
          </p:cNvSpPr>
          <p:nvPr/>
        </p:nvSpPr>
        <p:spPr>
          <a:xfrm>
            <a:off x="13049250" y="4857750"/>
            <a:ext cx="2571750" cy="742950"/>
          </a:xfrm>
          <a:prstGeom prst="roundRect">
            <a:avLst>
              <a:gd name="adj" fmla="val 15385"/>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سفيان</a:t>
            </a:r>
          </a:p>
        </p:txBody>
      </p:sp>
      <p:sp>
        <p:nvSpPr>
          <p:cNvPr id="907" name="Rectangle: Rounded Corners 906">
            <a:extLst>
              <a:ext uri="{FF2B5EF4-FFF2-40B4-BE49-F238E27FC236}">
                <a16:creationId xmlns:a16="http://schemas.microsoft.com/office/drawing/2014/main" id="{AC3C75D6-1D15-4EC7-B1B5-48CFAF76D347}"/>
              </a:ext>
            </a:extLst>
          </p:cNvPr>
          <p:cNvSpPr>
            <a:spLocks noGrp="1"/>
          </p:cNvSpPr>
          <p:nvPr/>
        </p:nvSpPr>
        <p:spPr>
          <a:xfrm>
            <a:off x="6667500" y="4905375"/>
            <a:ext cx="3143250" cy="742950"/>
          </a:xfrm>
          <a:prstGeom prst="roundRect">
            <a:avLst>
              <a:gd name="adj" fmla="val 15385"/>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زكرياء بن عدي</a:t>
            </a:r>
          </a:p>
        </p:txBody>
      </p:sp>
      <p:sp>
        <p:nvSpPr>
          <p:cNvPr id="908" name="Rectangle: Rounded Corners 907">
            <a:extLst>
              <a:ext uri="{FF2B5EF4-FFF2-40B4-BE49-F238E27FC236}">
                <a16:creationId xmlns:a16="http://schemas.microsoft.com/office/drawing/2014/main" id="{ACEA880F-ADA8-4983-B883-AB4B7DC6F8EF}"/>
              </a:ext>
            </a:extLst>
          </p:cNvPr>
          <p:cNvSpPr>
            <a:spLocks noGrp="1"/>
          </p:cNvSpPr>
          <p:nvPr/>
        </p:nvSpPr>
        <p:spPr>
          <a:xfrm>
            <a:off x="13049250" y="6000750"/>
            <a:ext cx="2571750" cy="742950"/>
          </a:xfrm>
          <a:prstGeom prst="roundRect">
            <a:avLst>
              <a:gd name="adj" fmla="val 15385"/>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عمرو</a:t>
            </a:r>
          </a:p>
        </p:txBody>
      </p:sp>
      <p:sp>
        <p:nvSpPr>
          <p:cNvPr id="909" name="Rectangle: Rounded Corners 908">
            <a:extLst>
              <a:ext uri="{FF2B5EF4-FFF2-40B4-BE49-F238E27FC236}">
                <a16:creationId xmlns:a16="http://schemas.microsoft.com/office/drawing/2014/main" id="{48BC9336-D4F5-4AFC-9E37-7CAB6DB0B069}"/>
              </a:ext>
            </a:extLst>
          </p:cNvPr>
          <p:cNvSpPr>
            <a:spLocks noGrp="1"/>
          </p:cNvSpPr>
          <p:nvPr/>
        </p:nvSpPr>
        <p:spPr>
          <a:xfrm>
            <a:off x="6953250" y="5857875"/>
            <a:ext cx="2571750" cy="666750"/>
          </a:xfrm>
          <a:prstGeom prst="roundRect">
            <a:avLst>
              <a:gd name="adj" fmla="val 17143"/>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عبيد الله</a:t>
            </a:r>
          </a:p>
        </p:txBody>
      </p:sp>
      <p:sp>
        <p:nvSpPr>
          <p:cNvPr id="910" name="Rectangle: Rounded Corners 909">
            <a:extLst>
              <a:ext uri="{FF2B5EF4-FFF2-40B4-BE49-F238E27FC236}">
                <a16:creationId xmlns:a16="http://schemas.microsoft.com/office/drawing/2014/main" id="{E45582EE-3297-442B-8A3E-BE012784EAE5}"/>
              </a:ext>
            </a:extLst>
          </p:cNvPr>
          <p:cNvSpPr>
            <a:spLocks noGrp="1"/>
          </p:cNvSpPr>
          <p:nvPr/>
        </p:nvSpPr>
        <p:spPr>
          <a:xfrm>
            <a:off x="6286500" y="6810375"/>
            <a:ext cx="3905250" cy="666750"/>
          </a:xfrm>
          <a:prstGeom prst="roundRect">
            <a:avLst>
              <a:gd name="adj" fmla="val 17143"/>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زيد بن أبي أنيسة</a:t>
            </a:r>
          </a:p>
        </p:txBody>
      </p:sp>
      <p:sp>
        <p:nvSpPr>
          <p:cNvPr id="911" name="Rectangle: Rounded Corners 910">
            <a:extLst>
              <a:ext uri="{FF2B5EF4-FFF2-40B4-BE49-F238E27FC236}">
                <a16:creationId xmlns:a16="http://schemas.microsoft.com/office/drawing/2014/main" id="{EB00A934-5219-473C-96BB-FA7E75F48F3A}"/>
              </a:ext>
            </a:extLst>
          </p:cNvPr>
          <p:cNvSpPr>
            <a:spLocks noGrp="1"/>
          </p:cNvSpPr>
          <p:nvPr/>
        </p:nvSpPr>
        <p:spPr>
          <a:xfrm>
            <a:off x="9048750" y="7858125"/>
            <a:ext cx="4191000" cy="742950"/>
          </a:xfrm>
          <a:prstGeom prst="roundRect">
            <a:avLst>
              <a:gd name="adj" fmla="val 15385"/>
            </a:avLst>
          </a:prstGeom>
          <a:solidFill>
            <a:srgbClr val="12183F"/>
          </a:solidFill>
          <a:ln w="19050">
            <a:solidFill>
              <a:srgbClr val="6150EA"/>
            </a:solidFill>
          </a:ln>
        </p:spPr>
        <p:txBody>
          <a:bodyPr lIns="76200" tIns="47625" rIns="76200" bIns="47625" anchor="ctr">
            <a:noAutofit/>
          </a:bodyPr>
          <a:lstStyle/>
          <a:p>
            <a:pPr algn="ctr" rtl="1">
              <a:defRPr sz="2100">
                <a:solidFill>
                  <a:srgbClr val="F2F4FF"/>
                </a:solidFill>
                <a:latin typeface="Readex Pro"/>
                <a:ea typeface="Readex Pro"/>
                <a:cs typeface="Readex Pro"/>
              </a:defRPr>
            </a:pPr>
            <a:r>
              <a:rPr lang="ar-SA" altLang="en-US" sz="2100">
                <a:solidFill>
                  <a:srgbClr val="F2F4FF"/>
                </a:solidFill>
                <a:latin typeface="Readex Pro"/>
                <a:ea typeface="Readex Pro"/>
                <a:cs typeface="Readex Pro"/>
              </a:rPr>
              <a:t>سعيد بن أبي بردة</a:t>
            </a:r>
          </a:p>
        </p:txBody>
      </p:sp>
      <p:cxnSp>
        <p:nvCxnSpPr>
          <p:cNvPr id="942" name="Straight Arrow Connector 941"/>
          <p:cNvCxnSpPr>
            <a:stCxn id="904" idx="2"/>
            <a:endCxn id="906" idx="0"/>
          </p:cNvCxnSpPr>
          <p:nvPr/>
        </p:nvCxnSpPr>
        <p:spPr>
          <a:xfrm>
            <a:off x="14335125" y="4457700"/>
            <a:ext cx="0" cy="400050"/>
          </a:xfrm>
          <a:prstGeom prst="straightConnector1">
            <a:avLst/>
          </a:prstGeom>
          <a:ln w="28575">
            <a:solidFill>
              <a:srgbClr val="2EF2C2"/>
            </a:solidFill>
            <a:headEnd type="none" w="med" len="med"/>
            <a:tailEnd type="arrow" w="med" len="med"/>
          </a:ln>
        </p:spPr>
      </p:cxnSp>
      <p:cxnSp>
        <p:nvCxnSpPr>
          <p:cNvPr id="943" name="Straight Arrow Connector 942"/>
          <p:cNvCxnSpPr>
            <a:stCxn id="906" idx="2"/>
            <a:endCxn id="908" idx="0"/>
          </p:cNvCxnSpPr>
          <p:nvPr/>
        </p:nvCxnSpPr>
        <p:spPr>
          <a:xfrm>
            <a:off x="14335125" y="5600700"/>
            <a:ext cx="0" cy="400050"/>
          </a:xfrm>
          <a:prstGeom prst="straightConnector1">
            <a:avLst/>
          </a:prstGeom>
          <a:ln w="28575">
            <a:solidFill>
              <a:srgbClr val="2EF2C2"/>
            </a:solidFill>
            <a:headEnd type="none" w="med" len="med"/>
            <a:tailEnd type="arrow" w="med" len="med"/>
          </a:ln>
        </p:spPr>
      </p:cxnSp>
      <p:cxnSp>
        <p:nvCxnSpPr>
          <p:cNvPr id="944" name="Straight Arrow Connector 943"/>
          <p:cNvCxnSpPr>
            <a:stCxn id="905" idx="2"/>
            <a:endCxn id="907" idx="0"/>
          </p:cNvCxnSpPr>
          <p:nvPr/>
        </p:nvCxnSpPr>
        <p:spPr>
          <a:xfrm flipH="1">
            <a:off x="8239125" y="4572000"/>
            <a:ext cx="23813" cy="333375"/>
          </a:xfrm>
          <a:prstGeom prst="straightConnector1">
            <a:avLst/>
          </a:prstGeom>
          <a:ln w="28575">
            <a:solidFill>
              <a:srgbClr val="2EF2C2"/>
            </a:solidFill>
            <a:headEnd type="none" w="med" len="med"/>
            <a:tailEnd type="arrow" w="med" len="med"/>
          </a:ln>
        </p:spPr>
      </p:cxnSp>
      <p:cxnSp>
        <p:nvCxnSpPr>
          <p:cNvPr id="945" name="Straight Arrow Connector 944"/>
          <p:cNvCxnSpPr>
            <a:stCxn id="907" idx="2"/>
            <a:endCxn id="909" idx="0"/>
          </p:cNvCxnSpPr>
          <p:nvPr/>
        </p:nvCxnSpPr>
        <p:spPr>
          <a:xfrm>
            <a:off x="8239125" y="5648325"/>
            <a:ext cx="0" cy="209550"/>
          </a:xfrm>
          <a:prstGeom prst="straightConnector1">
            <a:avLst/>
          </a:prstGeom>
          <a:ln w="28575">
            <a:solidFill>
              <a:srgbClr val="2EF2C2"/>
            </a:solidFill>
            <a:headEnd type="none" w="med" len="med"/>
            <a:tailEnd type="arrow" w="med" len="med"/>
          </a:ln>
        </p:spPr>
      </p:cxnSp>
      <p:cxnSp>
        <p:nvCxnSpPr>
          <p:cNvPr id="946" name="Straight Arrow Connector 945"/>
          <p:cNvCxnSpPr>
            <a:stCxn id="909" idx="2"/>
            <a:endCxn id="910" idx="0"/>
          </p:cNvCxnSpPr>
          <p:nvPr/>
        </p:nvCxnSpPr>
        <p:spPr>
          <a:xfrm>
            <a:off x="8239125" y="6524625"/>
            <a:ext cx="0" cy="285750"/>
          </a:xfrm>
          <a:prstGeom prst="straightConnector1">
            <a:avLst/>
          </a:prstGeom>
          <a:ln w="28575">
            <a:solidFill>
              <a:srgbClr val="2EF2C2"/>
            </a:solidFill>
            <a:headEnd type="none" w="med" len="med"/>
            <a:tailEnd type="arrow" w="med" len="med"/>
          </a:ln>
        </p:spPr>
      </p:cxnSp>
      <p:cxnSp>
        <p:nvCxnSpPr>
          <p:cNvPr id="947" name="Straight Arrow Connector 946"/>
          <p:cNvCxnSpPr>
            <a:stCxn id="908" idx="2"/>
            <a:endCxn id="911" idx="0"/>
          </p:cNvCxnSpPr>
          <p:nvPr/>
        </p:nvCxnSpPr>
        <p:spPr>
          <a:xfrm flipH="1">
            <a:off x="11144250" y="6743700"/>
            <a:ext cx="3190875" cy="1114425"/>
          </a:xfrm>
          <a:prstGeom prst="straightConnector1">
            <a:avLst/>
          </a:prstGeom>
          <a:ln w="28575">
            <a:solidFill>
              <a:srgbClr val="2EF2C2"/>
            </a:solidFill>
            <a:headEnd type="none" w="med" len="med"/>
            <a:tailEnd type="arrow" w="med" len="med"/>
          </a:ln>
        </p:spPr>
      </p:cxnSp>
      <p:cxnSp>
        <p:nvCxnSpPr>
          <p:cNvPr id="948" name="Straight Arrow Connector 947"/>
          <p:cNvCxnSpPr>
            <a:stCxn id="910" idx="2"/>
            <a:endCxn id="911" idx="0"/>
          </p:cNvCxnSpPr>
          <p:nvPr/>
        </p:nvCxnSpPr>
        <p:spPr>
          <a:xfrm>
            <a:off x="8239125" y="7477125"/>
            <a:ext cx="2905125" cy="381000"/>
          </a:xfrm>
          <a:prstGeom prst="straightConnector1">
            <a:avLst/>
          </a:prstGeom>
          <a:ln w="28575">
            <a:solidFill>
              <a:srgbClr val="2EF2C2"/>
            </a:solidFill>
            <a:headEnd type="none" w="med" len="med"/>
            <a:tailEnd type="arrow" w="med" len="med"/>
          </a:ln>
        </p:spPr>
      </p:cxnSp>
      <p:sp>
        <p:nvSpPr>
          <p:cNvPr id="919" name="Rectangle: Rounded Corners 918">
            <a:extLst>
              <a:ext uri="{FF2B5EF4-FFF2-40B4-BE49-F238E27FC236}">
                <a16:creationId xmlns:a16="http://schemas.microsoft.com/office/drawing/2014/main" id="{135A1FB7-84C8-4A3F-9491-16333FE1A8D2}"/>
              </a:ext>
            </a:extLst>
          </p:cNvPr>
          <p:cNvSpPr>
            <a:spLocks noGrp="1"/>
          </p:cNvSpPr>
          <p:nvPr/>
        </p:nvSpPr>
        <p:spPr>
          <a:xfrm>
            <a:off x="4095750" y="7858125"/>
            <a:ext cx="2190750" cy="742950"/>
          </a:xfrm>
          <a:prstGeom prst="roundRect">
            <a:avLst>
              <a:gd name="adj" fmla="val 15385"/>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عن أبيه</a:t>
            </a:r>
          </a:p>
        </p:txBody>
      </p:sp>
      <p:sp>
        <p:nvSpPr>
          <p:cNvPr id="920" name="Rectangle: Rounded Corners 919">
            <a:extLst>
              <a:ext uri="{FF2B5EF4-FFF2-40B4-BE49-F238E27FC236}">
                <a16:creationId xmlns:a16="http://schemas.microsoft.com/office/drawing/2014/main" id="{19000D5A-B6CC-4E32-9318-08BA999135A4}"/>
              </a:ext>
            </a:extLst>
          </p:cNvPr>
          <p:cNvSpPr>
            <a:spLocks noGrp="1"/>
          </p:cNvSpPr>
          <p:nvPr/>
        </p:nvSpPr>
        <p:spPr>
          <a:xfrm>
            <a:off x="4095750" y="8905875"/>
            <a:ext cx="2190750" cy="619125"/>
          </a:xfrm>
          <a:prstGeom prst="roundRect">
            <a:avLst>
              <a:gd name="adj" fmla="val 18462"/>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عن جده</a:t>
            </a:r>
          </a:p>
        </p:txBody>
      </p:sp>
      <p:sp>
        <p:nvSpPr>
          <p:cNvPr id="921" name="Rectangle: Rounded Corners 920">
            <a:extLst>
              <a:ext uri="{FF2B5EF4-FFF2-40B4-BE49-F238E27FC236}">
                <a16:creationId xmlns:a16="http://schemas.microsoft.com/office/drawing/2014/main" id="{97C0A13F-C6F2-4240-861D-94D9DDF35956}"/>
              </a:ext>
            </a:extLst>
          </p:cNvPr>
          <p:cNvSpPr>
            <a:spLocks noGrp="1"/>
          </p:cNvSpPr>
          <p:nvPr/>
        </p:nvSpPr>
        <p:spPr>
          <a:xfrm>
            <a:off x="857250" y="8905875"/>
            <a:ext cx="2286000" cy="619125"/>
          </a:xfrm>
          <a:prstGeom prst="roundRect">
            <a:avLst>
              <a:gd name="adj" fmla="val 18462"/>
            </a:avLst>
          </a:prstGeom>
          <a:solidFill>
            <a:srgbClr val="12183F"/>
          </a:solidFill>
          <a:ln w="19050">
            <a:solidFill>
              <a:srgbClr val="6150EA"/>
            </a:solidFill>
          </a:ln>
        </p:spPr>
        <p:txBody>
          <a:bodyPr lIns="76200" tIns="47625" rIns="76200" bIns="47625" anchor="ctr">
            <a:noAutofit/>
          </a:bodyPr>
          <a:lstStyle/>
          <a:p>
            <a:pPr algn="ctr" rtl="1">
              <a:defRPr sz="2025">
                <a:solidFill>
                  <a:srgbClr val="F2F4FF"/>
                </a:solidFill>
                <a:latin typeface="Readex Pro"/>
                <a:ea typeface="Readex Pro"/>
                <a:cs typeface="Readex Pro"/>
              </a:defRPr>
            </a:pPr>
            <a:r>
              <a:rPr lang="ar-SA" altLang="en-US" sz="2025">
                <a:solidFill>
                  <a:srgbClr val="F2F4FF"/>
                </a:solidFill>
                <a:latin typeface="Readex Pro"/>
                <a:ea typeface="Readex Pro"/>
                <a:cs typeface="Readex Pro"/>
              </a:rPr>
              <a:t>النبي ﷺ</a:t>
            </a:r>
          </a:p>
        </p:txBody>
      </p:sp>
      <p:cxnSp>
        <p:nvCxnSpPr>
          <p:cNvPr id="952" name="Straight Arrow Connector 951"/>
          <p:cNvCxnSpPr>
            <a:stCxn id="911" idx="1"/>
            <a:endCxn id="919" idx="3"/>
          </p:cNvCxnSpPr>
          <p:nvPr/>
        </p:nvCxnSpPr>
        <p:spPr>
          <a:xfrm flipH="1">
            <a:off x="6286500" y="8229600"/>
            <a:ext cx="2762250" cy="0"/>
          </a:xfrm>
          <a:prstGeom prst="straightConnector1">
            <a:avLst/>
          </a:prstGeom>
          <a:ln w="28575">
            <a:solidFill>
              <a:srgbClr val="2EF2C2"/>
            </a:solidFill>
            <a:headEnd type="none" w="med" len="med"/>
            <a:tailEnd type="arrow" w="med" len="med"/>
          </a:ln>
        </p:spPr>
      </p:cxnSp>
      <p:cxnSp>
        <p:nvCxnSpPr>
          <p:cNvPr id="953" name="Straight Arrow Connector 952"/>
          <p:cNvCxnSpPr>
            <a:stCxn id="919" idx="2"/>
            <a:endCxn id="920" idx="0"/>
          </p:cNvCxnSpPr>
          <p:nvPr/>
        </p:nvCxnSpPr>
        <p:spPr>
          <a:xfrm>
            <a:off x="5191125" y="8601075"/>
            <a:ext cx="0" cy="304800"/>
          </a:xfrm>
          <a:prstGeom prst="straightConnector1">
            <a:avLst/>
          </a:prstGeom>
          <a:ln w="28575">
            <a:solidFill>
              <a:srgbClr val="2EF2C2"/>
            </a:solidFill>
            <a:headEnd type="none" w="med" len="med"/>
            <a:tailEnd type="arrow" w="med" len="med"/>
          </a:ln>
        </p:spPr>
      </p:cxnSp>
      <p:cxnSp>
        <p:nvCxnSpPr>
          <p:cNvPr id="954" name="Straight Arrow Connector 953"/>
          <p:cNvCxnSpPr>
            <a:stCxn id="920" idx="1"/>
            <a:endCxn id="921" idx="3"/>
          </p:cNvCxnSpPr>
          <p:nvPr/>
        </p:nvCxnSpPr>
        <p:spPr>
          <a:xfrm flipH="1">
            <a:off x="3143250" y="9215438"/>
            <a:ext cx="952500" cy="0"/>
          </a:xfrm>
          <a:prstGeom prst="straightConnector1">
            <a:avLst/>
          </a:prstGeom>
          <a:ln w="28575">
            <a:solidFill>
              <a:srgbClr val="2EF2C2"/>
            </a:solidFill>
            <a:headEnd type="none" w="med" len="med"/>
            <a:tailEnd type="arrow" w="med" len="med"/>
          </a:ln>
        </p:spPr>
      </p:cxnSp>
      <p:sp>
        <p:nvSpPr>
          <p:cNvPr id="925" name="text-29siqa-25">
            <a:extLst>
              <a:ext uri="{FF2B5EF4-FFF2-40B4-BE49-F238E27FC236}">
                <a16:creationId xmlns:a16="http://schemas.microsoft.com/office/drawing/2014/main" id="{CD098858-EC80-461A-81E2-7D1D0B251F61}"/>
              </a:ext>
            </a:extLst>
          </p:cNvPr>
          <p:cNvSpPr>
            <a:spLocks noGrp="1"/>
          </p:cNvSpPr>
          <p:nvPr/>
        </p:nvSpPr>
        <p:spPr>
          <a:xfrm>
            <a:off x="10953750" y="5048250"/>
            <a:ext cx="1238250" cy="952500"/>
          </a:xfrm>
          <a:prstGeom prst="rect">
            <a:avLst/>
          </a:prstGeom>
          <a:noFill/>
          <a:ln w="0">
            <a:noFill/>
          </a:ln>
        </p:spPr>
        <p:txBody>
          <a:bodyPr wrap="square" lIns="0" tIns="0" rIns="0" bIns="0" anchor="t">
            <a:noAutofit/>
          </a:bodyPr>
          <a:lstStyle/>
          <a:p>
            <a:pPr algn="ctr" rtl="1">
              <a:defRPr sz="6150" b="1">
                <a:solidFill>
                  <a:srgbClr val="2EF2C2"/>
                </a:solidFill>
                <a:latin typeface="Readex Pro"/>
                <a:ea typeface="Readex Pro"/>
                <a:cs typeface="Readex Pro"/>
              </a:defRPr>
            </a:pPr>
            <a:r>
              <a:rPr lang="ar-SA" altLang="en-US" sz="6150" b="1">
                <a:solidFill>
                  <a:srgbClr val="2EF2C2"/>
                </a:solidFill>
                <a:latin typeface="Readex Pro"/>
                <a:ea typeface="Readex Pro"/>
                <a:cs typeface="Readex Pro"/>
              </a:rPr>
              <a:t>ح</a:t>
            </a:r>
          </a:p>
        </p:txBody>
      </p:sp>
      <p:sp>
        <p:nvSpPr>
          <p:cNvPr id="926" name="text-29siqa-26">
            <a:extLst>
              <a:ext uri="{FF2B5EF4-FFF2-40B4-BE49-F238E27FC236}">
                <a16:creationId xmlns:a16="http://schemas.microsoft.com/office/drawing/2014/main" id="{F1838EF9-91BA-4DDB-BB2C-8F75C5AB5FF9}"/>
              </a:ext>
            </a:extLst>
          </p:cNvPr>
          <p:cNvSpPr>
            <a:spLocks noGrp="1"/>
          </p:cNvSpPr>
          <p:nvPr/>
        </p:nvSpPr>
        <p:spPr>
          <a:xfrm>
            <a:off x="952500" y="4619625"/>
            <a:ext cx="3381375" cy="1285875"/>
          </a:xfrm>
          <a:prstGeom prst="rect">
            <a:avLst/>
          </a:prstGeom>
          <a:noFill/>
          <a:ln w="0">
            <a:noFill/>
          </a:ln>
        </p:spPr>
        <p:txBody>
          <a:bodyPr wrap="square" lIns="0" tIns="0" rIns="0" bIns="0" anchor="t">
            <a:noAutofit/>
          </a:bodyPr>
          <a:lstStyle/>
          <a:p>
            <a:pPr algn="r" rtl="1">
              <a:defRPr sz="2850" b="1">
                <a:solidFill>
                  <a:srgbClr val="2EF2C2"/>
                </a:solidFill>
                <a:latin typeface="Readex Pro"/>
                <a:ea typeface="Readex Pro"/>
                <a:cs typeface="Readex Pro"/>
              </a:defRPr>
            </a:pPr>
            <a:r>
              <a:rPr lang="ar-SA" altLang="en-US" sz="2850" b="1">
                <a:solidFill>
                  <a:srgbClr val="2EF2C2"/>
                </a:solidFill>
                <a:latin typeface="Readex Pro"/>
                <a:ea typeface="Readex Pro"/>
                <a:cs typeface="Readex Pro"/>
              </a:rPr>
              <a:t>يلتقي الطريقان</a:t>
            </a:r>
          </a:p>
          <a:p>
            <a:pPr algn="r" rtl="1">
              <a:defRPr sz="2850" b="1">
                <a:solidFill>
                  <a:srgbClr val="2EF2C2"/>
                </a:solidFill>
                <a:latin typeface="Readex Pro"/>
                <a:ea typeface="Readex Pro"/>
                <a:cs typeface="Readex Pro"/>
              </a:defRPr>
            </a:pPr>
            <a:r>
              <a:rPr lang="ar-SA" altLang="en-US" sz="2850" b="1">
                <a:solidFill>
                  <a:srgbClr val="2EF2C2"/>
                </a:solidFill>
                <a:latin typeface="Readex Pro"/>
                <a:ea typeface="Readex Pro"/>
                <a:cs typeface="Readex Pro"/>
              </a:rPr>
              <a:t>عند سعيد</a:t>
            </a:r>
          </a:p>
        </p:txBody>
      </p:sp>
      <p:sp>
        <p:nvSpPr>
          <p:cNvPr id="927" name="text-29siqa-27">
            <a:extLst>
              <a:ext uri="{FF2B5EF4-FFF2-40B4-BE49-F238E27FC236}">
                <a16:creationId xmlns:a16="http://schemas.microsoft.com/office/drawing/2014/main" id="{DC0EA8E3-871A-4C06-B506-FEC07063B58B}"/>
              </a:ext>
            </a:extLst>
          </p:cNvPr>
          <p:cNvSpPr>
            <a:spLocks noGrp="1"/>
          </p:cNvSpPr>
          <p:nvPr/>
        </p:nvSpPr>
        <p:spPr>
          <a:xfrm>
            <a:off x="952500" y="6191250"/>
            <a:ext cx="3524250" cy="1333500"/>
          </a:xfrm>
          <a:prstGeom prst="rect">
            <a:avLst/>
          </a:prstGeom>
          <a:noFill/>
          <a:ln w="0">
            <a:noFill/>
          </a:ln>
        </p:spPr>
        <p:txBody>
          <a:bodyPr wrap="square" lIns="0" tIns="0" rIns="0" bIns="0" anchor="t">
            <a:noAutofit/>
          </a:bodyPr>
          <a:lstStyle/>
          <a:p>
            <a:pPr algn="r" rtl="1">
              <a:defRPr sz="2025" b="0">
                <a:solidFill>
                  <a:srgbClr val="CBCFE6"/>
                </a:solidFill>
                <a:latin typeface="Readex Pro"/>
                <a:ea typeface="Readex Pro"/>
                <a:cs typeface="Readex Pro"/>
              </a:defRPr>
            </a:pPr>
            <a:r>
              <a:rPr lang="ar-SA" altLang="en-US" sz="2025" b="0">
                <a:solidFill>
                  <a:srgbClr val="CBCFE6"/>
                </a:solidFill>
                <a:latin typeface="Readex Pro"/>
                <a:ea typeface="Readex Pro"/>
                <a:cs typeface="Readex Pro"/>
              </a:rPr>
              <a:t>النقر على الرابط في المنتج</a:t>
            </a:r>
          </a:p>
          <a:p>
            <a:pPr algn="r" rtl="1">
              <a:defRPr sz="2025" b="0">
                <a:solidFill>
                  <a:srgbClr val="CBCFE6"/>
                </a:solidFill>
                <a:latin typeface="Readex Pro"/>
                <a:ea typeface="Readex Pro"/>
                <a:cs typeface="Readex Pro"/>
              </a:defRPr>
            </a:pPr>
            <a:r>
              <a:rPr lang="ar-SA" altLang="en-US" sz="2025" b="0">
                <a:solidFill>
                  <a:srgbClr val="CBCFE6"/>
                </a:solidFill>
                <a:latin typeface="Readex Pro"/>
                <a:ea typeface="Readex Pro"/>
                <a:cs typeface="Readex Pro"/>
              </a:rPr>
              <a:t>يطلب نصه ومصدره.</a:t>
            </a:r>
          </a:p>
          <a:p>
            <a:pPr algn="r" rtl="1">
              <a:defRPr sz="2025" b="0">
                <a:solidFill>
                  <a:srgbClr val="CBCFE6"/>
                </a:solidFill>
                <a:latin typeface="Readex Pro"/>
                <a:ea typeface="Readex Pro"/>
                <a:cs typeface="Readex Pro"/>
              </a:defRPr>
            </a:pPr>
            <a:r>
              <a:rPr lang="ar-SA" altLang="en-US" sz="2025" b="0">
                <a:solidFill>
                  <a:srgbClr val="CBCFE6"/>
                </a:solidFill>
                <a:latin typeface="Readex Pro"/>
                <a:ea typeface="Readex Pro"/>
                <a:cs typeface="Readex Pro"/>
              </a:rPr>
              <a:t>الرسم وحده لا يصحّح الحديث.</a:t>
            </a:r>
          </a:p>
        </p:txBody>
      </p:sp>
    </p:spTree>
    <p:extLst>
      <p:ext uri="{BB962C8B-B14F-4D97-AF65-F5344CB8AC3E}">
        <p14:creationId xmlns:p14="http://schemas.microsoft.com/office/powerpoint/2010/main" val="112445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3"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24"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44235D47-801C-AA1F-E2A0-5E98061CBF6D}" type="slidenum">
              <a:rPr sz="1800">
                <a:solidFill>
                  <a:srgbClr val="4A5590"/>
                </a:solidFill>
                <a:latin typeface="Readex Pro"/>
                <a:ea typeface="Readex Pro"/>
                <a:cs typeface="Readex Pro"/>
              </a:rPr>
              <a:t>9</a:t>
            </a:fld>
            <a:endParaRPr/>
          </a:p>
        </p:txBody>
      </p:sp>
      <p:sp>
        <p:nvSpPr>
          <p:cNvPr id="911" name="text-7zo9fr-1">
            <a:extLst>
              <a:ext uri="{FF2B5EF4-FFF2-40B4-BE49-F238E27FC236}">
                <a16:creationId xmlns:a16="http://schemas.microsoft.com/office/drawing/2014/main" id="{9087A74D-350F-4794-BB4A-CBB62E1E77CC}"/>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ثلاث حزم بحثية أُعدّت للمقارنة</a:t>
            </a:r>
          </a:p>
        </p:txBody>
      </p:sp>
      <p:sp>
        <p:nvSpPr>
          <p:cNvPr id="912" name="slide-title">
            <a:extLst>
              <a:ext uri="{FF2B5EF4-FFF2-40B4-BE49-F238E27FC236}">
                <a16:creationId xmlns:a16="http://schemas.microsoft.com/office/drawing/2014/main" id="{D89B6448-B1EE-4E8B-943B-CEB41DF4B6FA}"/>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من حديث منفرد إلى عائلة روايات</a:t>
            </a:r>
          </a:p>
        </p:txBody>
      </p:sp>
      <p:sp>
        <p:nvSpPr>
          <p:cNvPr id="913" name="text-7zo9fr-3">
            <a:extLst>
              <a:ext uri="{FF2B5EF4-FFF2-40B4-BE49-F238E27FC236}">
                <a16:creationId xmlns:a16="http://schemas.microsoft.com/office/drawing/2014/main" id="{8616555A-B9AE-400A-B4CD-60C527D6BD97}"/>
              </a:ext>
            </a:extLst>
          </p:cNvPr>
          <p:cNvSpPr>
            <a:spLocks noGrp="1"/>
          </p:cNvSpPr>
          <p:nvPr/>
        </p:nvSpPr>
        <p:spPr>
          <a:xfrm>
            <a:off x="11620500" y="3667125"/>
            <a:ext cx="5048250" cy="666750"/>
          </a:xfrm>
          <a:prstGeom prst="rect">
            <a:avLst/>
          </a:prstGeom>
          <a:noFill/>
          <a:ln w="0">
            <a:noFill/>
          </a:ln>
        </p:spPr>
        <p:txBody>
          <a:bodyPr wrap="square" lIns="0" tIns="0" rIns="0" bIns="0" anchor="t">
            <a:noAutofit/>
          </a:bodyPr>
          <a:lstStyle/>
          <a:p>
            <a:pPr algn="r">
              <a:defRPr sz="4050" b="1">
                <a:solidFill>
                  <a:srgbClr val="6150EA"/>
                </a:solidFill>
                <a:latin typeface="Readex Pro"/>
                <a:ea typeface="Readex Pro"/>
                <a:cs typeface="Readex Pro"/>
              </a:defRPr>
            </a:pPr>
            <a:r>
              <a:rPr sz="4050" b="1">
                <a:solidFill>
                  <a:srgbClr val="6150EA"/>
                </a:solidFill>
                <a:latin typeface="Readex Pro"/>
                <a:ea typeface="Readex Pro"/>
                <a:cs typeface="Readex Pro"/>
              </a:rPr>
              <a:t>01</a:t>
            </a:r>
          </a:p>
        </p:txBody>
      </p:sp>
      <p:sp>
        <p:nvSpPr>
          <p:cNvPr id="914" name="text-7zo9fr-4">
            <a:extLst>
              <a:ext uri="{FF2B5EF4-FFF2-40B4-BE49-F238E27FC236}">
                <a16:creationId xmlns:a16="http://schemas.microsoft.com/office/drawing/2014/main" id="{3B4188DD-1A9D-4242-AAAF-7875FCAB9A05}"/>
              </a:ext>
            </a:extLst>
          </p:cNvPr>
          <p:cNvSpPr>
            <a:spLocks noGrp="1"/>
          </p:cNvSpPr>
          <p:nvPr/>
        </p:nvSpPr>
        <p:spPr>
          <a:xfrm>
            <a:off x="11620500" y="4467225"/>
            <a:ext cx="5048250" cy="666750"/>
          </a:xfrm>
          <a:prstGeom prst="rect">
            <a:avLst/>
          </a:prstGeom>
          <a:noFill/>
          <a:ln w="0">
            <a:noFill/>
          </a:ln>
        </p:spPr>
        <p:txBody>
          <a:bodyPr wrap="square" lIns="0" tIns="0" rIns="0" bIns="0" anchor="t">
            <a:noAutofit/>
          </a:bodyPr>
          <a:lstStyle/>
          <a:p>
            <a:pPr algn="r" rtl="1">
              <a:defRPr sz="3000" b="1">
                <a:solidFill>
                  <a:srgbClr val="12183F"/>
                </a:solidFill>
                <a:latin typeface="Readex Pro"/>
                <a:ea typeface="Readex Pro"/>
                <a:cs typeface="Readex Pro"/>
              </a:defRPr>
            </a:pPr>
            <a:r>
              <a:rPr lang="ar-SA" altLang="en-US" sz="3000" b="1">
                <a:solidFill>
                  <a:srgbClr val="12183F"/>
                </a:solidFill>
                <a:latin typeface="Readex Pro"/>
                <a:ea typeface="Readex Pro"/>
                <a:cs typeface="Readex Pro"/>
              </a:rPr>
              <a:t>الأعمال بالنيات</a:t>
            </a:r>
          </a:p>
        </p:txBody>
      </p:sp>
      <p:sp>
        <p:nvSpPr>
          <p:cNvPr id="915" name="text-7zo9fr-5">
            <a:extLst>
              <a:ext uri="{FF2B5EF4-FFF2-40B4-BE49-F238E27FC236}">
                <a16:creationId xmlns:a16="http://schemas.microsoft.com/office/drawing/2014/main" id="{5ED707FA-65CA-45B2-B380-CF01EF71270A}"/>
              </a:ext>
            </a:extLst>
          </p:cNvPr>
          <p:cNvSpPr>
            <a:spLocks noGrp="1"/>
          </p:cNvSpPr>
          <p:nvPr/>
        </p:nvSpPr>
        <p:spPr>
          <a:xfrm>
            <a:off x="11620500" y="5286375"/>
            <a:ext cx="5048250" cy="247650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تتبّع المدار وتسلسل الرواية</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والتمييز بين تكرر الموضع</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وتعدد الطريق.</a:t>
            </a:r>
          </a:p>
        </p:txBody>
      </p:sp>
      <p:sp>
        <p:nvSpPr>
          <p:cNvPr id="916" name="text-7zo9fr-6">
            <a:extLst>
              <a:ext uri="{FF2B5EF4-FFF2-40B4-BE49-F238E27FC236}">
                <a16:creationId xmlns:a16="http://schemas.microsoft.com/office/drawing/2014/main" id="{03DE389A-2954-4999-AED6-F41278FFC75F}"/>
              </a:ext>
            </a:extLst>
          </p:cNvPr>
          <p:cNvSpPr>
            <a:spLocks noGrp="1"/>
          </p:cNvSpPr>
          <p:nvPr/>
        </p:nvSpPr>
        <p:spPr>
          <a:xfrm>
            <a:off x="6477000" y="3667125"/>
            <a:ext cx="4667250" cy="666750"/>
          </a:xfrm>
          <a:prstGeom prst="rect">
            <a:avLst/>
          </a:prstGeom>
          <a:noFill/>
          <a:ln w="0">
            <a:noFill/>
          </a:ln>
        </p:spPr>
        <p:txBody>
          <a:bodyPr wrap="square" lIns="0" tIns="0" rIns="0" bIns="0" anchor="t">
            <a:noAutofit/>
          </a:bodyPr>
          <a:lstStyle/>
          <a:p>
            <a:pPr algn="r">
              <a:defRPr sz="4050" b="1">
                <a:solidFill>
                  <a:srgbClr val="6150EA"/>
                </a:solidFill>
                <a:latin typeface="Readex Pro"/>
                <a:ea typeface="Readex Pro"/>
                <a:cs typeface="Readex Pro"/>
              </a:defRPr>
            </a:pPr>
            <a:r>
              <a:rPr sz="4050" b="1">
                <a:solidFill>
                  <a:srgbClr val="6150EA"/>
                </a:solidFill>
                <a:latin typeface="Readex Pro"/>
                <a:ea typeface="Readex Pro"/>
                <a:cs typeface="Readex Pro"/>
              </a:rPr>
              <a:t>02</a:t>
            </a:r>
          </a:p>
        </p:txBody>
      </p:sp>
      <p:sp>
        <p:nvSpPr>
          <p:cNvPr id="917" name="text-7zo9fr-7">
            <a:extLst>
              <a:ext uri="{FF2B5EF4-FFF2-40B4-BE49-F238E27FC236}">
                <a16:creationId xmlns:a16="http://schemas.microsoft.com/office/drawing/2014/main" id="{08222937-2FF6-465B-B998-F8420C89AC4A}"/>
              </a:ext>
            </a:extLst>
          </p:cNvPr>
          <p:cNvSpPr>
            <a:spLocks noGrp="1"/>
          </p:cNvSpPr>
          <p:nvPr/>
        </p:nvSpPr>
        <p:spPr>
          <a:xfrm>
            <a:off x="6477000" y="4467225"/>
            <a:ext cx="4667250" cy="666750"/>
          </a:xfrm>
          <a:prstGeom prst="rect">
            <a:avLst/>
          </a:prstGeom>
          <a:noFill/>
          <a:ln w="0">
            <a:noFill/>
          </a:ln>
        </p:spPr>
        <p:txBody>
          <a:bodyPr wrap="square" lIns="0" tIns="0" rIns="0" bIns="0" anchor="t">
            <a:noAutofit/>
          </a:bodyPr>
          <a:lstStyle/>
          <a:p>
            <a:pPr algn="r" rtl="1">
              <a:defRPr sz="3000" b="1">
                <a:solidFill>
                  <a:srgbClr val="12183F"/>
                </a:solidFill>
                <a:latin typeface="Readex Pro"/>
                <a:ea typeface="Readex Pro"/>
                <a:cs typeface="Readex Pro"/>
              </a:defRPr>
            </a:pPr>
            <a:r>
              <a:rPr lang="ar-SA" altLang="en-US" sz="3000" b="1">
                <a:solidFill>
                  <a:srgbClr val="12183F"/>
                </a:solidFill>
                <a:latin typeface="Readex Pro"/>
                <a:ea typeface="Readex Pro"/>
                <a:cs typeface="Readex Pro"/>
              </a:rPr>
              <a:t>خيرًا أو ليصمت</a:t>
            </a:r>
          </a:p>
        </p:txBody>
      </p:sp>
      <p:sp>
        <p:nvSpPr>
          <p:cNvPr id="918" name="text-7zo9fr-8">
            <a:extLst>
              <a:ext uri="{FF2B5EF4-FFF2-40B4-BE49-F238E27FC236}">
                <a16:creationId xmlns:a16="http://schemas.microsoft.com/office/drawing/2014/main" id="{03CCF4A5-0521-4BC5-9CDB-46940B9AB1F4}"/>
              </a:ext>
            </a:extLst>
          </p:cNvPr>
          <p:cNvSpPr>
            <a:spLocks noGrp="1"/>
          </p:cNvSpPr>
          <p:nvPr/>
        </p:nvSpPr>
        <p:spPr>
          <a:xfrm>
            <a:off x="6477000" y="5286375"/>
            <a:ext cx="4667250" cy="247650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مقارنة الألفاظ والمواضع</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والصحابة، مع الرجوع</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إلى كل نص على حدة.</a:t>
            </a:r>
          </a:p>
        </p:txBody>
      </p:sp>
      <p:sp>
        <p:nvSpPr>
          <p:cNvPr id="919" name="text-7zo9fr-9">
            <a:extLst>
              <a:ext uri="{FF2B5EF4-FFF2-40B4-BE49-F238E27FC236}">
                <a16:creationId xmlns:a16="http://schemas.microsoft.com/office/drawing/2014/main" id="{927656B1-C13E-4F60-962E-A60A58367222}"/>
              </a:ext>
            </a:extLst>
          </p:cNvPr>
          <p:cNvSpPr>
            <a:spLocks noGrp="1"/>
          </p:cNvSpPr>
          <p:nvPr/>
        </p:nvSpPr>
        <p:spPr>
          <a:xfrm>
            <a:off x="1428750" y="3667125"/>
            <a:ext cx="4524375" cy="666750"/>
          </a:xfrm>
          <a:prstGeom prst="rect">
            <a:avLst/>
          </a:prstGeom>
          <a:noFill/>
          <a:ln w="0">
            <a:noFill/>
          </a:ln>
        </p:spPr>
        <p:txBody>
          <a:bodyPr wrap="square" lIns="0" tIns="0" rIns="0" bIns="0" anchor="t">
            <a:noAutofit/>
          </a:bodyPr>
          <a:lstStyle/>
          <a:p>
            <a:pPr algn="r">
              <a:defRPr sz="4050" b="1">
                <a:solidFill>
                  <a:srgbClr val="6150EA"/>
                </a:solidFill>
                <a:latin typeface="Readex Pro"/>
                <a:ea typeface="Readex Pro"/>
                <a:cs typeface="Readex Pro"/>
              </a:defRPr>
            </a:pPr>
            <a:r>
              <a:rPr sz="4050" b="1">
                <a:solidFill>
                  <a:srgbClr val="6150EA"/>
                </a:solidFill>
                <a:latin typeface="Readex Pro"/>
                <a:ea typeface="Readex Pro"/>
                <a:cs typeface="Readex Pro"/>
              </a:rPr>
              <a:t>03</a:t>
            </a:r>
          </a:p>
        </p:txBody>
      </p:sp>
      <p:sp>
        <p:nvSpPr>
          <p:cNvPr id="920" name="text-7zo9fr-10">
            <a:extLst>
              <a:ext uri="{FF2B5EF4-FFF2-40B4-BE49-F238E27FC236}">
                <a16:creationId xmlns:a16="http://schemas.microsoft.com/office/drawing/2014/main" id="{C2896528-2453-484B-B734-12F342B7F777}"/>
              </a:ext>
            </a:extLst>
          </p:cNvPr>
          <p:cNvSpPr>
            <a:spLocks noGrp="1"/>
          </p:cNvSpPr>
          <p:nvPr/>
        </p:nvSpPr>
        <p:spPr>
          <a:xfrm>
            <a:off x="1428750" y="4467225"/>
            <a:ext cx="4524375" cy="666750"/>
          </a:xfrm>
          <a:prstGeom prst="rect">
            <a:avLst/>
          </a:prstGeom>
          <a:noFill/>
          <a:ln w="0">
            <a:noFill/>
          </a:ln>
        </p:spPr>
        <p:txBody>
          <a:bodyPr wrap="square" lIns="0" tIns="0" rIns="0" bIns="0" anchor="t">
            <a:noAutofit/>
          </a:bodyPr>
          <a:lstStyle/>
          <a:p>
            <a:pPr algn="r" rtl="1">
              <a:defRPr sz="3000" b="1">
                <a:solidFill>
                  <a:srgbClr val="12183F"/>
                </a:solidFill>
                <a:latin typeface="Readex Pro"/>
                <a:ea typeface="Readex Pro"/>
                <a:cs typeface="Readex Pro"/>
              </a:defRPr>
            </a:pPr>
            <a:r>
              <a:rPr lang="ar-SA" altLang="en-US" sz="3000" b="1">
                <a:solidFill>
                  <a:srgbClr val="12183F"/>
                </a:solidFill>
                <a:latin typeface="Readex Pro"/>
                <a:ea typeface="Readex Pro"/>
                <a:cs typeface="Readex Pro"/>
              </a:rPr>
              <a:t>صلاة الكسوف</a:t>
            </a:r>
          </a:p>
        </p:txBody>
      </p:sp>
      <p:sp>
        <p:nvSpPr>
          <p:cNvPr id="921" name="text-7zo9fr-11">
            <a:extLst>
              <a:ext uri="{FF2B5EF4-FFF2-40B4-BE49-F238E27FC236}">
                <a16:creationId xmlns:a16="http://schemas.microsoft.com/office/drawing/2014/main" id="{B05D8632-09E9-4760-B6A9-6A2C7615A913}"/>
              </a:ext>
            </a:extLst>
          </p:cNvPr>
          <p:cNvSpPr>
            <a:spLocks noGrp="1"/>
          </p:cNvSpPr>
          <p:nvPr/>
        </p:nvSpPr>
        <p:spPr>
          <a:xfrm>
            <a:off x="1428750" y="5286375"/>
            <a:ext cx="4524375" cy="247650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فك التحويل «ح»</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وتمييز الطرق الملتقية</a:t>
            </a:r>
          </a:p>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عن النصوص المتجاورة.</a:t>
            </a:r>
          </a:p>
        </p:txBody>
      </p:sp>
      <p:sp>
        <p:nvSpPr>
          <p:cNvPr id="922" name="text-7zo9fr-12">
            <a:extLst>
              <a:ext uri="{FF2B5EF4-FFF2-40B4-BE49-F238E27FC236}">
                <a16:creationId xmlns:a16="http://schemas.microsoft.com/office/drawing/2014/main" id="{311FC51F-7EC7-49D6-8D54-52F063CA65AA}"/>
              </a:ext>
            </a:extLst>
          </p:cNvPr>
          <p:cNvSpPr>
            <a:spLocks noGrp="1"/>
          </p:cNvSpPr>
          <p:nvPr/>
        </p:nvSpPr>
        <p:spPr>
          <a:xfrm>
            <a:off x="1619250" y="8572500"/>
            <a:ext cx="14954250" cy="714375"/>
          </a:xfrm>
          <a:prstGeom prst="rect">
            <a:avLst/>
          </a:prstGeom>
          <a:noFill/>
          <a:ln w="0">
            <a:noFill/>
          </a:ln>
        </p:spPr>
        <p:txBody>
          <a:bodyPr wrap="square" lIns="0" tIns="0" rIns="0" bIns="0" anchor="t">
            <a:noAutofit/>
          </a:bodyPr>
          <a:lstStyle/>
          <a:p>
            <a:pPr algn="r" rtl="1">
              <a:defRPr sz="2250" b="1">
                <a:solidFill>
                  <a:srgbClr val="6150EA"/>
                </a:solidFill>
                <a:latin typeface="Readex Pro"/>
                <a:ea typeface="Readex Pro"/>
                <a:cs typeface="Readex Pro"/>
              </a:defRPr>
            </a:pPr>
            <a:r>
              <a:rPr lang="ar-SA" altLang="en-US" sz="2250" b="1">
                <a:solidFill>
                  <a:srgbClr val="6150EA"/>
                </a:solidFill>
                <a:latin typeface="Readex Pro"/>
                <a:ea typeface="Readex Pro"/>
                <a:cs typeface="Readex Pro"/>
              </a:rPr>
              <a:t>الحزم عينات دراسة؛ لا تعني استيعاب جميع الطرق أو اعتماد نتائج العلل</a:t>
            </a:r>
          </a:p>
        </p:txBody>
      </p:sp>
    </p:spTree>
    <p:extLst>
      <p:ext uri="{BB962C8B-B14F-4D97-AF65-F5344CB8AC3E}">
        <p14:creationId xmlns:p14="http://schemas.microsoft.com/office/powerpoint/2010/main" val="1055686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DB7BEEEC-A170-5376-2B6E-CB54687B0CB1}" type="slidenum">
              <a:rPr sz="1800">
                <a:solidFill>
                  <a:srgbClr val="8E99CC"/>
                </a:solidFill>
                <a:latin typeface="Readex Pro"/>
                <a:ea typeface="Readex Pro"/>
                <a:cs typeface="Readex Pro"/>
              </a:rPr>
              <a:t>10</a:t>
            </a:fld>
            <a:endParaRPr/>
          </a:p>
        </p:txBody>
      </p:sp>
      <p:pic>
        <p:nvPicPr>
          <p:cNvPr id="914"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5"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fp3ln3-1">
            <a:extLst>
              <a:ext uri="{FF2B5EF4-FFF2-40B4-BE49-F238E27FC236}">
                <a16:creationId xmlns:a16="http://schemas.microsoft.com/office/drawing/2014/main" id="{4E4769BC-ABE3-4E05-A486-221D683E9D97}"/>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العمارة التقنية</a:t>
            </a:r>
          </a:p>
        </p:txBody>
      </p:sp>
      <p:sp>
        <p:nvSpPr>
          <p:cNvPr id="902" name="slide-title">
            <a:extLst>
              <a:ext uri="{FF2B5EF4-FFF2-40B4-BE49-F238E27FC236}">
                <a16:creationId xmlns:a16="http://schemas.microsoft.com/office/drawing/2014/main" id="{80BE83A7-0700-41E9-A894-8244E505C970}"/>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تخصّص المهمة فوق منصة محادثة جاهزة</a:t>
            </a:r>
          </a:p>
        </p:txBody>
      </p:sp>
      <p:sp>
        <p:nvSpPr>
          <p:cNvPr id="903" name="text-fp3ln3-3">
            <a:extLst>
              <a:ext uri="{FF2B5EF4-FFF2-40B4-BE49-F238E27FC236}">
                <a16:creationId xmlns:a16="http://schemas.microsoft.com/office/drawing/2014/main" id="{C04EF68C-81FE-4409-B55A-5E176C4233C1}"/>
              </a:ext>
            </a:extLst>
          </p:cNvPr>
          <p:cNvSpPr>
            <a:spLocks noGrp="1"/>
          </p:cNvSpPr>
          <p:nvPr/>
        </p:nvSpPr>
        <p:spPr>
          <a:xfrm>
            <a:off x="1428750" y="2619375"/>
            <a:ext cx="15240000" cy="762000"/>
          </a:xfrm>
          <a:prstGeom prst="rect">
            <a:avLst/>
          </a:prstGeom>
          <a:noFill/>
          <a:ln w="0">
            <a:noFill/>
          </a:ln>
        </p:spPr>
        <p:txBody>
          <a:bodyPr wrap="square" lIns="0" tIns="0" rIns="0" bIns="0" anchor="t">
            <a:noAutofit/>
          </a:bodyPr>
          <a:lstStyle/>
          <a:p>
            <a:pPr algn="r" rtl="1">
              <a:defRPr sz="2250" b="0">
                <a:solidFill>
                  <a:srgbClr val="CBCFE6"/>
                </a:solidFill>
                <a:latin typeface="Readex Pro"/>
                <a:ea typeface="Readex Pro"/>
                <a:cs typeface="Readex Pro"/>
              </a:defRPr>
            </a:pPr>
            <a:r>
              <a:rPr lang="ar-SA" altLang="en-US" sz="2250" b="0">
                <a:solidFill>
                  <a:srgbClr val="CBCFE6"/>
                </a:solidFill>
                <a:latin typeface="Readex Pro"/>
                <a:ea typeface="Readex Pro"/>
                <a:cs typeface="Readex Pro"/>
              </a:rPr>
              <a:t>Open WebUI هو أساس المحادثة؛ وإضافة المشروع هي رحلة الحديث وأدواته وضوابطه</a:t>
            </a:r>
          </a:p>
        </p:txBody>
      </p:sp>
      <p:sp>
        <p:nvSpPr>
          <p:cNvPr id="904" name="Rectangle: Rounded Corners 903">
            <a:extLst>
              <a:ext uri="{FF2B5EF4-FFF2-40B4-BE49-F238E27FC236}">
                <a16:creationId xmlns:a16="http://schemas.microsoft.com/office/drawing/2014/main" id="{3CCF6BEC-EA16-481D-9D4C-2A388F0BA737}"/>
              </a:ext>
            </a:extLst>
          </p:cNvPr>
          <p:cNvSpPr>
            <a:spLocks noGrp="1"/>
          </p:cNvSpPr>
          <p:nvPr/>
        </p:nvSpPr>
        <p:spPr>
          <a:xfrm>
            <a:off x="13049250" y="4000500"/>
            <a:ext cx="3381375" cy="1571625"/>
          </a:xfrm>
          <a:prstGeom prst="roundRect">
            <a:avLst>
              <a:gd name="adj" fmla="val 7273"/>
            </a:avLst>
          </a:prstGeom>
          <a:solidFill>
            <a:srgbClr val="12183F"/>
          </a:solidFill>
          <a:ln w="19050">
            <a:solidFill>
              <a:srgbClr val="6150EA"/>
            </a:solidFill>
          </a:ln>
        </p:spPr>
        <p:txBody>
          <a:bodyPr lIns="76200" tIns="47625" rIns="76200" bIns="47625" anchor="ctr">
            <a:noAutofit/>
          </a:bodyPr>
          <a:lstStyle/>
          <a:p>
            <a:pPr algn="ctr" rtl="1">
              <a:defRPr sz="2325">
                <a:solidFill>
                  <a:srgbClr val="F2F4FF"/>
                </a:solidFill>
                <a:latin typeface="Readex Pro"/>
                <a:ea typeface="Readex Pro"/>
                <a:cs typeface="Readex Pro"/>
              </a:defRPr>
            </a:pPr>
            <a:r>
              <a:rPr lang="ar-SA" altLang="en-US" sz="2325">
                <a:solidFill>
                  <a:srgbClr val="F2F4FF"/>
                </a:solidFill>
                <a:latin typeface="Readex Pro"/>
                <a:ea typeface="Readex Pro"/>
                <a:cs typeface="Readex Pro"/>
              </a:rPr>
              <a:t>المستفيد</a:t>
            </a:r>
          </a:p>
          <a:p>
            <a:pPr algn="ctr" rtl="1">
              <a:defRPr sz="2325">
                <a:solidFill>
                  <a:srgbClr val="F2F4FF"/>
                </a:solidFill>
                <a:latin typeface="Readex Pro"/>
                <a:ea typeface="Readex Pro"/>
                <a:cs typeface="Readex Pro"/>
              </a:defRPr>
            </a:pPr>
            <a:r>
              <a:rPr lang="ar-SA" altLang="en-US" sz="2325">
                <a:solidFill>
                  <a:srgbClr val="F2F4FF"/>
                </a:solidFill>
                <a:latin typeface="Readex Pro"/>
                <a:ea typeface="Readex Pro"/>
                <a:cs typeface="Readex Pro"/>
              </a:rPr>
              <a:t>سؤال طبيعي وحالة جاهزة</a:t>
            </a:r>
          </a:p>
        </p:txBody>
      </p:sp>
      <p:sp>
        <p:nvSpPr>
          <p:cNvPr id="905" name="Rectangle: Rounded Corners 904">
            <a:extLst>
              <a:ext uri="{FF2B5EF4-FFF2-40B4-BE49-F238E27FC236}">
                <a16:creationId xmlns:a16="http://schemas.microsoft.com/office/drawing/2014/main" id="{EAF0F702-1DF6-4A45-A947-975BF86602CC}"/>
              </a:ext>
            </a:extLst>
          </p:cNvPr>
          <p:cNvSpPr>
            <a:spLocks noGrp="1"/>
          </p:cNvSpPr>
          <p:nvPr/>
        </p:nvSpPr>
        <p:spPr>
          <a:xfrm>
            <a:off x="9239250" y="4000500"/>
            <a:ext cx="3381375" cy="1571625"/>
          </a:xfrm>
          <a:prstGeom prst="roundRect">
            <a:avLst>
              <a:gd name="adj" fmla="val 7273"/>
            </a:avLst>
          </a:prstGeom>
          <a:solidFill>
            <a:srgbClr val="6150EA"/>
          </a:solidFill>
          <a:ln w="19050">
            <a:solidFill>
              <a:srgbClr val="6150EA"/>
            </a:solidFill>
          </a:ln>
        </p:spPr>
        <p:txBody>
          <a:bodyPr lIns="76200" tIns="47625" rIns="76200" bIns="47625" anchor="ctr">
            <a:noAutofit/>
          </a:bodyPr>
          <a:lstStyle/>
          <a:p>
            <a:pPr algn="ctr" rtl="1">
              <a:defRPr sz="2325">
                <a:solidFill>
                  <a:srgbClr val="F2F4FF"/>
                </a:solidFill>
                <a:latin typeface="Readex Pro"/>
                <a:ea typeface="Readex Pro"/>
                <a:cs typeface="Readex Pro"/>
              </a:defRPr>
            </a:pPr>
            <a:r>
              <a:rPr lang="ar-SA" altLang="en-US" sz="2325">
                <a:solidFill>
                  <a:srgbClr val="F2F4FF"/>
                </a:solidFill>
                <a:latin typeface="Readex Pro"/>
                <a:ea typeface="Readex Pro"/>
                <a:cs typeface="Readex Pro"/>
              </a:rPr>
              <a:t>إعداد المهمة</a:t>
            </a:r>
          </a:p>
          <a:p>
            <a:pPr algn="ctr" rtl="1">
              <a:defRPr sz="2325">
                <a:solidFill>
                  <a:srgbClr val="F2F4FF"/>
                </a:solidFill>
                <a:latin typeface="Readex Pro"/>
                <a:ea typeface="Readex Pro"/>
                <a:cs typeface="Readex Pro"/>
              </a:defRPr>
            </a:pPr>
            <a:r>
              <a:rPr lang="ar-SA" altLang="en-US" sz="2325">
                <a:solidFill>
                  <a:srgbClr val="F2F4FF"/>
                </a:solidFill>
                <a:latin typeface="Readex Pro"/>
                <a:ea typeface="Readex Pro"/>
                <a:cs typeface="Readex Pro"/>
              </a:rPr>
              <a:t>تعليمات + أدوات مسموحة</a:t>
            </a:r>
          </a:p>
        </p:txBody>
      </p:sp>
      <p:sp>
        <p:nvSpPr>
          <p:cNvPr id="906" name="Rectangle: Rounded Corners 905">
            <a:extLst>
              <a:ext uri="{FF2B5EF4-FFF2-40B4-BE49-F238E27FC236}">
                <a16:creationId xmlns:a16="http://schemas.microsoft.com/office/drawing/2014/main" id="{605C5FD4-591F-40FE-A106-E59A20C6BFD0}"/>
              </a:ext>
            </a:extLst>
          </p:cNvPr>
          <p:cNvSpPr>
            <a:spLocks noGrp="1"/>
          </p:cNvSpPr>
          <p:nvPr/>
        </p:nvSpPr>
        <p:spPr>
          <a:xfrm>
            <a:off x="5429250" y="4000500"/>
            <a:ext cx="3381375" cy="1571625"/>
          </a:xfrm>
          <a:prstGeom prst="roundRect">
            <a:avLst>
              <a:gd name="adj" fmla="val 7273"/>
            </a:avLst>
          </a:prstGeom>
          <a:solidFill>
            <a:srgbClr val="12183F"/>
          </a:solidFill>
          <a:ln w="19050">
            <a:solidFill>
              <a:srgbClr val="6150EA"/>
            </a:solidFill>
          </a:ln>
        </p:spPr>
        <p:txBody>
          <a:bodyPr lIns="76200" tIns="47625" rIns="76200" bIns="47625" anchor="ctr">
            <a:noAutofit/>
          </a:bodyPr>
          <a:lstStyle/>
          <a:p>
            <a:pPr algn="ctr" rtl="1">
              <a:defRPr sz="2325">
                <a:solidFill>
                  <a:srgbClr val="F2F4FF"/>
                </a:solidFill>
                <a:latin typeface="Readex Pro"/>
                <a:ea typeface="Readex Pro"/>
                <a:cs typeface="Readex Pro"/>
              </a:defRPr>
            </a:pPr>
            <a:r>
              <a:rPr lang="ar-SA" altLang="en-US" sz="2325">
                <a:solidFill>
                  <a:srgbClr val="F2F4FF"/>
                </a:solidFill>
                <a:latin typeface="Readex Pro"/>
                <a:ea typeface="Readex Pro"/>
                <a:cs typeface="Readex Pro"/>
              </a:rPr>
              <a:t>الأدوات والبيانات</a:t>
            </a:r>
          </a:p>
          <a:p>
            <a:pPr algn="ctr" rtl="1">
              <a:defRPr sz="2325">
                <a:solidFill>
                  <a:srgbClr val="F2F4FF"/>
                </a:solidFill>
                <a:latin typeface="Readex Pro"/>
                <a:ea typeface="Readex Pro"/>
                <a:cs typeface="Readex Pro"/>
              </a:defRPr>
            </a:pPr>
            <a:r>
              <a:rPr lang="ar-SA" altLang="en-US" sz="2325">
                <a:solidFill>
                  <a:srgbClr val="F2F4FF"/>
                </a:solidFill>
                <a:latin typeface="Readex Pro"/>
                <a:ea typeface="Readex Pro"/>
                <a:cs typeface="Readex Pro"/>
              </a:rPr>
              <a:t>استرجاع محلي + API</a:t>
            </a:r>
          </a:p>
        </p:txBody>
      </p:sp>
      <p:sp>
        <p:nvSpPr>
          <p:cNvPr id="907" name="Rectangle: Rounded Corners 906">
            <a:extLst>
              <a:ext uri="{FF2B5EF4-FFF2-40B4-BE49-F238E27FC236}">
                <a16:creationId xmlns:a16="http://schemas.microsoft.com/office/drawing/2014/main" id="{BF901C86-7A73-45A0-A749-2FB52E0DD583}"/>
              </a:ext>
            </a:extLst>
          </p:cNvPr>
          <p:cNvSpPr>
            <a:spLocks noGrp="1"/>
          </p:cNvSpPr>
          <p:nvPr/>
        </p:nvSpPr>
        <p:spPr>
          <a:xfrm>
            <a:off x="1619250" y="4000500"/>
            <a:ext cx="3381375" cy="1571625"/>
          </a:xfrm>
          <a:prstGeom prst="roundRect">
            <a:avLst>
              <a:gd name="adj" fmla="val 7273"/>
            </a:avLst>
          </a:prstGeom>
          <a:solidFill>
            <a:srgbClr val="12183F"/>
          </a:solidFill>
          <a:ln w="19050">
            <a:solidFill>
              <a:srgbClr val="6150EA"/>
            </a:solidFill>
          </a:ln>
        </p:spPr>
        <p:txBody>
          <a:bodyPr lIns="76200" tIns="47625" rIns="76200" bIns="47625" anchor="ctr">
            <a:noAutofit/>
          </a:bodyPr>
          <a:lstStyle/>
          <a:p>
            <a:pPr algn="ctr" rtl="1">
              <a:defRPr sz="2325">
                <a:solidFill>
                  <a:srgbClr val="F2F4FF"/>
                </a:solidFill>
                <a:latin typeface="Readex Pro"/>
                <a:ea typeface="Readex Pro"/>
                <a:cs typeface="Readex Pro"/>
              </a:defRPr>
            </a:pPr>
            <a:r>
              <a:rPr lang="ar-SA" altLang="en-US" sz="2325">
                <a:solidFill>
                  <a:srgbClr val="F2F4FF"/>
                </a:solidFill>
                <a:latin typeface="Readex Pro"/>
                <a:ea typeface="Readex Pro"/>
                <a:cs typeface="Readex Pro"/>
              </a:rPr>
              <a:t>جواب قابل للفحص</a:t>
            </a:r>
          </a:p>
          <a:p>
            <a:pPr algn="ctr" rtl="1">
              <a:defRPr sz="2325">
                <a:solidFill>
                  <a:srgbClr val="F2F4FF"/>
                </a:solidFill>
                <a:latin typeface="Readex Pro"/>
                <a:ea typeface="Readex Pro"/>
                <a:cs typeface="Readex Pro"/>
              </a:defRPr>
            </a:pPr>
            <a:r>
              <a:rPr lang="ar-SA" altLang="en-US" sz="2325">
                <a:solidFill>
                  <a:srgbClr val="F2F4FF"/>
                </a:solidFill>
                <a:latin typeface="Readex Pro"/>
                <a:ea typeface="Readex Pro"/>
                <a:cs typeface="Readex Pro"/>
              </a:rPr>
              <a:t>نص + عزو + حالة + متابعة</a:t>
            </a:r>
          </a:p>
        </p:txBody>
      </p:sp>
      <p:cxnSp>
        <p:nvCxnSpPr>
          <p:cNvPr id="923" name="Straight Arrow Connector 922"/>
          <p:cNvCxnSpPr>
            <a:stCxn id="904" idx="1"/>
            <a:endCxn id="905" idx="3"/>
          </p:cNvCxnSpPr>
          <p:nvPr/>
        </p:nvCxnSpPr>
        <p:spPr>
          <a:xfrm flipH="1">
            <a:off x="12620625" y="4786313"/>
            <a:ext cx="428625" cy="0"/>
          </a:xfrm>
          <a:prstGeom prst="straightConnector1">
            <a:avLst/>
          </a:prstGeom>
          <a:ln w="28575">
            <a:solidFill>
              <a:srgbClr val="2EF2C2"/>
            </a:solidFill>
            <a:headEnd type="none" w="med" len="med"/>
            <a:tailEnd type="arrow" w="med" len="med"/>
          </a:ln>
        </p:spPr>
      </p:cxnSp>
      <p:cxnSp>
        <p:nvCxnSpPr>
          <p:cNvPr id="924" name="Straight Arrow Connector 923"/>
          <p:cNvCxnSpPr>
            <a:stCxn id="905" idx="1"/>
            <a:endCxn id="906" idx="3"/>
          </p:cNvCxnSpPr>
          <p:nvPr/>
        </p:nvCxnSpPr>
        <p:spPr>
          <a:xfrm flipH="1">
            <a:off x="8810625" y="4786313"/>
            <a:ext cx="428625" cy="0"/>
          </a:xfrm>
          <a:prstGeom prst="straightConnector1">
            <a:avLst/>
          </a:prstGeom>
          <a:ln w="28575">
            <a:solidFill>
              <a:srgbClr val="2EF2C2"/>
            </a:solidFill>
            <a:headEnd type="none" w="med" len="med"/>
            <a:tailEnd type="arrow" w="med" len="med"/>
          </a:ln>
        </p:spPr>
      </p:cxnSp>
      <p:cxnSp>
        <p:nvCxnSpPr>
          <p:cNvPr id="925" name="Straight Arrow Connector 924"/>
          <p:cNvCxnSpPr>
            <a:stCxn id="906" idx="1"/>
            <a:endCxn id="907" idx="3"/>
          </p:cNvCxnSpPr>
          <p:nvPr/>
        </p:nvCxnSpPr>
        <p:spPr>
          <a:xfrm flipH="1">
            <a:off x="5000625" y="4786313"/>
            <a:ext cx="428625" cy="0"/>
          </a:xfrm>
          <a:prstGeom prst="straightConnector1">
            <a:avLst/>
          </a:prstGeom>
          <a:ln w="28575">
            <a:solidFill>
              <a:srgbClr val="2EF2C2"/>
            </a:solidFill>
            <a:headEnd type="none" w="med" len="med"/>
            <a:tailEnd type="arrow" w="med" len="med"/>
          </a:ln>
        </p:spPr>
      </p:cxnSp>
      <p:sp>
        <p:nvSpPr>
          <p:cNvPr id="911" name="text-fp3ln3-11">
            <a:extLst>
              <a:ext uri="{FF2B5EF4-FFF2-40B4-BE49-F238E27FC236}">
                <a16:creationId xmlns:a16="http://schemas.microsoft.com/office/drawing/2014/main" id="{8397BA9C-0264-415B-B965-33BF86DE3A42}"/>
              </a:ext>
            </a:extLst>
          </p:cNvPr>
          <p:cNvSpPr>
            <a:spLocks noGrp="1"/>
          </p:cNvSpPr>
          <p:nvPr/>
        </p:nvSpPr>
        <p:spPr>
          <a:xfrm>
            <a:off x="1619250" y="6477000"/>
            <a:ext cx="14954250" cy="666750"/>
          </a:xfrm>
          <a:prstGeom prst="rect">
            <a:avLst/>
          </a:prstGeom>
          <a:noFill/>
          <a:ln w="0">
            <a:noFill/>
          </a:ln>
        </p:spPr>
        <p:txBody>
          <a:bodyPr wrap="square" lIns="0" tIns="0" rIns="0" bIns="0" anchor="t">
            <a:noAutofit/>
          </a:bodyPr>
          <a:lstStyle/>
          <a:p>
            <a:pPr algn="ctr">
              <a:defRPr sz="2775" b="0">
                <a:solidFill>
                  <a:srgbClr val="2EF2C2"/>
                </a:solidFill>
                <a:latin typeface="Readex Pro"/>
                <a:ea typeface="Readex Pro"/>
                <a:cs typeface="Readex Pro"/>
              </a:defRPr>
            </a:pPr>
            <a:r>
              <a:rPr sz="2775" b="0">
                <a:solidFill>
                  <a:srgbClr val="2EF2C2"/>
                </a:solidFill>
                <a:latin typeface="Readex Pro"/>
                <a:ea typeface="Readex Pro"/>
                <a:cs typeface="Readex Pro"/>
              </a:rPr>
              <a:t>Python  •  SQLite  •  Svelte  •  JSON  •  Mermaid</a:t>
            </a:r>
          </a:p>
        </p:txBody>
      </p:sp>
      <p:sp>
        <p:nvSpPr>
          <p:cNvPr id="912" name="text-fp3ln3-12">
            <a:extLst>
              <a:ext uri="{FF2B5EF4-FFF2-40B4-BE49-F238E27FC236}">
                <a16:creationId xmlns:a16="http://schemas.microsoft.com/office/drawing/2014/main" id="{2BEE99D6-1832-474F-90D4-278D356B0210}"/>
              </a:ext>
            </a:extLst>
          </p:cNvPr>
          <p:cNvSpPr>
            <a:spLocks noGrp="1"/>
          </p:cNvSpPr>
          <p:nvPr/>
        </p:nvSpPr>
        <p:spPr>
          <a:xfrm>
            <a:off x="2000250" y="7524750"/>
            <a:ext cx="14192250" cy="1238250"/>
          </a:xfrm>
          <a:prstGeom prst="rect">
            <a:avLst/>
          </a:prstGeom>
          <a:noFill/>
          <a:ln w="0">
            <a:noFill/>
          </a:ln>
        </p:spPr>
        <p:txBody>
          <a:bodyPr wrap="square" lIns="0" tIns="0" rIns="0" bIns="0" anchor="t">
            <a:noAutofit/>
          </a:bodyPr>
          <a:lstStyle/>
          <a:p>
            <a:pPr algn="ct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مفعّل ومجرّب: استدعاء أدوات أصلية واسترجاع من السجلات</a:t>
            </a:r>
          </a:p>
          <a:p>
            <a:pPr algn="ct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قيد الاستكمال: ربط Knowledge المعتمد وتفعيل مسار MCP في التشغيل</a:t>
            </a:r>
          </a:p>
        </p:txBody>
      </p:sp>
    </p:spTree>
    <p:extLst>
      <p:ext uri="{BB962C8B-B14F-4D97-AF65-F5344CB8AC3E}">
        <p14:creationId xmlns:p14="http://schemas.microsoft.com/office/powerpoint/2010/main" val="1124452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6"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27"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30394428-F1DC-E5F6-DB0C-7DE31F3D8A23}" type="slidenum">
              <a:rPr sz="1800">
                <a:solidFill>
                  <a:srgbClr val="4A5590"/>
                </a:solidFill>
                <a:latin typeface="Readex Pro"/>
                <a:ea typeface="Readex Pro"/>
                <a:cs typeface="Readex Pro"/>
              </a:rPr>
              <a:t>11</a:t>
            </a:fld>
            <a:endParaRPr/>
          </a:p>
        </p:txBody>
      </p:sp>
      <p:sp>
        <p:nvSpPr>
          <p:cNvPr id="911" name="text-t77kie-1">
            <a:extLst>
              <a:ext uri="{FF2B5EF4-FFF2-40B4-BE49-F238E27FC236}">
                <a16:creationId xmlns:a16="http://schemas.microsoft.com/office/drawing/2014/main" id="{D580F461-415E-4AA9-82AC-568E789D0292}"/>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طبقات التحقق</a:t>
            </a:r>
          </a:p>
        </p:txBody>
      </p:sp>
      <p:sp>
        <p:nvSpPr>
          <p:cNvPr id="912" name="slide-title">
            <a:extLst>
              <a:ext uri="{FF2B5EF4-FFF2-40B4-BE49-F238E27FC236}">
                <a16:creationId xmlns:a16="http://schemas.microsoft.com/office/drawing/2014/main" id="{7649FBC0-5E32-43B1-99DF-7E0851268FEE}"/>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الموثوقية تظهر في سلوك النظام</a:t>
            </a:r>
          </a:p>
        </p:txBody>
      </p:sp>
      <p:sp>
        <p:nvSpPr>
          <p:cNvPr id="913" name="text-t77kie-3">
            <a:extLst>
              <a:ext uri="{FF2B5EF4-FFF2-40B4-BE49-F238E27FC236}">
                <a16:creationId xmlns:a16="http://schemas.microsoft.com/office/drawing/2014/main" id="{0A14D619-54BC-4D49-9DED-C39D001428A7}"/>
              </a:ext>
            </a:extLst>
          </p:cNvPr>
          <p:cNvSpPr>
            <a:spLocks noGrp="1"/>
          </p:cNvSpPr>
          <p:nvPr/>
        </p:nvSpPr>
        <p:spPr>
          <a:xfrm>
            <a:off x="12858750" y="3524250"/>
            <a:ext cx="3714750" cy="552450"/>
          </a:xfrm>
          <a:prstGeom prst="rect">
            <a:avLst/>
          </a:prstGeom>
          <a:noFill/>
          <a:ln w="0">
            <a:noFill/>
          </a:ln>
        </p:spPr>
        <p:txBody>
          <a:bodyPr wrap="square" lIns="0" tIns="0" rIns="0" bIns="0" anchor="t">
            <a:noAutofit/>
          </a:bodyPr>
          <a:lstStyle/>
          <a:p>
            <a:pPr algn="r" rtl="1">
              <a:defRPr sz="2850" b="1">
                <a:solidFill>
                  <a:srgbClr val="6150EA"/>
                </a:solidFill>
                <a:latin typeface="Readex Pro"/>
                <a:ea typeface="Readex Pro"/>
                <a:cs typeface="Readex Pro"/>
              </a:defRPr>
            </a:pPr>
            <a:r>
              <a:rPr lang="ar-SA" altLang="en-US" sz="2850" b="1">
                <a:solidFill>
                  <a:srgbClr val="6150EA"/>
                </a:solidFill>
                <a:latin typeface="Readex Pro"/>
                <a:ea typeface="Readex Pro"/>
                <a:cs typeface="Readex Pro"/>
              </a:rPr>
              <a:t>النص</a:t>
            </a:r>
          </a:p>
        </p:txBody>
      </p:sp>
      <p:sp>
        <p:nvSpPr>
          <p:cNvPr id="914" name="text-t77kie-4">
            <a:extLst>
              <a:ext uri="{FF2B5EF4-FFF2-40B4-BE49-F238E27FC236}">
                <a16:creationId xmlns:a16="http://schemas.microsoft.com/office/drawing/2014/main" id="{C84906B1-AF24-458D-8372-533BBA837781}"/>
              </a:ext>
            </a:extLst>
          </p:cNvPr>
          <p:cNvSpPr>
            <a:spLocks noGrp="1"/>
          </p:cNvSpPr>
          <p:nvPr/>
        </p:nvSpPr>
        <p:spPr>
          <a:xfrm>
            <a:off x="1524000" y="3571875"/>
            <a:ext cx="10572750" cy="809625"/>
          </a:xfrm>
          <a:prstGeom prst="rect">
            <a:avLst/>
          </a:prstGeom>
          <a:noFill/>
          <a:ln w="0">
            <a:noFill/>
          </a:ln>
        </p:spPr>
        <p:txBody>
          <a:bodyPr wrap="square" lIns="0" tIns="0" rIns="0" bIns="0" anchor="t">
            <a:noAutofit/>
          </a:bodyPr>
          <a:lstStyle/>
          <a:p>
            <a:pPr algn="r" rtl="1">
              <a:defRPr sz="2475" b="0">
                <a:solidFill>
                  <a:srgbClr val="12183F"/>
                </a:solidFill>
                <a:latin typeface="Readex Pro"/>
                <a:ea typeface="Readex Pro"/>
                <a:cs typeface="Readex Pro"/>
              </a:defRPr>
            </a:pPr>
            <a:r>
              <a:rPr lang="ar-SA" altLang="en-US" sz="2475" b="0">
                <a:solidFill>
                  <a:srgbClr val="12183F"/>
                </a:solidFill>
                <a:latin typeface="Readex Pro"/>
                <a:ea typeface="Readex Pro"/>
                <a:cs typeface="Readex Pro"/>
              </a:rPr>
              <a:t>معرّف ثابت وموضع اقتباس وبصمة للنص الأصلي</a:t>
            </a:r>
          </a:p>
        </p:txBody>
      </p:sp>
      <p:sp>
        <p:nvSpPr>
          <p:cNvPr id="915" name="Straight Connector 914">
            <a:extLst>
              <a:ext uri="{FF2B5EF4-FFF2-40B4-BE49-F238E27FC236}">
                <a16:creationId xmlns:a16="http://schemas.microsoft.com/office/drawing/2014/main" id="{F72EBEF6-F0E0-4A58-8423-6A7A6BEFEBCF}"/>
              </a:ext>
            </a:extLst>
          </p:cNvPr>
          <p:cNvSpPr>
            <a:spLocks noGrp="1"/>
          </p:cNvSpPr>
          <p:nvPr/>
        </p:nvSpPr>
        <p:spPr>
          <a:xfrm>
            <a:off x="1619250" y="4552950"/>
            <a:ext cx="14859000" cy="0"/>
          </a:xfrm>
          <a:prstGeom prst="line">
            <a:avLst/>
          </a:prstGeom>
          <a:ln w="19050">
            <a:solidFill>
              <a:srgbClr val="CBCFE6"/>
            </a:solidFill>
          </a:ln>
        </p:spPr>
      </p:sp>
      <p:sp>
        <p:nvSpPr>
          <p:cNvPr id="916" name="text-t77kie-6">
            <a:extLst>
              <a:ext uri="{FF2B5EF4-FFF2-40B4-BE49-F238E27FC236}">
                <a16:creationId xmlns:a16="http://schemas.microsoft.com/office/drawing/2014/main" id="{DA589A36-DE49-41B9-9BD4-369E7ECF2C60}"/>
              </a:ext>
            </a:extLst>
          </p:cNvPr>
          <p:cNvSpPr>
            <a:spLocks noGrp="1"/>
          </p:cNvSpPr>
          <p:nvPr/>
        </p:nvSpPr>
        <p:spPr>
          <a:xfrm>
            <a:off x="12858750" y="4810125"/>
            <a:ext cx="3714750" cy="552450"/>
          </a:xfrm>
          <a:prstGeom prst="rect">
            <a:avLst/>
          </a:prstGeom>
          <a:noFill/>
          <a:ln w="0">
            <a:noFill/>
          </a:ln>
        </p:spPr>
        <p:txBody>
          <a:bodyPr wrap="square" lIns="0" tIns="0" rIns="0" bIns="0" anchor="t">
            <a:noAutofit/>
          </a:bodyPr>
          <a:lstStyle/>
          <a:p>
            <a:pPr algn="r" rtl="1">
              <a:defRPr sz="2850" b="1">
                <a:solidFill>
                  <a:srgbClr val="6150EA"/>
                </a:solidFill>
                <a:latin typeface="Readex Pro"/>
                <a:ea typeface="Readex Pro"/>
                <a:cs typeface="Readex Pro"/>
              </a:defRPr>
            </a:pPr>
            <a:r>
              <a:rPr lang="ar-SA" altLang="en-US" sz="2850" b="1">
                <a:solidFill>
                  <a:srgbClr val="6150EA"/>
                </a:solidFill>
                <a:latin typeface="Readex Pro"/>
                <a:ea typeface="Readex Pro"/>
                <a:cs typeface="Readex Pro"/>
              </a:rPr>
              <a:t>الحكم والشرح</a:t>
            </a:r>
          </a:p>
        </p:txBody>
      </p:sp>
      <p:sp>
        <p:nvSpPr>
          <p:cNvPr id="917" name="text-t77kie-7">
            <a:extLst>
              <a:ext uri="{FF2B5EF4-FFF2-40B4-BE49-F238E27FC236}">
                <a16:creationId xmlns:a16="http://schemas.microsoft.com/office/drawing/2014/main" id="{AE337626-C7F6-4BB8-A50F-1E5780F00956}"/>
              </a:ext>
            </a:extLst>
          </p:cNvPr>
          <p:cNvSpPr>
            <a:spLocks noGrp="1"/>
          </p:cNvSpPr>
          <p:nvPr/>
        </p:nvSpPr>
        <p:spPr>
          <a:xfrm>
            <a:off x="1524000" y="4857750"/>
            <a:ext cx="10572750" cy="809625"/>
          </a:xfrm>
          <a:prstGeom prst="rect">
            <a:avLst/>
          </a:prstGeom>
          <a:noFill/>
          <a:ln w="0">
            <a:noFill/>
          </a:ln>
        </p:spPr>
        <p:txBody>
          <a:bodyPr wrap="square" lIns="0" tIns="0" rIns="0" bIns="0" anchor="t">
            <a:noAutofit/>
          </a:bodyPr>
          <a:lstStyle/>
          <a:p>
            <a:pPr algn="r" rtl="1">
              <a:defRPr sz="2475" b="0">
                <a:solidFill>
                  <a:srgbClr val="12183F"/>
                </a:solidFill>
                <a:latin typeface="Readex Pro"/>
                <a:ea typeface="Readex Pro"/>
                <a:cs typeface="Readex Pro"/>
              </a:defRPr>
            </a:pPr>
            <a:r>
              <a:rPr lang="ar-SA" altLang="en-US" sz="2475" b="0">
                <a:solidFill>
                  <a:srgbClr val="12183F"/>
                </a:solidFill>
                <a:latin typeface="Readex Pro"/>
                <a:ea typeface="Readex Pro"/>
                <a:cs typeface="Readex Pro"/>
              </a:rPr>
              <a:t>نسبة القول إلى مصدره؛ وحجب الشرح غير المطابق</a:t>
            </a:r>
          </a:p>
        </p:txBody>
      </p:sp>
      <p:sp>
        <p:nvSpPr>
          <p:cNvPr id="918" name="Straight Connector 917">
            <a:extLst>
              <a:ext uri="{FF2B5EF4-FFF2-40B4-BE49-F238E27FC236}">
                <a16:creationId xmlns:a16="http://schemas.microsoft.com/office/drawing/2014/main" id="{874D93E2-6DE0-4C44-9410-76B50859AC55}"/>
              </a:ext>
            </a:extLst>
          </p:cNvPr>
          <p:cNvSpPr>
            <a:spLocks noGrp="1"/>
          </p:cNvSpPr>
          <p:nvPr/>
        </p:nvSpPr>
        <p:spPr>
          <a:xfrm>
            <a:off x="1619250" y="5838825"/>
            <a:ext cx="14859000" cy="0"/>
          </a:xfrm>
          <a:prstGeom prst="line">
            <a:avLst/>
          </a:prstGeom>
          <a:ln w="19050">
            <a:solidFill>
              <a:srgbClr val="CBCFE6"/>
            </a:solidFill>
          </a:ln>
        </p:spPr>
      </p:sp>
      <p:sp>
        <p:nvSpPr>
          <p:cNvPr id="919" name="text-t77kie-9">
            <a:extLst>
              <a:ext uri="{FF2B5EF4-FFF2-40B4-BE49-F238E27FC236}">
                <a16:creationId xmlns:a16="http://schemas.microsoft.com/office/drawing/2014/main" id="{289E8C3C-025F-40E7-9498-0B157C62762A}"/>
              </a:ext>
            </a:extLst>
          </p:cNvPr>
          <p:cNvSpPr>
            <a:spLocks noGrp="1"/>
          </p:cNvSpPr>
          <p:nvPr/>
        </p:nvSpPr>
        <p:spPr>
          <a:xfrm>
            <a:off x="12858750" y="6096000"/>
            <a:ext cx="3714750" cy="552450"/>
          </a:xfrm>
          <a:prstGeom prst="rect">
            <a:avLst/>
          </a:prstGeom>
          <a:noFill/>
          <a:ln w="0">
            <a:noFill/>
          </a:ln>
        </p:spPr>
        <p:txBody>
          <a:bodyPr wrap="square" lIns="0" tIns="0" rIns="0" bIns="0" anchor="t">
            <a:noAutofit/>
          </a:bodyPr>
          <a:lstStyle/>
          <a:p>
            <a:pPr algn="r" rtl="1">
              <a:defRPr sz="2850" b="1">
                <a:solidFill>
                  <a:srgbClr val="6150EA"/>
                </a:solidFill>
                <a:latin typeface="Readex Pro"/>
                <a:ea typeface="Readex Pro"/>
                <a:cs typeface="Readex Pro"/>
              </a:defRPr>
            </a:pPr>
            <a:r>
              <a:rPr lang="ar-SA" altLang="en-US" sz="2850" b="1">
                <a:solidFill>
                  <a:srgbClr val="6150EA"/>
                </a:solidFill>
                <a:latin typeface="Readex Pro"/>
                <a:ea typeface="Readex Pro"/>
                <a:cs typeface="Readex Pro"/>
              </a:rPr>
              <a:t>الراوي والرابط</a:t>
            </a:r>
          </a:p>
        </p:txBody>
      </p:sp>
      <p:sp>
        <p:nvSpPr>
          <p:cNvPr id="920" name="text-t77kie-10">
            <a:extLst>
              <a:ext uri="{FF2B5EF4-FFF2-40B4-BE49-F238E27FC236}">
                <a16:creationId xmlns:a16="http://schemas.microsoft.com/office/drawing/2014/main" id="{690B61E2-41D8-4BD4-A9FF-7899468D69C1}"/>
              </a:ext>
            </a:extLst>
          </p:cNvPr>
          <p:cNvSpPr>
            <a:spLocks noGrp="1"/>
          </p:cNvSpPr>
          <p:nvPr/>
        </p:nvSpPr>
        <p:spPr>
          <a:xfrm>
            <a:off x="1524000" y="6143625"/>
            <a:ext cx="10572750" cy="809625"/>
          </a:xfrm>
          <a:prstGeom prst="rect">
            <a:avLst/>
          </a:prstGeom>
          <a:noFill/>
          <a:ln w="0">
            <a:noFill/>
          </a:ln>
        </p:spPr>
        <p:txBody>
          <a:bodyPr wrap="square" lIns="0" tIns="0" rIns="0" bIns="0" anchor="t">
            <a:noAutofit/>
          </a:bodyPr>
          <a:lstStyle/>
          <a:p>
            <a:pPr algn="r" rtl="1">
              <a:defRPr sz="2475" b="0">
                <a:solidFill>
                  <a:srgbClr val="12183F"/>
                </a:solidFill>
                <a:latin typeface="Readex Pro"/>
                <a:ea typeface="Readex Pro"/>
                <a:cs typeface="Readex Pro"/>
              </a:defRPr>
            </a:pPr>
            <a:r>
              <a:rPr lang="ar-SA" altLang="en-US" sz="2475" b="0">
                <a:solidFill>
                  <a:srgbClr val="12183F"/>
                </a:solidFill>
                <a:latin typeface="Readex Pro"/>
                <a:ea typeface="Readex Pro"/>
                <a:cs typeface="Readex Pro"/>
              </a:rPr>
              <a:t>فصل أقوال النقاد، وإبقاء المجهول والمرشحين ظاهرين</a:t>
            </a:r>
          </a:p>
        </p:txBody>
      </p:sp>
      <p:sp>
        <p:nvSpPr>
          <p:cNvPr id="921" name="Straight Connector 920">
            <a:extLst>
              <a:ext uri="{FF2B5EF4-FFF2-40B4-BE49-F238E27FC236}">
                <a16:creationId xmlns:a16="http://schemas.microsoft.com/office/drawing/2014/main" id="{5B7E265C-1BE5-4177-AB6A-E1BA19D8868A}"/>
              </a:ext>
            </a:extLst>
          </p:cNvPr>
          <p:cNvSpPr>
            <a:spLocks noGrp="1"/>
          </p:cNvSpPr>
          <p:nvPr/>
        </p:nvSpPr>
        <p:spPr>
          <a:xfrm>
            <a:off x="1619250" y="7124700"/>
            <a:ext cx="14859000" cy="0"/>
          </a:xfrm>
          <a:prstGeom prst="line">
            <a:avLst/>
          </a:prstGeom>
          <a:ln w="19050">
            <a:solidFill>
              <a:srgbClr val="CBCFE6"/>
            </a:solidFill>
          </a:ln>
        </p:spPr>
      </p:sp>
      <p:sp>
        <p:nvSpPr>
          <p:cNvPr id="922" name="text-t77kie-12">
            <a:extLst>
              <a:ext uri="{FF2B5EF4-FFF2-40B4-BE49-F238E27FC236}">
                <a16:creationId xmlns:a16="http://schemas.microsoft.com/office/drawing/2014/main" id="{1B7318CA-D20C-4ADC-A42E-D6E728934B9A}"/>
              </a:ext>
            </a:extLst>
          </p:cNvPr>
          <p:cNvSpPr>
            <a:spLocks noGrp="1"/>
          </p:cNvSpPr>
          <p:nvPr/>
        </p:nvSpPr>
        <p:spPr>
          <a:xfrm>
            <a:off x="12858750" y="7381875"/>
            <a:ext cx="3714750" cy="552450"/>
          </a:xfrm>
          <a:prstGeom prst="rect">
            <a:avLst/>
          </a:prstGeom>
          <a:noFill/>
          <a:ln w="0">
            <a:noFill/>
          </a:ln>
        </p:spPr>
        <p:txBody>
          <a:bodyPr wrap="square" lIns="0" tIns="0" rIns="0" bIns="0" anchor="t">
            <a:noAutofit/>
          </a:bodyPr>
          <a:lstStyle/>
          <a:p>
            <a:pPr algn="r" rtl="1">
              <a:defRPr sz="2850" b="1">
                <a:solidFill>
                  <a:srgbClr val="6150EA"/>
                </a:solidFill>
                <a:latin typeface="Readex Pro"/>
                <a:ea typeface="Readex Pro"/>
                <a:cs typeface="Readex Pro"/>
              </a:defRPr>
            </a:pPr>
            <a:r>
              <a:rPr lang="ar-SA" altLang="en-US" sz="2850" b="1">
                <a:solidFill>
                  <a:srgbClr val="6150EA"/>
                </a:solidFill>
                <a:latin typeface="Readex Pro"/>
                <a:ea typeface="Readex Pro"/>
                <a:cs typeface="Readex Pro"/>
              </a:rPr>
              <a:t>حالة الجواب</a:t>
            </a:r>
          </a:p>
        </p:txBody>
      </p:sp>
      <p:sp>
        <p:nvSpPr>
          <p:cNvPr id="923" name="text-t77kie-13">
            <a:extLst>
              <a:ext uri="{FF2B5EF4-FFF2-40B4-BE49-F238E27FC236}">
                <a16:creationId xmlns:a16="http://schemas.microsoft.com/office/drawing/2014/main" id="{3D134038-C167-4680-A4EE-7379D72E099F}"/>
              </a:ext>
            </a:extLst>
          </p:cNvPr>
          <p:cNvSpPr>
            <a:spLocks noGrp="1"/>
          </p:cNvSpPr>
          <p:nvPr/>
        </p:nvSpPr>
        <p:spPr>
          <a:xfrm>
            <a:off x="1524000" y="7429500"/>
            <a:ext cx="10572750" cy="809625"/>
          </a:xfrm>
          <a:prstGeom prst="rect">
            <a:avLst/>
          </a:prstGeom>
          <a:noFill/>
          <a:ln w="0">
            <a:noFill/>
          </a:ln>
        </p:spPr>
        <p:txBody>
          <a:bodyPr wrap="square" lIns="0" tIns="0" rIns="0" bIns="0" anchor="t">
            <a:noAutofit/>
          </a:bodyPr>
          <a:lstStyle/>
          <a:p>
            <a:pPr algn="r" rtl="1">
              <a:defRPr sz="2475" b="0">
                <a:solidFill>
                  <a:srgbClr val="12183F"/>
                </a:solidFill>
                <a:latin typeface="Readex Pro"/>
                <a:ea typeface="Readex Pro"/>
                <a:cs typeface="Readex Pro"/>
              </a:defRPr>
            </a:pPr>
            <a:r>
              <a:rPr lang="ar-SA" altLang="en-US" sz="2475" b="0">
                <a:solidFill>
                  <a:srgbClr val="12183F"/>
                </a:solidFill>
                <a:latin typeface="Readex Pro"/>
                <a:ea typeface="Readex Pro"/>
                <a:cs typeface="Readex Pro"/>
              </a:rPr>
              <a:t>نتيجة، التباس، تعذّر خدمة، أو حاجة إلى مراجعة</a:t>
            </a:r>
          </a:p>
        </p:txBody>
      </p:sp>
      <p:sp>
        <p:nvSpPr>
          <p:cNvPr id="924" name="Straight Connector 923">
            <a:extLst>
              <a:ext uri="{FF2B5EF4-FFF2-40B4-BE49-F238E27FC236}">
                <a16:creationId xmlns:a16="http://schemas.microsoft.com/office/drawing/2014/main" id="{1B379A0F-B7F9-4564-959E-A1FEF7C3B05D}"/>
              </a:ext>
            </a:extLst>
          </p:cNvPr>
          <p:cNvSpPr>
            <a:spLocks noGrp="1"/>
          </p:cNvSpPr>
          <p:nvPr/>
        </p:nvSpPr>
        <p:spPr>
          <a:xfrm>
            <a:off x="1619250" y="8410575"/>
            <a:ext cx="14859000" cy="0"/>
          </a:xfrm>
          <a:prstGeom prst="line">
            <a:avLst/>
          </a:prstGeom>
          <a:ln w="19050">
            <a:solidFill>
              <a:srgbClr val="CBCFE6"/>
            </a:solidFill>
          </a:ln>
        </p:spPr>
      </p:sp>
      <p:sp>
        <p:nvSpPr>
          <p:cNvPr id="925" name="text-t77kie-15">
            <a:extLst>
              <a:ext uri="{FF2B5EF4-FFF2-40B4-BE49-F238E27FC236}">
                <a16:creationId xmlns:a16="http://schemas.microsoft.com/office/drawing/2014/main" id="{B2AD5712-FFF9-44F4-A5B7-3E0A29286A67}"/>
              </a:ext>
            </a:extLst>
          </p:cNvPr>
          <p:cNvSpPr>
            <a:spLocks noGrp="1"/>
          </p:cNvSpPr>
          <p:nvPr/>
        </p:nvSpPr>
        <p:spPr>
          <a:xfrm>
            <a:off x="1619250" y="9048750"/>
            <a:ext cx="14954250" cy="523875"/>
          </a:xfrm>
          <a:prstGeom prst="rect">
            <a:avLst/>
          </a:prstGeom>
          <a:noFill/>
          <a:ln w="0">
            <a:noFill/>
          </a:ln>
        </p:spPr>
        <p:txBody>
          <a:bodyPr wrap="square" lIns="0" tIns="0" rIns="0" bIns="0" anchor="t">
            <a:noAutofit/>
          </a:bodyPr>
          <a:lstStyle/>
          <a:p>
            <a:pPr algn="r" rtl="1">
              <a:defRPr sz="2400" b="1">
                <a:solidFill>
                  <a:srgbClr val="6150EA"/>
                </a:solidFill>
                <a:latin typeface="Readex Pro"/>
                <a:ea typeface="Readex Pro"/>
                <a:cs typeface="Readex Pro"/>
              </a:defRPr>
            </a:pPr>
            <a:r>
              <a:rPr lang="ar-SA" altLang="en-US" sz="2400" b="1">
                <a:solidFill>
                  <a:srgbClr val="6150EA"/>
                </a:solidFill>
                <a:latin typeface="Readex Pro"/>
                <a:ea typeface="Readex Pro"/>
                <a:cs typeface="Readex Pro"/>
              </a:rPr>
              <a:t>تعذّر خدمة خارجية لا يعني ضعف الحديث</a:t>
            </a:r>
          </a:p>
        </p:txBody>
      </p:sp>
    </p:spTree>
    <p:extLst>
      <p:ext uri="{BB962C8B-B14F-4D97-AF65-F5344CB8AC3E}">
        <p14:creationId xmlns:p14="http://schemas.microsoft.com/office/powerpoint/2010/main" val="1055686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5"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6"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4DB16885-0D3F-A391-B669-3211DB3B26E8}" type="slidenum">
              <a:rPr sz="1800">
                <a:solidFill>
                  <a:srgbClr val="4A5590"/>
                </a:solidFill>
                <a:latin typeface="Readex Pro"/>
                <a:ea typeface="Readex Pro"/>
                <a:cs typeface="Readex Pro"/>
              </a:rPr>
              <a:t>12</a:t>
            </a:fld>
            <a:endParaRPr/>
          </a:p>
        </p:txBody>
      </p:sp>
      <p:sp>
        <p:nvSpPr>
          <p:cNvPr id="911" name="text-6ygeyb-1">
            <a:extLst>
              <a:ext uri="{FF2B5EF4-FFF2-40B4-BE49-F238E27FC236}">
                <a16:creationId xmlns:a16="http://schemas.microsoft.com/office/drawing/2014/main" id="{52FDA2F3-AA4C-4622-B59D-97B32D49AE03}"/>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المصادر والبيانات</a:t>
            </a:r>
          </a:p>
        </p:txBody>
      </p:sp>
      <p:sp>
        <p:nvSpPr>
          <p:cNvPr id="912" name="slide-title">
            <a:extLst>
              <a:ext uri="{FF2B5EF4-FFF2-40B4-BE49-F238E27FC236}">
                <a16:creationId xmlns:a16="http://schemas.microsoft.com/office/drawing/2014/main" id="{D66E2BD5-A2A7-460D-B8C3-BAB92E2098D4}"/>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مصدر النص ودليل الحكم لهما دور مختلف</a:t>
            </a:r>
          </a:p>
        </p:txBody>
      </p:sp>
      <p:graphicFrame>
        <p:nvGraphicFramePr>
          <p:cNvPr id="920" name="Table 919"/>
          <p:cNvGraphicFramePr/>
          <p:nvPr/>
        </p:nvGraphicFramePr>
        <p:xfrm>
          <a:off x="1428750" y="3381375"/>
          <a:ext cx="15240000" cy="5238750"/>
        </p:xfrm>
        <a:graphic>
          <a:graphicData uri="http://schemas.openxmlformats.org/drawingml/2006/table">
            <a:tbl>
              <a:tblPr/>
              <a:tblGrid>
                <a:gridCol w="10096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1047750">
                <a:tc>
                  <a:txBody>
                    <a:bodyPr/>
                    <a:lstStyle/>
                    <a:p>
                      <a:pPr algn="r" rtl="1"/>
                      <a:r>
                        <a:rPr lang="ar-SA" altLang="en-US" sz="2175" b="1">
                          <a:solidFill>
                            <a:srgbClr val="F2F4FF"/>
                          </a:solidFill>
                          <a:latin typeface="Readex Pro"/>
                          <a:ea typeface="Readex Pro"/>
                          <a:cs typeface="Readex Pro"/>
                        </a:rPr>
                        <a:t>الدور في المشروع</a:t>
                      </a:r>
                    </a:p>
                  </a:txBody>
                  <a:tcPr anchor="ctr">
                    <a:solidFill>
                      <a:srgbClr val="6150EA"/>
                    </a:solidFill>
                  </a:tcPr>
                </a:tc>
                <a:tc>
                  <a:txBody>
                    <a:bodyPr/>
                    <a:lstStyle/>
                    <a:p>
                      <a:pPr algn="r" rtl="1"/>
                      <a:r>
                        <a:rPr lang="ar-SA" altLang="en-US" sz="2175" b="1">
                          <a:solidFill>
                            <a:srgbClr val="F2F4FF"/>
                          </a:solidFill>
                          <a:latin typeface="Readex Pro"/>
                          <a:ea typeface="Readex Pro"/>
                          <a:cs typeface="Readex Pro"/>
                        </a:rPr>
                        <a:t>المصدر</a:t>
                      </a:r>
                    </a:p>
                  </a:txBody>
                  <a:tcPr anchor="ctr">
                    <a:solidFill>
                      <a:srgbClr val="6150EA"/>
                    </a:solidFill>
                  </a:tcPr>
                </a:tc>
                <a:extLst>
                  <a:ext uri="{0D108BD9-81ED-4DB2-BD59-A6C34878D82A}">
                    <a16:rowId xmlns:a16="http://schemas.microsoft.com/office/drawing/2014/main" val="10000"/>
                  </a:ext>
                </a:extLst>
              </a:tr>
              <a:tr h="1047750">
                <a:tc>
                  <a:txBody>
                    <a:bodyPr/>
                    <a:lstStyle/>
                    <a:p>
                      <a:pPr algn="r" rtl="1"/>
                      <a:r>
                        <a:rPr lang="ar-SA" altLang="en-US" sz="2175" b="0">
                          <a:solidFill>
                            <a:srgbClr val="12183F"/>
                          </a:solidFill>
                          <a:latin typeface="Readex Pro"/>
                          <a:ea typeface="Readex Pro"/>
                          <a:cs typeface="Readex Pro"/>
                        </a:rPr>
                        <a:t>مرجع للتحقق من الحديث والحكم المنسوب إلى أهله</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الدرر السنية</a:t>
                      </a:r>
                    </a:p>
                  </a:txBody>
                  <a:tcPr anchor="ctr">
                    <a:solidFill>
                      <a:srgbClr val="F2F4FF"/>
                    </a:solidFill>
                  </a:tcPr>
                </a:tc>
                <a:extLst>
                  <a:ext uri="{0D108BD9-81ED-4DB2-BD59-A6C34878D82A}">
                    <a16:rowId xmlns:a16="http://schemas.microsoft.com/office/drawing/2014/main" val="10001"/>
                  </a:ext>
                </a:extLst>
              </a:tr>
              <a:tr h="1047750">
                <a:tc>
                  <a:txBody>
                    <a:bodyPr/>
                    <a:lstStyle/>
                    <a:p>
                      <a:pPr algn="r" rtl="1"/>
                      <a:r>
                        <a:rPr lang="ar-SA" altLang="en-US" sz="2175" b="0">
                          <a:solidFill>
                            <a:srgbClr val="12183F"/>
                          </a:solidFill>
                          <a:latin typeface="Readex Pro"/>
                          <a:ea typeface="Readex Pro"/>
                          <a:cs typeface="Readex Pro"/>
                        </a:rPr>
                        <a:t>الرجوع إلى الطبعات المعتمدة ومصادر العلم</a:t>
                      </a:r>
                    </a:p>
                  </a:txBody>
                  <a:tcPr anchor="ctr">
                    <a:solidFill>
                      <a:srgbClr val="EAE7FB"/>
                    </a:solidFill>
                  </a:tcPr>
                </a:tc>
                <a:tc>
                  <a:txBody>
                    <a:bodyPr/>
                    <a:lstStyle/>
                    <a:p>
                      <a:pPr algn="r" rtl="1"/>
                      <a:r>
                        <a:rPr lang="ar-SA" altLang="en-US" sz="2175" b="0">
                          <a:solidFill>
                            <a:srgbClr val="12183F"/>
                          </a:solidFill>
                          <a:latin typeface="Readex Pro"/>
                          <a:ea typeface="Readex Pro"/>
                          <a:cs typeface="Readex Pro"/>
                        </a:rPr>
                        <a:t>المكتبة الشاملة</a:t>
                      </a:r>
                    </a:p>
                  </a:txBody>
                  <a:tcPr anchor="ctr">
                    <a:solidFill>
                      <a:srgbClr val="EAE7FB"/>
                    </a:solidFill>
                  </a:tcPr>
                </a:tc>
                <a:extLst>
                  <a:ext uri="{0D108BD9-81ED-4DB2-BD59-A6C34878D82A}">
                    <a16:rowId xmlns:a16="http://schemas.microsoft.com/office/drawing/2014/main" val="10002"/>
                  </a:ext>
                </a:extLst>
              </a:tr>
              <a:tr h="1047750">
                <a:tc>
                  <a:txBody>
                    <a:bodyPr/>
                    <a:lstStyle/>
                    <a:p>
                      <a:pPr algn="r" rtl="1"/>
                      <a:r>
                        <a:rPr lang="ar-SA" altLang="en-US" sz="2175" b="0">
                          <a:solidFill>
                            <a:srgbClr val="12183F"/>
                          </a:solidFill>
                          <a:latin typeface="Readex Pro"/>
                          <a:ea typeface="Readex Pro"/>
                          <a:cs typeface="Readex Pro"/>
                        </a:rPr>
                        <a:t>شروح ومعانٍ عبر API بعد التحقق من المطابقة</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موسوعة الأحاديث النبوية</a:t>
                      </a:r>
                    </a:p>
                  </a:txBody>
                  <a:tcPr anchor="ctr">
                    <a:solidFill>
                      <a:srgbClr val="F2F4FF"/>
                    </a:solidFill>
                  </a:tcPr>
                </a:tc>
                <a:extLst>
                  <a:ext uri="{0D108BD9-81ED-4DB2-BD59-A6C34878D82A}">
                    <a16:rowId xmlns:a16="http://schemas.microsoft.com/office/drawing/2014/main" val="10003"/>
                  </a:ext>
                </a:extLst>
              </a:tr>
              <a:tr h="1047750">
                <a:tc>
                  <a:txBody>
                    <a:bodyPr/>
                    <a:lstStyle/>
                    <a:p>
                      <a:pPr algn="r" rtl="1"/>
                      <a:r>
                        <a:rPr lang="ar-SA" altLang="en-US" sz="2175" b="0">
                          <a:solidFill>
                            <a:srgbClr val="12183F"/>
                          </a:solidFill>
                          <a:latin typeface="Readex Pro"/>
                          <a:ea typeface="Readex Pro"/>
                          <a:cs typeface="Readex Pro"/>
                        </a:rPr>
                        <a:t>بنية رقمية للنصوص والرجال، استوردنا منها السجلات</a:t>
                      </a:r>
                    </a:p>
                  </a:txBody>
                  <a:tcPr anchor="ctr">
                    <a:solidFill>
                      <a:srgbClr val="EAE7FB"/>
                    </a:solidFill>
                  </a:tcPr>
                </a:tc>
                <a:tc>
                  <a:txBody>
                    <a:bodyPr/>
                    <a:lstStyle/>
                    <a:p>
                      <a:pPr algn="r" rtl="1"/>
                      <a:r>
                        <a:rPr lang="ar-SA" altLang="en-US" sz="2175" b="0">
                          <a:solidFill>
                            <a:srgbClr val="12183F"/>
                          </a:solidFill>
                          <a:latin typeface="Readex Pro"/>
                          <a:ea typeface="Readex Pro"/>
                          <a:cs typeface="Readex Pro"/>
                        </a:rPr>
                        <a:t>Itqan — الإتقان</a:t>
                      </a:r>
                    </a:p>
                  </a:txBody>
                  <a:tcPr anchor="ctr">
                    <a:solidFill>
                      <a:srgbClr val="EAE7FB"/>
                    </a:solidFill>
                  </a:tcPr>
                </a:tc>
                <a:extLst>
                  <a:ext uri="{0D108BD9-81ED-4DB2-BD59-A6C34878D82A}">
                    <a16:rowId xmlns:a16="http://schemas.microsoft.com/office/drawing/2014/main" val="10004"/>
                  </a:ext>
                </a:extLst>
              </a:tr>
            </a:tbl>
          </a:graphicData>
        </a:graphic>
      </p:graphicFrame>
      <p:sp>
        <p:nvSpPr>
          <p:cNvPr id="914" name="text-6ygeyb-3">
            <a:extLst>
              <a:ext uri="{FF2B5EF4-FFF2-40B4-BE49-F238E27FC236}">
                <a16:creationId xmlns:a16="http://schemas.microsoft.com/office/drawing/2014/main" id="{373100D9-2BEF-4C6C-8ACF-8FE12172A4BD}"/>
              </a:ext>
            </a:extLst>
          </p:cNvPr>
          <p:cNvSpPr>
            <a:spLocks noGrp="1"/>
          </p:cNvSpPr>
          <p:nvPr/>
        </p:nvSpPr>
        <p:spPr>
          <a:xfrm>
            <a:off x="1714500" y="9001125"/>
            <a:ext cx="14763750" cy="571500"/>
          </a:xfrm>
          <a:prstGeom prst="rect">
            <a:avLst/>
          </a:prstGeom>
          <a:noFill/>
          <a:ln w="0">
            <a:noFill/>
          </a:ln>
        </p:spPr>
        <p:txBody>
          <a:bodyPr wrap="square" lIns="0" tIns="0" rIns="0" bIns="0" anchor="t">
            <a:noAutofit/>
          </a:bodyPr>
          <a:lstStyle/>
          <a:p>
            <a:pPr algn="r" rtl="1">
              <a:defRPr sz="2625" b="1">
                <a:solidFill>
                  <a:srgbClr val="6150EA"/>
                </a:solidFill>
                <a:latin typeface="Readex Pro"/>
                <a:ea typeface="Readex Pro"/>
                <a:cs typeface="Readex Pro"/>
              </a:defRPr>
            </a:pPr>
            <a:r>
              <a:rPr lang="ar-SA" altLang="en-US" sz="2625" b="1">
                <a:solidFill>
                  <a:srgbClr val="6150EA"/>
                </a:solidFill>
                <a:latin typeface="Readex Pro"/>
                <a:ea typeface="Readex Pro"/>
                <a:cs typeface="Readex Pro"/>
              </a:rPr>
              <a:t>٣٤٬٢٤٠ سجلًا في فهرس البحث المحلي للكتب الستة</a:t>
            </a:r>
          </a:p>
        </p:txBody>
      </p:sp>
    </p:spTree>
    <p:extLst>
      <p:ext uri="{BB962C8B-B14F-4D97-AF65-F5344CB8AC3E}">
        <p14:creationId xmlns:p14="http://schemas.microsoft.com/office/powerpoint/2010/main" val="1055686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2DD23107-4986-8758-3A93-3D74F35908CC}" type="slidenum">
              <a:rPr sz="1800">
                <a:solidFill>
                  <a:srgbClr val="8E99CC"/>
                </a:solidFill>
                <a:latin typeface="Readex Pro"/>
                <a:ea typeface="Readex Pro"/>
                <a:cs typeface="Readex Pro"/>
              </a:rPr>
              <a:t>13</a:t>
            </a:fld>
            <a:endParaRPr/>
          </a:p>
        </p:txBody>
      </p:sp>
      <p:pic>
        <p:nvPicPr>
          <p:cNvPr id="914"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5"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1evtn2-1">
            <a:extLst>
              <a:ext uri="{FF2B5EF4-FFF2-40B4-BE49-F238E27FC236}">
                <a16:creationId xmlns:a16="http://schemas.microsoft.com/office/drawing/2014/main" id="{370FA457-8262-4D88-801C-E2BD2BEF2027}"/>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نتائج تحقق أعيد تشغيلها في 6 أكتوبر 2026</a:t>
            </a:r>
          </a:p>
        </p:txBody>
      </p:sp>
      <p:sp>
        <p:nvSpPr>
          <p:cNvPr id="902" name="slide-title">
            <a:extLst>
              <a:ext uri="{FF2B5EF4-FFF2-40B4-BE49-F238E27FC236}">
                <a16:creationId xmlns:a16="http://schemas.microsoft.com/office/drawing/2014/main" id="{38FB8860-C327-4AEB-8816-94749E638483}"/>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الاختبار يقدّم دليلًا محدد النطاق</a:t>
            </a:r>
          </a:p>
        </p:txBody>
      </p:sp>
      <p:sp>
        <p:nvSpPr>
          <p:cNvPr id="903" name="text-1evtn2-3">
            <a:extLst>
              <a:ext uri="{FF2B5EF4-FFF2-40B4-BE49-F238E27FC236}">
                <a16:creationId xmlns:a16="http://schemas.microsoft.com/office/drawing/2014/main" id="{391234BE-473C-4169-9FAC-9BB572D68B05}"/>
              </a:ext>
            </a:extLst>
          </p:cNvPr>
          <p:cNvSpPr>
            <a:spLocks noGrp="1"/>
          </p:cNvSpPr>
          <p:nvPr/>
        </p:nvSpPr>
        <p:spPr>
          <a:xfrm>
            <a:off x="11620500" y="3571875"/>
            <a:ext cx="5048250" cy="666750"/>
          </a:xfrm>
          <a:prstGeom prst="rect">
            <a:avLst/>
          </a:prstGeom>
          <a:noFill/>
          <a:ln w="0">
            <a:noFill/>
          </a:ln>
        </p:spPr>
        <p:txBody>
          <a:bodyPr wrap="square" lIns="0" tIns="0" rIns="0" bIns="0" anchor="t">
            <a:noAutofit/>
          </a:bodyPr>
          <a:lstStyle/>
          <a:p>
            <a:pPr algn="r">
              <a:defRPr sz="4050" b="1">
                <a:solidFill>
                  <a:srgbClr val="2EF2C2"/>
                </a:solidFill>
                <a:latin typeface="Readex Pro"/>
                <a:ea typeface="Readex Pro"/>
                <a:cs typeface="Readex Pro"/>
              </a:defRPr>
            </a:pPr>
            <a:r>
              <a:rPr sz="4050" b="1">
                <a:solidFill>
                  <a:srgbClr val="2EF2C2"/>
                </a:solidFill>
                <a:latin typeface="Readex Pro"/>
                <a:ea typeface="Readex Pro"/>
                <a:cs typeface="Readex Pro"/>
              </a:rPr>
              <a:t>13 / 13</a:t>
            </a:r>
          </a:p>
        </p:txBody>
      </p:sp>
      <p:sp>
        <p:nvSpPr>
          <p:cNvPr id="904" name="text-1evtn2-4">
            <a:extLst>
              <a:ext uri="{FF2B5EF4-FFF2-40B4-BE49-F238E27FC236}">
                <a16:creationId xmlns:a16="http://schemas.microsoft.com/office/drawing/2014/main" id="{A564B585-8A98-488B-A451-BE1593498A25}"/>
              </a:ext>
            </a:extLst>
          </p:cNvPr>
          <p:cNvSpPr>
            <a:spLocks noGrp="1"/>
          </p:cNvSpPr>
          <p:nvPr/>
        </p:nvSpPr>
        <p:spPr>
          <a:xfrm>
            <a:off x="11620500" y="4371975"/>
            <a:ext cx="5048250" cy="666750"/>
          </a:xfrm>
          <a:prstGeom prst="rect">
            <a:avLst/>
          </a:prstGeom>
          <a:noFill/>
          <a:ln w="0">
            <a:noFill/>
          </a:ln>
        </p:spPr>
        <p:txBody>
          <a:bodyPr wrap="square" lIns="0" tIns="0" rIns="0" bIns="0" anchor="t">
            <a:noAutofit/>
          </a:bodyPr>
          <a:lstStyle/>
          <a:p>
            <a:pPr algn="r" rtl="1">
              <a:defRPr sz="3000" b="1">
                <a:solidFill>
                  <a:srgbClr val="F2F4FF"/>
                </a:solidFill>
                <a:latin typeface="Readex Pro"/>
                <a:ea typeface="Readex Pro"/>
                <a:cs typeface="Readex Pro"/>
              </a:defRPr>
            </a:pPr>
            <a:r>
              <a:rPr lang="ar-SA" altLang="en-US" sz="3000" b="1">
                <a:solidFill>
                  <a:srgbClr val="F2F4FF"/>
                </a:solidFill>
                <a:latin typeface="Readex Pro"/>
                <a:ea typeface="Readex Pro"/>
                <a:cs typeface="Readex Pro"/>
              </a:rPr>
              <a:t>تطابق الشواهد</a:t>
            </a:r>
          </a:p>
        </p:txBody>
      </p:sp>
      <p:sp>
        <p:nvSpPr>
          <p:cNvPr id="905" name="text-1evtn2-5">
            <a:extLst>
              <a:ext uri="{FF2B5EF4-FFF2-40B4-BE49-F238E27FC236}">
                <a16:creationId xmlns:a16="http://schemas.microsoft.com/office/drawing/2014/main" id="{0ED2D830-F2DD-46A7-A884-58C1E60CCA50}"/>
              </a:ext>
            </a:extLst>
          </p:cNvPr>
          <p:cNvSpPr>
            <a:spLocks noGrp="1"/>
          </p:cNvSpPr>
          <p:nvPr/>
        </p:nvSpPr>
        <p:spPr>
          <a:xfrm>
            <a:off x="11620500" y="5191125"/>
            <a:ext cx="5048250" cy="2476500"/>
          </a:xfrm>
          <a:prstGeom prst="rect">
            <a:avLst/>
          </a:prstGeom>
          <a:noFill/>
          <a:ln w="0">
            <a:noFill/>
          </a:ln>
        </p:spPr>
        <p:txBody>
          <a:bodyPr wrap="square" lIns="0" tIns="0" rIns="0" bIns="0" anchor="t">
            <a:noAutofit/>
          </a:bodyPr>
          <a:lstStyle/>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النص والاقتباس والموضع</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والبصمة متوافقة مع</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السجلات المحلية.</a:t>
            </a:r>
          </a:p>
        </p:txBody>
      </p:sp>
      <p:sp>
        <p:nvSpPr>
          <p:cNvPr id="906" name="text-1evtn2-6">
            <a:extLst>
              <a:ext uri="{FF2B5EF4-FFF2-40B4-BE49-F238E27FC236}">
                <a16:creationId xmlns:a16="http://schemas.microsoft.com/office/drawing/2014/main" id="{914B9630-F6FC-48A0-892D-0CF93D545DA0}"/>
              </a:ext>
            </a:extLst>
          </p:cNvPr>
          <p:cNvSpPr>
            <a:spLocks noGrp="1"/>
          </p:cNvSpPr>
          <p:nvPr/>
        </p:nvSpPr>
        <p:spPr>
          <a:xfrm>
            <a:off x="6477000" y="3571875"/>
            <a:ext cx="4667250" cy="666750"/>
          </a:xfrm>
          <a:prstGeom prst="rect">
            <a:avLst/>
          </a:prstGeom>
          <a:noFill/>
          <a:ln w="0">
            <a:noFill/>
          </a:ln>
        </p:spPr>
        <p:txBody>
          <a:bodyPr wrap="square" lIns="0" tIns="0" rIns="0" bIns="0" anchor="t">
            <a:noAutofit/>
          </a:bodyPr>
          <a:lstStyle/>
          <a:p>
            <a:pPr algn="r">
              <a:defRPr sz="4050" b="1">
                <a:solidFill>
                  <a:srgbClr val="2EF2C2"/>
                </a:solidFill>
                <a:latin typeface="Readex Pro"/>
                <a:ea typeface="Readex Pro"/>
                <a:cs typeface="Readex Pro"/>
              </a:defRPr>
            </a:pPr>
            <a:r>
              <a:rPr sz="4050" b="1">
                <a:solidFill>
                  <a:srgbClr val="2EF2C2"/>
                </a:solidFill>
                <a:latin typeface="Readex Pro"/>
                <a:ea typeface="Readex Pro"/>
                <a:cs typeface="Readex Pro"/>
              </a:rPr>
              <a:t>12 / 12</a:t>
            </a:r>
          </a:p>
        </p:txBody>
      </p:sp>
      <p:sp>
        <p:nvSpPr>
          <p:cNvPr id="907" name="text-1evtn2-7">
            <a:extLst>
              <a:ext uri="{FF2B5EF4-FFF2-40B4-BE49-F238E27FC236}">
                <a16:creationId xmlns:a16="http://schemas.microsoft.com/office/drawing/2014/main" id="{D66AE289-D147-4BC1-B856-FCEBC9477340}"/>
              </a:ext>
            </a:extLst>
          </p:cNvPr>
          <p:cNvSpPr>
            <a:spLocks noGrp="1"/>
          </p:cNvSpPr>
          <p:nvPr/>
        </p:nvSpPr>
        <p:spPr>
          <a:xfrm>
            <a:off x="6477000" y="4371975"/>
            <a:ext cx="4667250" cy="666750"/>
          </a:xfrm>
          <a:prstGeom prst="rect">
            <a:avLst/>
          </a:prstGeom>
          <a:noFill/>
          <a:ln w="0">
            <a:noFill/>
          </a:ln>
        </p:spPr>
        <p:txBody>
          <a:bodyPr wrap="square" lIns="0" tIns="0" rIns="0" bIns="0" anchor="t">
            <a:noAutofit/>
          </a:bodyPr>
          <a:lstStyle/>
          <a:p>
            <a:pPr algn="r" rtl="1">
              <a:defRPr sz="3000" b="1">
                <a:solidFill>
                  <a:srgbClr val="F2F4FF"/>
                </a:solidFill>
                <a:latin typeface="Readex Pro"/>
                <a:ea typeface="Readex Pro"/>
                <a:cs typeface="Readex Pro"/>
              </a:defRPr>
            </a:pPr>
            <a:r>
              <a:rPr lang="ar-SA" altLang="en-US" sz="3000" b="1">
                <a:solidFill>
                  <a:srgbClr val="F2F4FF"/>
                </a:solidFill>
                <a:latin typeface="Readex Pro"/>
                <a:ea typeface="Readex Pro"/>
                <a:cs typeface="Readex Pro"/>
              </a:rPr>
              <a:t>اختبارات الموضوعات</a:t>
            </a:r>
          </a:p>
        </p:txBody>
      </p:sp>
      <p:sp>
        <p:nvSpPr>
          <p:cNvPr id="908" name="text-1evtn2-8">
            <a:extLst>
              <a:ext uri="{FF2B5EF4-FFF2-40B4-BE49-F238E27FC236}">
                <a16:creationId xmlns:a16="http://schemas.microsoft.com/office/drawing/2014/main" id="{C18F651D-EB3A-4773-90BE-5585B8F25A5C}"/>
              </a:ext>
            </a:extLst>
          </p:cNvPr>
          <p:cNvSpPr>
            <a:spLocks noGrp="1"/>
          </p:cNvSpPr>
          <p:nvPr/>
        </p:nvSpPr>
        <p:spPr>
          <a:xfrm>
            <a:off x="6477000" y="5191125"/>
            <a:ext cx="4667250" cy="2476500"/>
          </a:xfrm>
          <a:prstGeom prst="rect">
            <a:avLst/>
          </a:prstGeom>
          <a:noFill/>
          <a:ln w="0">
            <a:noFill/>
          </a:ln>
        </p:spPr>
        <p:txBody>
          <a:bodyPr wrap="square" lIns="0" tIns="0" rIns="0" bIns="0" anchor="t">
            <a:noAutofit/>
          </a:bodyPr>
          <a:lstStyle/>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عقود الموضوع والجمهور</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والصيغة وحالة المراجعة</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نجحت في الحزمة الحالية.</a:t>
            </a:r>
          </a:p>
        </p:txBody>
      </p:sp>
      <p:sp>
        <p:nvSpPr>
          <p:cNvPr id="909" name="text-1evtn2-9">
            <a:extLst>
              <a:ext uri="{FF2B5EF4-FFF2-40B4-BE49-F238E27FC236}">
                <a16:creationId xmlns:a16="http://schemas.microsoft.com/office/drawing/2014/main" id="{259F3F23-DE6E-468A-8434-71FE097BA39C}"/>
              </a:ext>
            </a:extLst>
          </p:cNvPr>
          <p:cNvSpPr>
            <a:spLocks noGrp="1"/>
          </p:cNvSpPr>
          <p:nvPr/>
        </p:nvSpPr>
        <p:spPr>
          <a:xfrm>
            <a:off x="1428750" y="3571875"/>
            <a:ext cx="4524375" cy="666750"/>
          </a:xfrm>
          <a:prstGeom prst="rect">
            <a:avLst/>
          </a:prstGeom>
          <a:noFill/>
          <a:ln w="0">
            <a:noFill/>
          </a:ln>
        </p:spPr>
        <p:txBody>
          <a:bodyPr wrap="square" lIns="0" tIns="0" rIns="0" bIns="0" anchor="t">
            <a:noAutofit/>
          </a:bodyPr>
          <a:lstStyle/>
          <a:p>
            <a:pPr algn="r">
              <a:defRPr sz="4050" b="1">
                <a:solidFill>
                  <a:srgbClr val="2EF2C2"/>
                </a:solidFill>
                <a:latin typeface="Readex Pro"/>
                <a:ea typeface="Readex Pro"/>
                <a:cs typeface="Readex Pro"/>
              </a:defRPr>
            </a:pPr>
            <a:r>
              <a:rPr sz="4050" b="1">
                <a:solidFill>
                  <a:srgbClr val="2EF2C2"/>
                </a:solidFill>
                <a:latin typeface="Readex Pro"/>
                <a:ea typeface="Readex Pro"/>
                <a:cs typeface="Readex Pro"/>
              </a:rPr>
              <a:t>6 / 7</a:t>
            </a:r>
          </a:p>
        </p:txBody>
      </p:sp>
      <p:sp>
        <p:nvSpPr>
          <p:cNvPr id="910" name="text-1evtn2-10">
            <a:extLst>
              <a:ext uri="{FF2B5EF4-FFF2-40B4-BE49-F238E27FC236}">
                <a16:creationId xmlns:a16="http://schemas.microsoft.com/office/drawing/2014/main" id="{027C8DFF-7125-4625-8EC5-F504CBB30FCE}"/>
              </a:ext>
            </a:extLst>
          </p:cNvPr>
          <p:cNvSpPr>
            <a:spLocks noGrp="1"/>
          </p:cNvSpPr>
          <p:nvPr/>
        </p:nvSpPr>
        <p:spPr>
          <a:xfrm>
            <a:off x="1428750" y="4371975"/>
            <a:ext cx="4524375" cy="666750"/>
          </a:xfrm>
          <a:prstGeom prst="rect">
            <a:avLst/>
          </a:prstGeom>
          <a:noFill/>
          <a:ln w="0">
            <a:noFill/>
          </a:ln>
        </p:spPr>
        <p:txBody>
          <a:bodyPr wrap="square" lIns="0" tIns="0" rIns="0" bIns="0" anchor="t">
            <a:noAutofit/>
          </a:bodyPr>
          <a:lstStyle/>
          <a:p>
            <a:pPr algn="r" rtl="1">
              <a:defRPr sz="3000" b="1">
                <a:solidFill>
                  <a:srgbClr val="F2F4FF"/>
                </a:solidFill>
                <a:latin typeface="Readex Pro"/>
                <a:ea typeface="Readex Pro"/>
                <a:cs typeface="Readex Pro"/>
              </a:defRPr>
            </a:pPr>
            <a:r>
              <a:rPr lang="ar-SA" altLang="en-US" sz="3000" b="1">
                <a:solidFill>
                  <a:srgbClr val="F2F4FF"/>
                </a:solidFill>
                <a:latin typeface="Readex Pro"/>
                <a:ea typeface="Readex Pro"/>
                <a:cs typeface="Readex Pro"/>
              </a:rPr>
              <a:t>اختبارات الأدوات</a:t>
            </a:r>
          </a:p>
        </p:txBody>
      </p:sp>
      <p:sp>
        <p:nvSpPr>
          <p:cNvPr id="911" name="text-1evtn2-11">
            <a:extLst>
              <a:ext uri="{FF2B5EF4-FFF2-40B4-BE49-F238E27FC236}">
                <a16:creationId xmlns:a16="http://schemas.microsoft.com/office/drawing/2014/main" id="{111551C4-5E45-4427-82E6-628FD7D7BDE8}"/>
              </a:ext>
            </a:extLst>
          </p:cNvPr>
          <p:cNvSpPr>
            <a:spLocks noGrp="1"/>
          </p:cNvSpPr>
          <p:nvPr/>
        </p:nvSpPr>
        <p:spPr>
          <a:xfrm>
            <a:off x="1428750" y="5191125"/>
            <a:ext cx="4524375" cy="2476500"/>
          </a:xfrm>
          <a:prstGeom prst="rect">
            <a:avLst/>
          </a:prstGeom>
          <a:noFill/>
          <a:ln w="0">
            <a:noFill/>
          </a:ln>
        </p:spPr>
        <p:txBody>
          <a:bodyPr wrap="square" lIns="0" tIns="0" rIns="0" bIns="0" anchor="t">
            <a:noAutofit/>
          </a:bodyPr>
          <a:lstStyle/>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تعذّر جلب الشرح المطابق</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في اختبار متصل بمصدر خارجي؛</a:t>
            </a:r>
          </a:p>
          <a:p>
            <a:pPr algn="r" rtl="1">
              <a:defRPr sz="2400" b="0">
                <a:solidFill>
                  <a:srgbClr val="CBCFE6"/>
                </a:solidFill>
                <a:latin typeface="Readex Pro"/>
                <a:ea typeface="Readex Pro"/>
                <a:cs typeface="Readex Pro"/>
              </a:defRPr>
            </a:pPr>
            <a:r>
              <a:rPr lang="ar-SA" altLang="en-US" sz="2400" b="0">
                <a:solidFill>
                  <a:srgbClr val="CBCFE6"/>
                </a:solidFill>
                <a:latin typeface="Readex Pro"/>
                <a:ea typeface="Readex Pro"/>
                <a:cs typeface="Readex Pro"/>
              </a:rPr>
              <a:t>يلزم فحصه قبل العرض الحي.</a:t>
            </a:r>
          </a:p>
        </p:txBody>
      </p:sp>
      <p:sp>
        <p:nvSpPr>
          <p:cNvPr id="912" name="text-1evtn2-12">
            <a:extLst>
              <a:ext uri="{FF2B5EF4-FFF2-40B4-BE49-F238E27FC236}">
                <a16:creationId xmlns:a16="http://schemas.microsoft.com/office/drawing/2014/main" id="{3B3ACDC4-1C3C-4E53-88E4-0FD8A41BF537}"/>
              </a:ext>
            </a:extLst>
          </p:cNvPr>
          <p:cNvSpPr>
            <a:spLocks noGrp="1"/>
          </p:cNvSpPr>
          <p:nvPr/>
        </p:nvSpPr>
        <p:spPr>
          <a:xfrm>
            <a:off x="1809750" y="8667750"/>
            <a:ext cx="14573250" cy="619125"/>
          </a:xfrm>
          <a:prstGeom prst="rect">
            <a:avLst/>
          </a:prstGeom>
          <a:noFill/>
          <a:ln w="0">
            <a:noFill/>
          </a:ln>
        </p:spPr>
        <p:txBody>
          <a:bodyPr wrap="square" lIns="0" tIns="0" rIns="0" bIns="0" anchor="t">
            <a:noAutofit/>
          </a:bodyPr>
          <a:lstStyle/>
          <a:p>
            <a:pPr algn="ctr" rtl="1">
              <a:defRPr sz="2925" b="1">
                <a:solidFill>
                  <a:srgbClr val="2EF2C2"/>
                </a:solidFill>
                <a:latin typeface="Readex Pro"/>
                <a:ea typeface="Readex Pro"/>
                <a:cs typeface="Readex Pro"/>
              </a:defRPr>
            </a:pPr>
            <a:r>
              <a:rPr lang="ar-SA" altLang="en-US" sz="2925" b="1">
                <a:solidFill>
                  <a:srgbClr val="2EF2C2"/>
                </a:solidFill>
                <a:latin typeface="Readex Pro"/>
                <a:ea typeface="Readex Pro"/>
                <a:cs typeface="Readex Pro"/>
              </a:rPr>
              <a:t>اختبار برمجي ناجح ≠ اعتماد علمي شامل</a:t>
            </a:r>
          </a:p>
        </p:txBody>
      </p:sp>
    </p:spTree>
    <p:extLst>
      <p:ext uri="{BB962C8B-B14F-4D97-AF65-F5344CB8AC3E}">
        <p14:creationId xmlns:p14="http://schemas.microsoft.com/office/powerpoint/2010/main" val="1124452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6"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7"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327921A4-25C4-3DB4-06B1-32693CEE2241}" type="slidenum">
              <a:rPr sz="1800">
                <a:solidFill>
                  <a:srgbClr val="4A5590"/>
                </a:solidFill>
                <a:latin typeface="Readex Pro"/>
                <a:ea typeface="Readex Pro"/>
                <a:cs typeface="Readex Pro"/>
              </a:rPr>
              <a:t>14</a:t>
            </a:fld>
            <a:endParaRPr/>
          </a:p>
        </p:txBody>
      </p:sp>
      <p:sp>
        <p:nvSpPr>
          <p:cNvPr id="911" name="text-og5602-1">
            <a:extLst>
              <a:ext uri="{FF2B5EF4-FFF2-40B4-BE49-F238E27FC236}">
                <a16:creationId xmlns:a16="http://schemas.microsoft.com/office/drawing/2014/main" id="{54FFBB22-69EB-4EA5-B5E5-0018789F77BD}"/>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تحقيق معيار نجاح المسار</a:t>
            </a:r>
          </a:p>
        </p:txBody>
      </p:sp>
      <p:sp>
        <p:nvSpPr>
          <p:cNvPr id="912" name="slide-title">
            <a:extLst>
              <a:ext uri="{FF2B5EF4-FFF2-40B4-BE49-F238E27FC236}">
                <a16:creationId xmlns:a16="http://schemas.microsoft.com/office/drawing/2014/main" id="{918A79DD-995F-4C24-95D6-DE5988CD4A22}"/>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نقيس النفع عند إنجاز المهمة</a:t>
            </a:r>
          </a:p>
        </p:txBody>
      </p:sp>
      <p:sp>
        <p:nvSpPr>
          <p:cNvPr id="913" name="text-og5602-3">
            <a:extLst>
              <a:ext uri="{FF2B5EF4-FFF2-40B4-BE49-F238E27FC236}">
                <a16:creationId xmlns:a16="http://schemas.microsoft.com/office/drawing/2014/main" id="{A095A6A2-1123-4D5F-851D-6C76B0EDD26A}"/>
              </a:ext>
            </a:extLst>
          </p:cNvPr>
          <p:cNvSpPr>
            <a:spLocks noGrp="1"/>
          </p:cNvSpPr>
          <p:nvPr/>
        </p:nvSpPr>
        <p:spPr>
          <a:xfrm>
            <a:off x="1428750" y="2619375"/>
            <a:ext cx="15240000" cy="762000"/>
          </a:xfrm>
          <a:prstGeom prst="rect">
            <a:avLst/>
          </a:prstGeom>
          <a:noFill/>
          <a:ln w="0">
            <a:noFill/>
          </a:ln>
        </p:spPr>
        <p:txBody>
          <a:bodyPr wrap="square" lIns="0" tIns="0" rIns="0" bIns="0" anchor="t">
            <a:noAutofit/>
          </a:bodyPr>
          <a:lstStyle/>
          <a:p>
            <a:pPr algn="r" rtl="1">
              <a:defRPr sz="2250" b="0">
                <a:solidFill>
                  <a:srgbClr val="323D68"/>
                </a:solidFill>
                <a:latin typeface="Readex Pro"/>
                <a:ea typeface="Readex Pro"/>
                <a:cs typeface="Readex Pro"/>
              </a:defRPr>
            </a:pPr>
            <a:r>
              <a:rPr lang="ar-SA" altLang="en-US" sz="2250" b="0">
                <a:solidFill>
                  <a:srgbClr val="323D68"/>
                </a:solidFill>
                <a:latin typeface="Readex Pro"/>
                <a:ea typeface="Readex Pro"/>
                <a:cs typeface="Readex Pro"/>
              </a:rPr>
              <a:t>القياس التالي تجربة مستخدمين مخططة، وليس نتائج أثر منشورة</a:t>
            </a:r>
          </a:p>
        </p:txBody>
      </p:sp>
      <p:graphicFrame>
        <p:nvGraphicFramePr>
          <p:cNvPr id="922" name="Table 921"/>
          <p:cNvGraphicFramePr/>
          <p:nvPr/>
        </p:nvGraphicFramePr>
        <p:xfrm>
          <a:off x="1428750" y="3619500"/>
          <a:ext cx="15240000" cy="5143500"/>
        </p:xfrm>
        <a:graphic>
          <a:graphicData uri="http://schemas.openxmlformats.org/drawingml/2006/table">
            <a:tbl>
              <a:tblPr/>
              <a:tblGrid>
                <a:gridCol w="542925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1285875">
                <a:tc>
                  <a:txBody>
                    <a:bodyPr/>
                    <a:lstStyle/>
                    <a:p>
                      <a:pPr algn="r" rtl="1"/>
                      <a:r>
                        <a:rPr lang="ar-SA" altLang="en-US" sz="2175" b="1">
                          <a:solidFill>
                            <a:srgbClr val="F2F4FF"/>
                          </a:solidFill>
                          <a:latin typeface="Readex Pro"/>
                          <a:ea typeface="Readex Pro"/>
                          <a:cs typeface="Readex Pro"/>
                        </a:rPr>
                        <a:t>الدليل المطلوب</a:t>
                      </a:r>
                    </a:p>
                  </a:txBody>
                  <a:tcPr anchor="ctr">
                    <a:solidFill>
                      <a:srgbClr val="6150EA"/>
                    </a:solidFill>
                  </a:tcPr>
                </a:tc>
                <a:tc>
                  <a:txBody>
                    <a:bodyPr/>
                    <a:lstStyle/>
                    <a:p>
                      <a:pPr algn="r" rtl="1"/>
                      <a:r>
                        <a:rPr lang="ar-SA" altLang="en-US" sz="2175" b="1">
                          <a:solidFill>
                            <a:srgbClr val="F2F4FF"/>
                          </a:solidFill>
                          <a:latin typeface="Readex Pro"/>
                          <a:ea typeface="Readex Pro"/>
                          <a:cs typeface="Readex Pro"/>
                        </a:rPr>
                        <a:t>مقياس النفع</a:t>
                      </a:r>
                    </a:p>
                  </a:txBody>
                  <a:tcPr anchor="ctr">
                    <a:solidFill>
                      <a:srgbClr val="6150EA"/>
                    </a:solidFill>
                  </a:tcPr>
                </a:tc>
                <a:tc>
                  <a:txBody>
                    <a:bodyPr/>
                    <a:lstStyle/>
                    <a:p>
                      <a:pPr algn="r" rtl="1"/>
                      <a:r>
                        <a:rPr lang="ar-SA" altLang="en-US" sz="2175" b="1">
                          <a:solidFill>
                            <a:srgbClr val="F2F4FF"/>
                          </a:solidFill>
                          <a:latin typeface="Readex Pro"/>
                          <a:ea typeface="Readex Pro"/>
                          <a:cs typeface="Readex Pro"/>
                        </a:rPr>
                        <a:t>مهمة المستفيد</a:t>
                      </a:r>
                    </a:p>
                  </a:txBody>
                  <a:tcPr anchor="ctr">
                    <a:solidFill>
                      <a:srgbClr val="6150EA"/>
                    </a:solidFill>
                  </a:tcPr>
                </a:tc>
                <a:extLst>
                  <a:ext uri="{0D108BD9-81ED-4DB2-BD59-A6C34878D82A}">
                    <a16:rowId xmlns:a16="http://schemas.microsoft.com/office/drawing/2014/main" val="10000"/>
                  </a:ext>
                </a:extLst>
              </a:tr>
              <a:tr h="1285875">
                <a:tc>
                  <a:txBody>
                    <a:bodyPr/>
                    <a:lstStyle/>
                    <a:p>
                      <a:pPr algn="r" rtl="1"/>
                      <a:r>
                        <a:rPr lang="ar-SA" altLang="en-US" sz="2175" b="0">
                          <a:solidFill>
                            <a:srgbClr val="12183F"/>
                          </a:solidFill>
                          <a:latin typeface="Readex Pro"/>
                          <a:ea typeface="Readex Pro"/>
                          <a:cs typeface="Readex Pro"/>
                        </a:rPr>
                        <a:t>نص صحيح وإحالة قابلة للفتح</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دقة الوصول + زمن المهمة</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العثور على حديث من عبارة</a:t>
                      </a:r>
                    </a:p>
                  </a:txBody>
                  <a:tcPr anchor="ctr">
                    <a:solidFill>
                      <a:srgbClr val="F2F4FF"/>
                    </a:solidFill>
                  </a:tcPr>
                </a:tc>
                <a:extLst>
                  <a:ext uri="{0D108BD9-81ED-4DB2-BD59-A6C34878D82A}">
                    <a16:rowId xmlns:a16="http://schemas.microsoft.com/office/drawing/2014/main" val="10001"/>
                  </a:ext>
                </a:extLst>
              </a:tr>
              <a:tr h="1285875">
                <a:tc>
                  <a:txBody>
                    <a:bodyPr/>
                    <a:lstStyle/>
                    <a:p>
                      <a:pPr algn="r" rtl="1"/>
                      <a:r>
                        <a:rPr lang="ar-SA" altLang="en-US" sz="2175" b="0">
                          <a:solidFill>
                            <a:srgbClr val="12183F"/>
                          </a:solidFill>
                          <a:latin typeface="Readex Pro"/>
                          <a:ea typeface="Readex Pro"/>
                          <a:cs typeface="Readex Pro"/>
                        </a:rPr>
                        <a:t>اقتباس سليم وحالة دليل مفهومة</a:t>
                      </a:r>
                    </a:p>
                  </a:txBody>
                  <a:tcPr anchor="ctr">
                    <a:solidFill>
                      <a:srgbClr val="EAE7FB"/>
                    </a:solidFill>
                  </a:tcPr>
                </a:tc>
                <a:tc>
                  <a:txBody>
                    <a:bodyPr/>
                    <a:lstStyle/>
                    <a:p>
                      <a:pPr algn="r" rtl="1"/>
                      <a:r>
                        <a:rPr lang="ar-SA" altLang="en-US" sz="2175" b="0">
                          <a:solidFill>
                            <a:srgbClr val="12183F"/>
                          </a:solidFill>
                          <a:latin typeface="Readex Pro"/>
                          <a:ea typeface="Readex Pro"/>
                          <a:cs typeface="Readex Pro"/>
                        </a:rPr>
                        <a:t>صحة العزو + فهم المصدر</a:t>
                      </a:r>
                    </a:p>
                  </a:txBody>
                  <a:tcPr anchor="ctr">
                    <a:solidFill>
                      <a:srgbClr val="EAE7FB"/>
                    </a:solidFill>
                  </a:tcPr>
                </a:tc>
                <a:tc>
                  <a:txBody>
                    <a:bodyPr/>
                    <a:lstStyle/>
                    <a:p>
                      <a:pPr algn="r" rtl="1"/>
                      <a:r>
                        <a:rPr lang="ar-SA" altLang="en-US" sz="2175" b="0">
                          <a:solidFill>
                            <a:srgbClr val="12183F"/>
                          </a:solidFill>
                          <a:latin typeface="Readex Pro"/>
                          <a:ea typeface="Readex Pro"/>
                          <a:cs typeface="Readex Pro"/>
                        </a:rPr>
                        <a:t>إعداد مادة تعريفية</a:t>
                      </a:r>
                    </a:p>
                  </a:txBody>
                  <a:tcPr anchor="ctr">
                    <a:solidFill>
                      <a:srgbClr val="EAE7FB"/>
                    </a:solidFill>
                  </a:tcPr>
                </a:tc>
                <a:extLst>
                  <a:ext uri="{0D108BD9-81ED-4DB2-BD59-A6C34878D82A}">
                    <a16:rowId xmlns:a16="http://schemas.microsoft.com/office/drawing/2014/main" val="10002"/>
                  </a:ext>
                </a:extLst>
              </a:tr>
              <a:tr h="1285875">
                <a:tc>
                  <a:txBody>
                    <a:bodyPr/>
                    <a:lstStyle/>
                    <a:p>
                      <a:pPr algn="r" rtl="1"/>
                      <a:r>
                        <a:rPr lang="ar-SA" altLang="en-US" sz="2175" b="0">
                          <a:solidFill>
                            <a:srgbClr val="12183F"/>
                          </a:solidFill>
                          <a:latin typeface="Readex Pro"/>
                          <a:ea typeface="Readex Pro"/>
                          <a:cs typeface="Readex Pro"/>
                        </a:rPr>
                        <a:t>مقارنة يراجعها متخصص</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صحة الروابط + حفظ الالتباس</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دراسة طريق رواية</a:t>
                      </a:r>
                    </a:p>
                  </a:txBody>
                  <a:tcPr anchor="ctr">
                    <a:solidFill>
                      <a:srgbClr val="F2F4FF"/>
                    </a:solidFill>
                  </a:tcPr>
                </a:tc>
                <a:extLst>
                  <a:ext uri="{0D108BD9-81ED-4DB2-BD59-A6C34878D82A}">
                    <a16:rowId xmlns:a16="http://schemas.microsoft.com/office/drawing/2014/main" val="10003"/>
                  </a:ext>
                </a:extLst>
              </a:tr>
            </a:tbl>
          </a:graphicData>
        </a:graphic>
      </p:graphicFrame>
      <p:sp>
        <p:nvSpPr>
          <p:cNvPr id="915" name="text-og5602-4">
            <a:extLst>
              <a:ext uri="{FF2B5EF4-FFF2-40B4-BE49-F238E27FC236}">
                <a16:creationId xmlns:a16="http://schemas.microsoft.com/office/drawing/2014/main" id="{45C77656-CFE7-4C18-B1B2-3C8111204C25}"/>
              </a:ext>
            </a:extLst>
          </p:cNvPr>
          <p:cNvSpPr>
            <a:spLocks noGrp="1"/>
          </p:cNvSpPr>
          <p:nvPr/>
        </p:nvSpPr>
        <p:spPr>
          <a:xfrm>
            <a:off x="1524000" y="9096375"/>
            <a:ext cx="15144750" cy="571500"/>
          </a:xfrm>
          <a:prstGeom prst="rect">
            <a:avLst/>
          </a:prstGeom>
          <a:noFill/>
          <a:ln w="0">
            <a:noFill/>
          </a:ln>
        </p:spPr>
        <p:txBody>
          <a:bodyPr wrap="square" lIns="0" tIns="0" rIns="0" bIns="0" anchor="t">
            <a:noAutofit/>
          </a:bodyPr>
          <a:lstStyle/>
          <a:p>
            <a:pPr algn="r" rtl="1">
              <a:defRPr sz="2175" b="1">
                <a:solidFill>
                  <a:srgbClr val="6150EA"/>
                </a:solidFill>
                <a:latin typeface="Readex Pro"/>
                <a:ea typeface="Readex Pro"/>
                <a:cs typeface="Readex Pro"/>
              </a:defRPr>
            </a:pPr>
            <a:r>
              <a:rPr lang="ar-SA" altLang="en-US" sz="2175" b="1">
                <a:solidFill>
                  <a:srgbClr val="6150EA"/>
                </a:solidFill>
                <a:latin typeface="Readex Pro"/>
                <a:ea typeface="Readex Pro"/>
                <a:cs typeface="Readex Pro"/>
              </a:rPr>
              <a:t>تجربة مقترحة: ١٠ معرّفين و٥ متخصصين، بالمهام نفسها قبل الاستخدام وبعده</a:t>
            </a:r>
          </a:p>
        </p:txBody>
      </p:sp>
    </p:spTree>
    <p:extLst>
      <p:ext uri="{BB962C8B-B14F-4D97-AF65-F5344CB8AC3E}">
        <p14:creationId xmlns:p14="http://schemas.microsoft.com/office/powerpoint/2010/main" val="1055686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EA83FA91-883A-0168-8075-96CEB9DCA3C2}" type="slidenum">
              <a:rPr sz="1800">
                <a:solidFill>
                  <a:srgbClr val="8E99CC"/>
                </a:solidFill>
                <a:latin typeface="Readex Pro"/>
                <a:ea typeface="Readex Pro"/>
                <a:cs typeface="Readex Pro"/>
              </a:rPr>
              <a:t>15</a:t>
            </a:fld>
            <a:endParaRPr/>
          </a:p>
        </p:txBody>
      </p:sp>
      <p:pic>
        <p:nvPicPr>
          <p:cNvPr id="912"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3"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5x7qo1-1">
            <a:extLst>
              <a:ext uri="{FF2B5EF4-FFF2-40B4-BE49-F238E27FC236}">
                <a16:creationId xmlns:a16="http://schemas.microsoft.com/office/drawing/2014/main" id="{5CC126AB-F70B-46C3-806C-09EA53411F30}"/>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منهج التطوير والتحقق</a:t>
            </a:r>
          </a:p>
        </p:txBody>
      </p:sp>
      <p:sp>
        <p:nvSpPr>
          <p:cNvPr id="902" name="slide-title">
            <a:extLst>
              <a:ext uri="{FF2B5EF4-FFF2-40B4-BE49-F238E27FC236}">
                <a16:creationId xmlns:a16="http://schemas.microsoft.com/office/drawing/2014/main" id="{FF0A637D-2EE0-4461-AA77-77D0027BCFAF}"/>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الذكاء الاصطناعي ساعد في البناء والمراجعة</a:t>
            </a:r>
          </a:p>
        </p:txBody>
      </p:sp>
      <p:sp>
        <p:nvSpPr>
          <p:cNvPr id="903" name="text-5x7qo1-3">
            <a:extLst>
              <a:ext uri="{FF2B5EF4-FFF2-40B4-BE49-F238E27FC236}">
                <a16:creationId xmlns:a16="http://schemas.microsoft.com/office/drawing/2014/main" id="{1C808ECA-F42C-4096-A850-6BC3D534ECA8}"/>
              </a:ext>
            </a:extLst>
          </p:cNvPr>
          <p:cNvSpPr>
            <a:spLocks noGrp="1"/>
          </p:cNvSpPr>
          <p:nvPr/>
        </p:nvSpPr>
        <p:spPr>
          <a:xfrm>
            <a:off x="9334500" y="3524250"/>
            <a:ext cx="7334250" cy="666750"/>
          </a:xfrm>
          <a:prstGeom prst="rect">
            <a:avLst/>
          </a:prstGeom>
          <a:noFill/>
          <a:ln w="0">
            <a:noFill/>
          </a:ln>
        </p:spPr>
        <p:txBody>
          <a:bodyPr wrap="square" lIns="0" tIns="0" rIns="0" bIns="0" anchor="t">
            <a:noAutofit/>
          </a:bodyPr>
          <a:lstStyle/>
          <a:p>
            <a:pPr algn="r">
              <a:defRPr sz="3525" b="1">
                <a:solidFill>
                  <a:srgbClr val="2EF2C2"/>
                </a:solidFill>
                <a:latin typeface="Readex Pro"/>
                <a:ea typeface="Readex Pro"/>
                <a:cs typeface="Readex Pro"/>
              </a:defRPr>
            </a:pPr>
            <a:r>
              <a:rPr sz="3525" b="1">
                <a:solidFill>
                  <a:srgbClr val="2EF2C2"/>
                </a:solidFill>
                <a:latin typeface="Readex Pro"/>
                <a:ea typeface="Readex Pro"/>
                <a:cs typeface="Readex Pro"/>
              </a:rPr>
              <a:t>Codex  +  Antigravity</a:t>
            </a:r>
          </a:p>
        </p:txBody>
      </p:sp>
      <p:sp>
        <p:nvSpPr>
          <p:cNvPr id="904" name="text-5x7qo1-4">
            <a:extLst>
              <a:ext uri="{FF2B5EF4-FFF2-40B4-BE49-F238E27FC236}">
                <a16:creationId xmlns:a16="http://schemas.microsoft.com/office/drawing/2014/main" id="{4B5AA1ED-E3EE-4E37-8506-DBFB427DC576}"/>
              </a:ext>
            </a:extLst>
          </p:cNvPr>
          <p:cNvSpPr>
            <a:spLocks noGrp="1"/>
          </p:cNvSpPr>
          <p:nvPr/>
        </p:nvSpPr>
        <p:spPr>
          <a:xfrm>
            <a:off x="9048750" y="4381500"/>
            <a:ext cx="7620000" cy="1428750"/>
          </a:xfrm>
          <a:prstGeom prst="rect">
            <a:avLst/>
          </a:prstGeom>
          <a:noFill/>
          <a:ln w="0">
            <a:noFill/>
          </a:ln>
        </p:spPr>
        <p:txBody>
          <a:bodyPr wrap="square" lIns="0" tIns="0" rIns="0" bIns="0" anchor="t">
            <a:noAutofit/>
          </a:bodyPr>
          <a:lstStyle/>
          <a:p>
            <a:pPr algn="r" rtl="1">
              <a:defRPr sz="2550" b="0">
                <a:solidFill>
                  <a:srgbClr val="F2F4FF"/>
                </a:solidFill>
                <a:latin typeface="Readex Pro"/>
                <a:ea typeface="Readex Pro"/>
                <a:cs typeface="Readex Pro"/>
              </a:defRPr>
            </a:pPr>
            <a:r>
              <a:rPr lang="ar-SA" altLang="en-US" sz="2550" b="0">
                <a:solidFill>
                  <a:srgbClr val="F2F4FF"/>
                </a:solidFill>
                <a:latin typeface="Readex Pro"/>
                <a:ea typeface="Readex Pro"/>
                <a:cs typeface="Readex Pro"/>
              </a:rPr>
              <a:t>تطوير الواجهة والأدوات، إعداد البيانات،</a:t>
            </a:r>
          </a:p>
          <a:p>
            <a:pPr algn="r" rtl="1">
              <a:defRPr sz="2550" b="0">
                <a:solidFill>
                  <a:srgbClr val="F2F4FF"/>
                </a:solidFill>
                <a:latin typeface="Readex Pro"/>
                <a:ea typeface="Readex Pro"/>
                <a:cs typeface="Readex Pro"/>
              </a:defRPr>
            </a:pPr>
            <a:r>
              <a:rPr lang="ar-SA" altLang="en-US" sz="2550" b="0">
                <a:solidFill>
                  <a:srgbClr val="F2F4FF"/>
                </a:solidFill>
                <a:latin typeface="Readex Pro"/>
                <a:ea typeface="Readex Pro"/>
                <a:cs typeface="Readex Pro"/>
              </a:rPr>
              <a:t>مراجعة النتائج واختبارات الانحدار.</a:t>
            </a:r>
          </a:p>
        </p:txBody>
      </p:sp>
      <p:sp>
        <p:nvSpPr>
          <p:cNvPr id="905" name="text-5x7qo1-5">
            <a:extLst>
              <a:ext uri="{FF2B5EF4-FFF2-40B4-BE49-F238E27FC236}">
                <a16:creationId xmlns:a16="http://schemas.microsoft.com/office/drawing/2014/main" id="{E2BDE3B7-2518-4054-9CCE-5E36CB6DEADE}"/>
              </a:ext>
            </a:extLst>
          </p:cNvPr>
          <p:cNvSpPr>
            <a:spLocks noGrp="1"/>
          </p:cNvSpPr>
          <p:nvPr/>
        </p:nvSpPr>
        <p:spPr>
          <a:xfrm>
            <a:off x="1524000" y="3524250"/>
            <a:ext cx="6572250" cy="666750"/>
          </a:xfrm>
          <a:prstGeom prst="rect">
            <a:avLst/>
          </a:prstGeom>
          <a:noFill/>
          <a:ln w="0">
            <a:noFill/>
          </a:ln>
        </p:spPr>
        <p:txBody>
          <a:bodyPr wrap="square" lIns="0" tIns="0" rIns="0" bIns="0" anchor="t">
            <a:noAutofit/>
          </a:bodyPr>
          <a:lstStyle/>
          <a:p>
            <a:pPr algn="r">
              <a:defRPr sz="3525" b="1">
                <a:solidFill>
                  <a:srgbClr val="2EF2C2"/>
                </a:solidFill>
                <a:latin typeface="Readex Pro"/>
                <a:ea typeface="Readex Pro"/>
                <a:cs typeface="Readex Pro"/>
              </a:defRPr>
            </a:pPr>
            <a:r>
              <a:rPr sz="3525" b="1">
                <a:solidFill>
                  <a:srgbClr val="2EF2C2"/>
                </a:solidFill>
                <a:latin typeface="Readex Pro"/>
                <a:ea typeface="Readex Pro"/>
                <a:cs typeface="Readex Pro"/>
              </a:rPr>
              <a:t>Hermes  +  OpenClaw</a:t>
            </a:r>
          </a:p>
        </p:txBody>
      </p:sp>
      <p:sp>
        <p:nvSpPr>
          <p:cNvPr id="906" name="text-5x7qo1-6">
            <a:extLst>
              <a:ext uri="{FF2B5EF4-FFF2-40B4-BE49-F238E27FC236}">
                <a16:creationId xmlns:a16="http://schemas.microsoft.com/office/drawing/2014/main" id="{FF4933F9-7D00-4258-BAB6-C5BD12DCAE41}"/>
              </a:ext>
            </a:extLst>
          </p:cNvPr>
          <p:cNvSpPr>
            <a:spLocks noGrp="1"/>
          </p:cNvSpPr>
          <p:nvPr/>
        </p:nvSpPr>
        <p:spPr>
          <a:xfrm>
            <a:off x="1428750" y="4381500"/>
            <a:ext cx="6667500" cy="1428750"/>
          </a:xfrm>
          <a:prstGeom prst="rect">
            <a:avLst/>
          </a:prstGeom>
          <a:noFill/>
          <a:ln w="0">
            <a:noFill/>
          </a:ln>
        </p:spPr>
        <p:txBody>
          <a:bodyPr wrap="square" lIns="0" tIns="0" rIns="0" bIns="0" anchor="t">
            <a:noAutofit/>
          </a:bodyPr>
          <a:lstStyle/>
          <a:p>
            <a:pPr algn="r" rtl="1">
              <a:defRPr sz="2550" b="0">
                <a:solidFill>
                  <a:srgbClr val="F2F4FF"/>
                </a:solidFill>
                <a:latin typeface="Readex Pro"/>
                <a:ea typeface="Readex Pro"/>
                <a:cs typeface="Readex Pro"/>
              </a:defRPr>
            </a:pPr>
            <a:r>
              <a:rPr lang="ar-SA" altLang="en-US" sz="2550" b="0">
                <a:solidFill>
                  <a:srgbClr val="F2F4FF"/>
                </a:solidFill>
                <a:latin typeface="Readex Pro"/>
                <a:ea typeface="Readex Pro"/>
                <a:cs typeface="Readex Pro"/>
              </a:rPr>
              <a:t>تجربة البدائل في مرحلة الإعداد،</a:t>
            </a:r>
          </a:p>
          <a:p>
            <a:pPr algn="r" rtl="1">
              <a:defRPr sz="2550" b="0">
                <a:solidFill>
                  <a:srgbClr val="F2F4FF"/>
                </a:solidFill>
                <a:latin typeface="Readex Pro"/>
                <a:ea typeface="Readex Pro"/>
                <a:cs typeface="Readex Pro"/>
              </a:defRPr>
            </a:pPr>
            <a:r>
              <a:rPr lang="ar-SA" altLang="en-US" sz="2550" b="0">
                <a:solidFill>
                  <a:srgbClr val="F2F4FF"/>
                </a:solidFill>
                <a:latin typeface="Readex Pro"/>
                <a:ea typeface="Readex Pro"/>
                <a:cs typeface="Readex Pro"/>
              </a:rPr>
              <a:t>والمساعدة في تهيئة النشر والتشغيل.</a:t>
            </a:r>
          </a:p>
        </p:txBody>
      </p:sp>
      <p:sp>
        <p:nvSpPr>
          <p:cNvPr id="907" name="Straight Connector 906">
            <a:extLst>
              <a:ext uri="{FF2B5EF4-FFF2-40B4-BE49-F238E27FC236}">
                <a16:creationId xmlns:a16="http://schemas.microsoft.com/office/drawing/2014/main" id="{4CEF760A-89E6-45CA-9510-DDA567E93C90}"/>
              </a:ext>
            </a:extLst>
          </p:cNvPr>
          <p:cNvSpPr>
            <a:spLocks noGrp="1"/>
          </p:cNvSpPr>
          <p:nvPr/>
        </p:nvSpPr>
        <p:spPr>
          <a:xfrm>
            <a:off x="1524000" y="6191250"/>
            <a:ext cx="15049500" cy="0"/>
          </a:xfrm>
          <a:prstGeom prst="line">
            <a:avLst/>
          </a:prstGeom>
          <a:ln w="19050">
            <a:solidFill>
              <a:srgbClr val="6150EA"/>
            </a:solidFill>
          </a:ln>
        </p:spPr>
      </p:sp>
      <p:sp>
        <p:nvSpPr>
          <p:cNvPr id="908" name="text-5x7qo1-8">
            <a:extLst>
              <a:ext uri="{FF2B5EF4-FFF2-40B4-BE49-F238E27FC236}">
                <a16:creationId xmlns:a16="http://schemas.microsoft.com/office/drawing/2014/main" id="{14FE0C30-781B-44F4-808D-0D32CFDC42F8}"/>
              </a:ext>
            </a:extLst>
          </p:cNvPr>
          <p:cNvSpPr>
            <a:spLocks noGrp="1"/>
          </p:cNvSpPr>
          <p:nvPr/>
        </p:nvSpPr>
        <p:spPr>
          <a:xfrm>
            <a:off x="1905000" y="6572250"/>
            <a:ext cx="14668500" cy="571500"/>
          </a:xfrm>
          <a:prstGeom prst="rect">
            <a:avLst/>
          </a:prstGeom>
          <a:noFill/>
          <a:ln w="0">
            <a:noFill/>
          </a:ln>
        </p:spPr>
        <p:txBody>
          <a:bodyPr wrap="square" lIns="0" tIns="0" rIns="0" bIns="0" anchor="t">
            <a:noAutofit/>
          </a:bodyPr>
          <a:lstStyle/>
          <a:p>
            <a:pPr algn="r" rtl="1">
              <a:defRPr sz="2475" b="0">
                <a:solidFill>
                  <a:srgbClr val="CBCFE6"/>
                </a:solidFill>
                <a:latin typeface="Readex Pro"/>
                <a:ea typeface="Readex Pro"/>
                <a:cs typeface="Readex Pro"/>
              </a:defRPr>
            </a:pPr>
            <a:r>
              <a:rPr lang="ar-SA" altLang="en-US" sz="2475" b="0">
                <a:solidFill>
                  <a:srgbClr val="CBCFE6"/>
                </a:solidFill>
                <a:latin typeface="Readex Pro"/>
                <a:ea typeface="Readex Pro"/>
                <a:cs typeface="Readex Pro"/>
              </a:rPr>
              <a:t>نماذج التطوير بحسب إفادة الفريق</a:t>
            </a:r>
          </a:p>
        </p:txBody>
      </p:sp>
      <p:sp>
        <p:nvSpPr>
          <p:cNvPr id="909" name="text-5x7qo1-9">
            <a:extLst>
              <a:ext uri="{FF2B5EF4-FFF2-40B4-BE49-F238E27FC236}">
                <a16:creationId xmlns:a16="http://schemas.microsoft.com/office/drawing/2014/main" id="{4A35CFF6-A61C-4896-BF55-73FFF3777EEC}"/>
              </a:ext>
            </a:extLst>
          </p:cNvPr>
          <p:cNvSpPr>
            <a:spLocks noGrp="1"/>
          </p:cNvSpPr>
          <p:nvPr/>
        </p:nvSpPr>
        <p:spPr>
          <a:xfrm>
            <a:off x="1905000" y="7334250"/>
            <a:ext cx="14668500" cy="1238250"/>
          </a:xfrm>
          <a:prstGeom prst="rect">
            <a:avLst/>
          </a:prstGeom>
          <a:noFill/>
          <a:ln w="0">
            <a:noFill/>
          </a:ln>
        </p:spPr>
        <p:txBody>
          <a:bodyPr wrap="square" lIns="0" tIns="0" rIns="0" bIns="0" anchor="t">
            <a:noAutofit/>
          </a:bodyPr>
          <a:lstStyle/>
          <a:p>
            <a:pPr algn="ctr">
              <a:defRPr sz="2925" b="0">
                <a:solidFill>
                  <a:srgbClr val="F2F4FF"/>
                </a:solidFill>
                <a:latin typeface="Readex Pro"/>
                <a:ea typeface="Readex Pro"/>
                <a:cs typeface="Readex Pro"/>
              </a:defRPr>
            </a:pPr>
            <a:r>
              <a:rPr sz="2925" b="0">
                <a:solidFill>
                  <a:srgbClr val="F2F4FF"/>
                </a:solidFill>
                <a:latin typeface="Readex Pro"/>
                <a:ea typeface="Readex Pro"/>
                <a:cs typeface="Readex Pro"/>
              </a:rPr>
              <a:t>GPT-6 Astra (Extra High)</a:t>
            </a:r>
          </a:p>
          <a:p>
            <a:pPr algn="ctr">
              <a:defRPr sz="2925" b="0">
                <a:solidFill>
                  <a:srgbClr val="F2F4FF"/>
                </a:solidFill>
                <a:latin typeface="Readex Pro"/>
                <a:ea typeface="Readex Pro"/>
                <a:cs typeface="Readex Pro"/>
              </a:defRPr>
            </a:pPr>
            <a:r>
              <a:rPr sz="2925" b="0">
                <a:solidFill>
                  <a:srgbClr val="F2F4FF"/>
                </a:solidFill>
                <a:latin typeface="Readex Pro"/>
                <a:ea typeface="Readex Pro"/>
                <a:cs typeface="Readex Pro"/>
              </a:rPr>
              <a:t>Gemini Flash 3.8 High  •  Deep Flash v4</a:t>
            </a:r>
          </a:p>
        </p:txBody>
      </p:sp>
      <p:sp>
        <p:nvSpPr>
          <p:cNvPr id="910" name="text-5x7qo1-10">
            <a:extLst>
              <a:ext uri="{FF2B5EF4-FFF2-40B4-BE49-F238E27FC236}">
                <a16:creationId xmlns:a16="http://schemas.microsoft.com/office/drawing/2014/main" id="{3D53D783-5CB8-45AA-9C94-D329E1EC752A}"/>
              </a:ext>
            </a:extLst>
          </p:cNvPr>
          <p:cNvSpPr>
            <a:spLocks noGrp="1"/>
          </p:cNvSpPr>
          <p:nvPr/>
        </p:nvSpPr>
        <p:spPr>
          <a:xfrm>
            <a:off x="1619250" y="9239250"/>
            <a:ext cx="15049500" cy="428625"/>
          </a:xfrm>
          <a:prstGeom prst="rect">
            <a:avLst/>
          </a:prstGeom>
          <a:noFill/>
          <a:ln w="0">
            <a:noFill/>
          </a:ln>
        </p:spPr>
        <p:txBody>
          <a:bodyPr wrap="square" lIns="0" tIns="0" rIns="0" bIns="0" anchor="t">
            <a:noAutofit/>
          </a:bodyPr>
          <a:lstStyle/>
          <a:p>
            <a:pPr algn="r" rtl="1">
              <a:defRPr sz="1800" b="0">
                <a:solidFill>
                  <a:srgbClr val="CBCFE6"/>
                </a:solidFill>
                <a:latin typeface="Readex Pro"/>
                <a:ea typeface="Readex Pro"/>
                <a:cs typeface="Readex Pro"/>
              </a:defRPr>
            </a:pPr>
            <a:r>
              <a:rPr lang="ar-SA" altLang="en-US" sz="1800" b="0">
                <a:solidFill>
                  <a:srgbClr val="CBCFE6"/>
                </a:solidFill>
                <a:latin typeface="Readex Pro"/>
                <a:ea typeface="Readex Pro"/>
                <a:cs typeface="Readex Pro"/>
              </a:rPr>
              <a:t>تسميتا Gemini وDeep مثبتتان كما وردتا من الفريق؛ يلزم تأكيد معرّفيهما التجاريين</a:t>
            </a:r>
          </a:p>
        </p:txBody>
      </p:sp>
    </p:spTree>
    <p:extLst>
      <p:ext uri="{BB962C8B-B14F-4D97-AF65-F5344CB8AC3E}">
        <p14:creationId xmlns:p14="http://schemas.microsoft.com/office/powerpoint/2010/main" val="1124452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5"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26"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DC9C7607-4BA3-B4DC-A00F-2E67A9FCFF7E}" type="slidenum">
              <a:rPr sz="1800">
                <a:solidFill>
                  <a:srgbClr val="4A5590"/>
                </a:solidFill>
                <a:latin typeface="Readex Pro"/>
                <a:ea typeface="Readex Pro"/>
                <a:cs typeface="Readex Pro"/>
              </a:rPr>
              <a:t>16</a:t>
            </a:fld>
            <a:endParaRPr/>
          </a:p>
        </p:txBody>
      </p:sp>
      <p:sp>
        <p:nvSpPr>
          <p:cNvPr id="911" name="text-9d6v3t-1">
            <a:extLst>
              <a:ext uri="{FF2B5EF4-FFF2-40B4-BE49-F238E27FC236}">
                <a16:creationId xmlns:a16="http://schemas.microsoft.com/office/drawing/2014/main" id="{F640A1C0-7B94-45AF-A25E-221AB51E5F16}"/>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واقعية التشغيل</a:t>
            </a:r>
          </a:p>
        </p:txBody>
      </p:sp>
      <p:sp>
        <p:nvSpPr>
          <p:cNvPr id="912" name="slide-title">
            <a:extLst>
              <a:ext uri="{FF2B5EF4-FFF2-40B4-BE49-F238E27FC236}">
                <a16:creationId xmlns:a16="http://schemas.microsoft.com/office/drawing/2014/main" id="{15FA783E-2A4B-475B-BAB0-5B29D54F3D6D}"/>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الاستكمال له مخرجات قبول واضحة</a:t>
            </a:r>
          </a:p>
        </p:txBody>
      </p:sp>
      <p:sp>
        <p:nvSpPr>
          <p:cNvPr id="913" name="text-9d6v3t-3">
            <a:extLst>
              <a:ext uri="{FF2B5EF4-FFF2-40B4-BE49-F238E27FC236}">
                <a16:creationId xmlns:a16="http://schemas.microsoft.com/office/drawing/2014/main" id="{8F40DE9D-5946-4AB6-887E-BBCB836C08A6}"/>
              </a:ext>
            </a:extLst>
          </p:cNvPr>
          <p:cNvSpPr>
            <a:spLocks noGrp="1"/>
          </p:cNvSpPr>
          <p:nvPr/>
        </p:nvSpPr>
        <p:spPr>
          <a:xfrm>
            <a:off x="15430500" y="3476625"/>
            <a:ext cx="1143000" cy="619125"/>
          </a:xfrm>
          <a:prstGeom prst="rect">
            <a:avLst/>
          </a:prstGeom>
          <a:noFill/>
          <a:ln w="0">
            <a:noFill/>
          </a:ln>
        </p:spPr>
        <p:txBody>
          <a:bodyPr wrap="square" lIns="0" tIns="0" rIns="0" bIns="0" anchor="t">
            <a:noAutofit/>
          </a:bodyPr>
          <a:lstStyle/>
          <a:p>
            <a:pPr algn="r">
              <a:defRPr sz="3675" b="1">
                <a:solidFill>
                  <a:srgbClr val="6150EA"/>
                </a:solidFill>
                <a:latin typeface="Readex Pro"/>
                <a:ea typeface="Readex Pro"/>
                <a:cs typeface="Readex Pro"/>
              </a:defRPr>
            </a:pPr>
            <a:r>
              <a:rPr sz="3675" b="1">
                <a:solidFill>
                  <a:srgbClr val="6150EA"/>
                </a:solidFill>
                <a:latin typeface="Readex Pro"/>
                <a:ea typeface="Readex Pro"/>
                <a:cs typeface="Readex Pro"/>
              </a:rPr>
              <a:t>01</a:t>
            </a:r>
          </a:p>
        </p:txBody>
      </p:sp>
      <p:sp>
        <p:nvSpPr>
          <p:cNvPr id="914" name="text-9d6v3t-4">
            <a:extLst>
              <a:ext uri="{FF2B5EF4-FFF2-40B4-BE49-F238E27FC236}">
                <a16:creationId xmlns:a16="http://schemas.microsoft.com/office/drawing/2014/main" id="{E2BAF48D-C8E9-4B77-832A-5A6AA4478ECF}"/>
              </a:ext>
            </a:extLst>
          </p:cNvPr>
          <p:cNvSpPr>
            <a:spLocks noGrp="1"/>
          </p:cNvSpPr>
          <p:nvPr/>
        </p:nvSpPr>
        <p:spPr>
          <a:xfrm>
            <a:off x="10858500" y="3476625"/>
            <a:ext cx="3810000" cy="590550"/>
          </a:xfrm>
          <a:prstGeom prst="rect">
            <a:avLst/>
          </a:prstGeom>
          <a:noFill/>
          <a:ln w="0">
            <a:noFill/>
          </a:ln>
        </p:spPr>
        <p:txBody>
          <a:bodyPr wrap="square" lIns="0" tIns="0" rIns="0" bIns="0" anchor="t">
            <a:noAutofit/>
          </a:bodyPr>
          <a:lstStyle/>
          <a:p>
            <a:pPr algn="r" rtl="1">
              <a:defRPr sz="2850" b="1">
                <a:solidFill>
                  <a:srgbClr val="12183F"/>
                </a:solidFill>
                <a:latin typeface="Readex Pro"/>
                <a:ea typeface="Readex Pro"/>
                <a:cs typeface="Readex Pro"/>
              </a:defRPr>
            </a:pPr>
            <a:r>
              <a:rPr lang="ar-SA" altLang="en-US" sz="2850" b="1">
                <a:solidFill>
                  <a:srgbClr val="12183F"/>
                </a:solidFill>
                <a:latin typeface="Readex Pro"/>
                <a:ea typeface="Readex Pro"/>
                <a:cs typeface="Readex Pro"/>
              </a:rPr>
              <a:t>مراجعة علمية</a:t>
            </a:r>
          </a:p>
        </p:txBody>
      </p:sp>
      <p:sp>
        <p:nvSpPr>
          <p:cNvPr id="915" name="text-9d6v3t-5">
            <a:extLst>
              <a:ext uri="{FF2B5EF4-FFF2-40B4-BE49-F238E27FC236}">
                <a16:creationId xmlns:a16="http://schemas.microsoft.com/office/drawing/2014/main" id="{F38A92D4-727B-420E-885E-FEC8DC87913E}"/>
              </a:ext>
            </a:extLst>
          </p:cNvPr>
          <p:cNvSpPr>
            <a:spLocks noGrp="1"/>
          </p:cNvSpPr>
          <p:nvPr/>
        </p:nvSpPr>
        <p:spPr>
          <a:xfrm>
            <a:off x="1428750" y="3514725"/>
            <a:ext cx="8763000" cy="104775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اعتماد الشواهد والتفسير وتعيين الرواة بواسطة متخصص</a:t>
            </a:r>
          </a:p>
        </p:txBody>
      </p:sp>
      <p:sp>
        <p:nvSpPr>
          <p:cNvPr id="916" name="text-9d6v3t-6">
            <a:extLst>
              <a:ext uri="{FF2B5EF4-FFF2-40B4-BE49-F238E27FC236}">
                <a16:creationId xmlns:a16="http://schemas.microsoft.com/office/drawing/2014/main" id="{9C33CBBE-E9E1-4123-9840-D26592B3FEE1}"/>
              </a:ext>
            </a:extLst>
          </p:cNvPr>
          <p:cNvSpPr>
            <a:spLocks noGrp="1"/>
          </p:cNvSpPr>
          <p:nvPr/>
        </p:nvSpPr>
        <p:spPr>
          <a:xfrm>
            <a:off x="15430500" y="4857750"/>
            <a:ext cx="1143000" cy="619125"/>
          </a:xfrm>
          <a:prstGeom prst="rect">
            <a:avLst/>
          </a:prstGeom>
          <a:noFill/>
          <a:ln w="0">
            <a:noFill/>
          </a:ln>
        </p:spPr>
        <p:txBody>
          <a:bodyPr wrap="square" lIns="0" tIns="0" rIns="0" bIns="0" anchor="t">
            <a:noAutofit/>
          </a:bodyPr>
          <a:lstStyle/>
          <a:p>
            <a:pPr algn="r">
              <a:defRPr sz="3675" b="1">
                <a:solidFill>
                  <a:srgbClr val="6150EA"/>
                </a:solidFill>
                <a:latin typeface="Readex Pro"/>
                <a:ea typeface="Readex Pro"/>
                <a:cs typeface="Readex Pro"/>
              </a:defRPr>
            </a:pPr>
            <a:r>
              <a:rPr sz="3675" b="1">
                <a:solidFill>
                  <a:srgbClr val="6150EA"/>
                </a:solidFill>
                <a:latin typeface="Readex Pro"/>
                <a:ea typeface="Readex Pro"/>
                <a:cs typeface="Readex Pro"/>
              </a:rPr>
              <a:t>02</a:t>
            </a:r>
          </a:p>
        </p:txBody>
      </p:sp>
      <p:sp>
        <p:nvSpPr>
          <p:cNvPr id="917" name="text-9d6v3t-7">
            <a:extLst>
              <a:ext uri="{FF2B5EF4-FFF2-40B4-BE49-F238E27FC236}">
                <a16:creationId xmlns:a16="http://schemas.microsoft.com/office/drawing/2014/main" id="{BC5D8A59-5074-460D-979B-0E49550BB2B3}"/>
              </a:ext>
            </a:extLst>
          </p:cNvPr>
          <p:cNvSpPr>
            <a:spLocks noGrp="1"/>
          </p:cNvSpPr>
          <p:nvPr/>
        </p:nvSpPr>
        <p:spPr>
          <a:xfrm>
            <a:off x="10858500" y="4857750"/>
            <a:ext cx="3810000" cy="590550"/>
          </a:xfrm>
          <a:prstGeom prst="rect">
            <a:avLst/>
          </a:prstGeom>
          <a:noFill/>
          <a:ln w="0">
            <a:noFill/>
          </a:ln>
        </p:spPr>
        <p:txBody>
          <a:bodyPr wrap="square" lIns="0" tIns="0" rIns="0" bIns="0" anchor="t">
            <a:noAutofit/>
          </a:bodyPr>
          <a:lstStyle/>
          <a:p>
            <a:pPr algn="r" rtl="1">
              <a:defRPr sz="2850" b="1">
                <a:solidFill>
                  <a:srgbClr val="12183F"/>
                </a:solidFill>
                <a:latin typeface="Readex Pro"/>
                <a:ea typeface="Readex Pro"/>
                <a:cs typeface="Readex Pro"/>
              </a:defRPr>
            </a:pPr>
            <a:r>
              <a:rPr lang="ar-SA" altLang="en-US" sz="2850" b="1">
                <a:solidFill>
                  <a:srgbClr val="12183F"/>
                </a:solidFill>
                <a:latin typeface="Readex Pro"/>
                <a:ea typeface="Readex Pro"/>
                <a:cs typeface="Readex Pro"/>
              </a:rPr>
              <a:t>تثبيت التشغيل</a:t>
            </a:r>
          </a:p>
        </p:txBody>
      </p:sp>
      <p:sp>
        <p:nvSpPr>
          <p:cNvPr id="918" name="text-9d6v3t-8">
            <a:extLst>
              <a:ext uri="{FF2B5EF4-FFF2-40B4-BE49-F238E27FC236}">
                <a16:creationId xmlns:a16="http://schemas.microsoft.com/office/drawing/2014/main" id="{2F3D158C-1966-4432-8BA4-C30C52B9857B}"/>
              </a:ext>
            </a:extLst>
          </p:cNvPr>
          <p:cNvSpPr>
            <a:spLocks noGrp="1"/>
          </p:cNvSpPr>
          <p:nvPr/>
        </p:nvSpPr>
        <p:spPr>
          <a:xfrm>
            <a:off x="1428750" y="4895850"/>
            <a:ext cx="8763000" cy="104775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مزامنة الأدوات، ربط المعرفة المعتمدة، وإعادة فحص المحادثات</a:t>
            </a:r>
          </a:p>
        </p:txBody>
      </p:sp>
      <p:sp>
        <p:nvSpPr>
          <p:cNvPr id="919" name="text-9d6v3t-9">
            <a:extLst>
              <a:ext uri="{FF2B5EF4-FFF2-40B4-BE49-F238E27FC236}">
                <a16:creationId xmlns:a16="http://schemas.microsoft.com/office/drawing/2014/main" id="{574100ED-6A70-416F-B2C4-8176AD3AC500}"/>
              </a:ext>
            </a:extLst>
          </p:cNvPr>
          <p:cNvSpPr>
            <a:spLocks noGrp="1"/>
          </p:cNvSpPr>
          <p:nvPr/>
        </p:nvSpPr>
        <p:spPr>
          <a:xfrm>
            <a:off x="15430500" y="6238875"/>
            <a:ext cx="1143000" cy="619125"/>
          </a:xfrm>
          <a:prstGeom prst="rect">
            <a:avLst/>
          </a:prstGeom>
          <a:noFill/>
          <a:ln w="0">
            <a:noFill/>
          </a:ln>
        </p:spPr>
        <p:txBody>
          <a:bodyPr wrap="square" lIns="0" tIns="0" rIns="0" bIns="0" anchor="t">
            <a:noAutofit/>
          </a:bodyPr>
          <a:lstStyle/>
          <a:p>
            <a:pPr algn="r">
              <a:defRPr sz="3675" b="1">
                <a:solidFill>
                  <a:srgbClr val="6150EA"/>
                </a:solidFill>
                <a:latin typeface="Readex Pro"/>
                <a:ea typeface="Readex Pro"/>
                <a:cs typeface="Readex Pro"/>
              </a:defRPr>
            </a:pPr>
            <a:r>
              <a:rPr sz="3675" b="1">
                <a:solidFill>
                  <a:srgbClr val="6150EA"/>
                </a:solidFill>
                <a:latin typeface="Readex Pro"/>
                <a:ea typeface="Readex Pro"/>
                <a:cs typeface="Readex Pro"/>
              </a:rPr>
              <a:t>03</a:t>
            </a:r>
          </a:p>
        </p:txBody>
      </p:sp>
      <p:sp>
        <p:nvSpPr>
          <p:cNvPr id="920" name="text-9d6v3t-10">
            <a:extLst>
              <a:ext uri="{FF2B5EF4-FFF2-40B4-BE49-F238E27FC236}">
                <a16:creationId xmlns:a16="http://schemas.microsoft.com/office/drawing/2014/main" id="{4DEAE685-F17D-44BD-89E8-55A6EC9F85A2}"/>
              </a:ext>
            </a:extLst>
          </p:cNvPr>
          <p:cNvSpPr>
            <a:spLocks noGrp="1"/>
          </p:cNvSpPr>
          <p:nvPr/>
        </p:nvSpPr>
        <p:spPr>
          <a:xfrm>
            <a:off x="10858500" y="6238875"/>
            <a:ext cx="3810000" cy="590550"/>
          </a:xfrm>
          <a:prstGeom prst="rect">
            <a:avLst/>
          </a:prstGeom>
          <a:noFill/>
          <a:ln w="0">
            <a:noFill/>
          </a:ln>
        </p:spPr>
        <p:txBody>
          <a:bodyPr wrap="square" lIns="0" tIns="0" rIns="0" bIns="0" anchor="t">
            <a:noAutofit/>
          </a:bodyPr>
          <a:lstStyle/>
          <a:p>
            <a:pPr algn="r" rtl="1">
              <a:defRPr sz="2850" b="1">
                <a:solidFill>
                  <a:srgbClr val="12183F"/>
                </a:solidFill>
                <a:latin typeface="Readex Pro"/>
                <a:ea typeface="Readex Pro"/>
                <a:cs typeface="Readex Pro"/>
              </a:defRPr>
            </a:pPr>
            <a:r>
              <a:rPr lang="ar-SA" altLang="en-US" sz="2850" b="1">
                <a:solidFill>
                  <a:srgbClr val="12183F"/>
                </a:solidFill>
                <a:latin typeface="Readex Pro"/>
                <a:ea typeface="Readex Pro"/>
                <a:cs typeface="Readex Pro"/>
              </a:rPr>
              <a:t>نشر قابل للإعادة</a:t>
            </a:r>
          </a:p>
        </p:txBody>
      </p:sp>
      <p:sp>
        <p:nvSpPr>
          <p:cNvPr id="921" name="text-9d6v3t-11">
            <a:extLst>
              <a:ext uri="{FF2B5EF4-FFF2-40B4-BE49-F238E27FC236}">
                <a16:creationId xmlns:a16="http://schemas.microsoft.com/office/drawing/2014/main" id="{12ADF87D-67D4-42E6-B9DC-36325B08142F}"/>
              </a:ext>
            </a:extLst>
          </p:cNvPr>
          <p:cNvSpPr>
            <a:spLocks noGrp="1"/>
          </p:cNvSpPr>
          <p:nvPr/>
        </p:nvSpPr>
        <p:spPr>
          <a:xfrm>
            <a:off x="1428750" y="6276975"/>
            <a:ext cx="8763000" cy="104775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إعدادات موثقة ونسخ احتياطي ومراقبة تعذّر الخدمات</a:t>
            </a:r>
          </a:p>
        </p:txBody>
      </p:sp>
      <p:sp>
        <p:nvSpPr>
          <p:cNvPr id="922" name="text-9d6v3t-12">
            <a:extLst>
              <a:ext uri="{FF2B5EF4-FFF2-40B4-BE49-F238E27FC236}">
                <a16:creationId xmlns:a16="http://schemas.microsoft.com/office/drawing/2014/main" id="{1ABDA7A9-0626-4828-A422-F28C86CBF4F9}"/>
              </a:ext>
            </a:extLst>
          </p:cNvPr>
          <p:cNvSpPr>
            <a:spLocks noGrp="1"/>
          </p:cNvSpPr>
          <p:nvPr/>
        </p:nvSpPr>
        <p:spPr>
          <a:xfrm>
            <a:off x="15430500" y="7620000"/>
            <a:ext cx="1143000" cy="619125"/>
          </a:xfrm>
          <a:prstGeom prst="rect">
            <a:avLst/>
          </a:prstGeom>
          <a:noFill/>
          <a:ln w="0">
            <a:noFill/>
          </a:ln>
        </p:spPr>
        <p:txBody>
          <a:bodyPr wrap="square" lIns="0" tIns="0" rIns="0" bIns="0" anchor="t">
            <a:noAutofit/>
          </a:bodyPr>
          <a:lstStyle/>
          <a:p>
            <a:pPr algn="r">
              <a:defRPr sz="3675" b="1">
                <a:solidFill>
                  <a:srgbClr val="6150EA"/>
                </a:solidFill>
                <a:latin typeface="Readex Pro"/>
                <a:ea typeface="Readex Pro"/>
                <a:cs typeface="Readex Pro"/>
              </a:defRPr>
            </a:pPr>
            <a:r>
              <a:rPr sz="3675" b="1">
                <a:solidFill>
                  <a:srgbClr val="6150EA"/>
                </a:solidFill>
                <a:latin typeface="Readex Pro"/>
                <a:ea typeface="Readex Pro"/>
                <a:cs typeface="Readex Pro"/>
              </a:rPr>
              <a:t>04</a:t>
            </a:r>
          </a:p>
        </p:txBody>
      </p:sp>
      <p:sp>
        <p:nvSpPr>
          <p:cNvPr id="923" name="text-9d6v3t-13">
            <a:extLst>
              <a:ext uri="{FF2B5EF4-FFF2-40B4-BE49-F238E27FC236}">
                <a16:creationId xmlns:a16="http://schemas.microsoft.com/office/drawing/2014/main" id="{248E512B-6C1A-4A87-934E-C0E3AA253FB8}"/>
              </a:ext>
            </a:extLst>
          </p:cNvPr>
          <p:cNvSpPr>
            <a:spLocks noGrp="1"/>
          </p:cNvSpPr>
          <p:nvPr/>
        </p:nvSpPr>
        <p:spPr>
          <a:xfrm>
            <a:off x="10858500" y="7620000"/>
            <a:ext cx="3810000" cy="590550"/>
          </a:xfrm>
          <a:prstGeom prst="rect">
            <a:avLst/>
          </a:prstGeom>
          <a:noFill/>
          <a:ln w="0">
            <a:noFill/>
          </a:ln>
        </p:spPr>
        <p:txBody>
          <a:bodyPr wrap="square" lIns="0" tIns="0" rIns="0" bIns="0" anchor="t">
            <a:noAutofit/>
          </a:bodyPr>
          <a:lstStyle/>
          <a:p>
            <a:pPr algn="r" rtl="1">
              <a:defRPr sz="2850" b="1">
                <a:solidFill>
                  <a:srgbClr val="12183F"/>
                </a:solidFill>
                <a:latin typeface="Readex Pro"/>
                <a:ea typeface="Readex Pro"/>
                <a:cs typeface="Readex Pro"/>
              </a:defRPr>
            </a:pPr>
            <a:r>
              <a:rPr lang="ar-SA" altLang="en-US" sz="2850" b="1">
                <a:solidFill>
                  <a:srgbClr val="12183F"/>
                </a:solidFill>
                <a:latin typeface="Readex Pro"/>
                <a:ea typeface="Readex Pro"/>
                <a:cs typeface="Readex Pro"/>
              </a:rPr>
              <a:t>قياس وتوسعة</a:t>
            </a:r>
          </a:p>
        </p:txBody>
      </p:sp>
      <p:sp>
        <p:nvSpPr>
          <p:cNvPr id="924" name="text-9d6v3t-14">
            <a:extLst>
              <a:ext uri="{FF2B5EF4-FFF2-40B4-BE49-F238E27FC236}">
                <a16:creationId xmlns:a16="http://schemas.microsoft.com/office/drawing/2014/main" id="{EC3CF317-201C-47B9-89A2-A38BF5296323}"/>
              </a:ext>
            </a:extLst>
          </p:cNvPr>
          <p:cNvSpPr>
            <a:spLocks noGrp="1"/>
          </p:cNvSpPr>
          <p:nvPr/>
        </p:nvSpPr>
        <p:spPr>
          <a:xfrm>
            <a:off x="1428750" y="7658100"/>
            <a:ext cx="8763000" cy="1047750"/>
          </a:xfrm>
          <a:prstGeom prst="rect">
            <a:avLst/>
          </a:prstGeom>
          <a:noFill/>
          <a:ln w="0">
            <a:noFill/>
          </a:ln>
        </p:spPr>
        <p:txBody>
          <a:bodyPr wrap="square" lIns="0" tIns="0" rIns="0" bIns="0" anchor="t">
            <a:noAutofit/>
          </a:bodyPr>
          <a:lstStyle/>
          <a:p>
            <a:pPr algn="r" rtl="1">
              <a:defRPr sz="2400" b="0">
                <a:solidFill>
                  <a:srgbClr val="323D68"/>
                </a:solidFill>
                <a:latin typeface="Readex Pro"/>
                <a:ea typeface="Readex Pro"/>
                <a:cs typeface="Readex Pro"/>
              </a:defRPr>
            </a:pPr>
            <a:r>
              <a:rPr lang="ar-SA" altLang="en-US" sz="2400" b="0">
                <a:solidFill>
                  <a:srgbClr val="323D68"/>
                </a:solidFill>
                <a:latin typeface="Readex Pro"/>
                <a:ea typeface="Readex Pro"/>
                <a:cs typeface="Readex Pro"/>
              </a:rPr>
              <a:t>تجربة المستفيدين، ثم توسيع الموضوعات ومسار MCP</a:t>
            </a:r>
          </a:p>
        </p:txBody>
      </p:sp>
    </p:spTree>
    <p:extLst>
      <p:ext uri="{BB962C8B-B14F-4D97-AF65-F5344CB8AC3E}">
        <p14:creationId xmlns:p14="http://schemas.microsoft.com/office/powerpoint/2010/main" val="1055686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90F7333B-44AC-F7E9-D49D-FE92F45E0477}" type="slidenum">
              <a:rPr sz="1800">
                <a:solidFill>
                  <a:srgbClr val="8E99CC"/>
                </a:solidFill>
                <a:latin typeface="Readex Pro"/>
                <a:ea typeface="Readex Pro"/>
                <a:cs typeface="Readex Pro"/>
              </a:rPr>
              <a:t>17</a:t>
            </a:fld>
            <a:endParaRPr/>
          </a:p>
        </p:txBody>
      </p:sp>
      <p:pic>
        <p:nvPicPr>
          <p:cNvPr id="916"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7"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lte5jf-1">
            <a:extLst>
              <a:ext uri="{FF2B5EF4-FFF2-40B4-BE49-F238E27FC236}">
                <a16:creationId xmlns:a16="http://schemas.microsoft.com/office/drawing/2014/main" id="{E567BBCB-8281-4008-AE81-C5194824A99A}"/>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سيناريو إثبات الفكرة — ٩٠ ثانية</a:t>
            </a:r>
          </a:p>
        </p:txBody>
      </p:sp>
      <p:sp>
        <p:nvSpPr>
          <p:cNvPr id="902" name="slide-title">
            <a:extLst>
              <a:ext uri="{FF2B5EF4-FFF2-40B4-BE49-F238E27FC236}">
                <a16:creationId xmlns:a16="http://schemas.microsoft.com/office/drawing/2014/main" id="{8CF0DCFF-E088-44F7-81B6-245DD9F3A72A}"/>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عرض حي يبدأ بحاجة وينتهي بدليل</a:t>
            </a:r>
          </a:p>
        </p:txBody>
      </p:sp>
      <p:sp>
        <p:nvSpPr>
          <p:cNvPr id="903" name="text-lte5jf-3">
            <a:extLst>
              <a:ext uri="{FF2B5EF4-FFF2-40B4-BE49-F238E27FC236}">
                <a16:creationId xmlns:a16="http://schemas.microsoft.com/office/drawing/2014/main" id="{126B8DAC-0704-403F-A062-252E538C80F4}"/>
              </a:ext>
            </a:extLst>
          </p:cNvPr>
          <p:cNvSpPr>
            <a:spLocks noGrp="1"/>
          </p:cNvSpPr>
          <p:nvPr/>
        </p:nvSpPr>
        <p:spPr>
          <a:xfrm>
            <a:off x="13430250" y="3476625"/>
            <a:ext cx="3238500" cy="552450"/>
          </a:xfrm>
          <a:prstGeom prst="rect">
            <a:avLst/>
          </a:prstGeom>
          <a:noFill/>
          <a:ln w="0">
            <a:noFill/>
          </a:ln>
        </p:spPr>
        <p:txBody>
          <a:bodyPr wrap="square" lIns="0" tIns="0" rIns="0" bIns="0" anchor="t">
            <a:noAutofit/>
          </a:bodyPr>
          <a:lstStyle/>
          <a:p>
            <a:pPr algn="r" rtl="1">
              <a:defRPr sz="2325" b="1">
                <a:solidFill>
                  <a:srgbClr val="2EF2C2"/>
                </a:solidFill>
                <a:latin typeface="Readex Pro"/>
                <a:ea typeface="Readex Pro"/>
                <a:cs typeface="Readex Pro"/>
              </a:defRPr>
            </a:pPr>
            <a:r>
              <a:rPr lang="ar-SA" altLang="en-US" sz="2325" b="1">
                <a:solidFill>
                  <a:srgbClr val="2EF2C2"/>
                </a:solidFill>
                <a:latin typeface="Readex Pro"/>
                <a:ea typeface="Readex Pro"/>
                <a:cs typeface="Readex Pro"/>
              </a:rPr>
              <a:t>٠–٢٠ ثانية</a:t>
            </a:r>
          </a:p>
        </p:txBody>
      </p:sp>
      <p:sp>
        <p:nvSpPr>
          <p:cNvPr id="904" name="text-lte5jf-4">
            <a:extLst>
              <a:ext uri="{FF2B5EF4-FFF2-40B4-BE49-F238E27FC236}">
                <a16:creationId xmlns:a16="http://schemas.microsoft.com/office/drawing/2014/main" id="{0CCA0394-0BC3-48FF-9863-4630396F3A4D}"/>
              </a:ext>
            </a:extLst>
          </p:cNvPr>
          <p:cNvSpPr>
            <a:spLocks noGrp="1"/>
          </p:cNvSpPr>
          <p:nvPr/>
        </p:nvSpPr>
        <p:spPr>
          <a:xfrm>
            <a:off x="7620000" y="3476625"/>
            <a:ext cx="5238750" cy="590550"/>
          </a:xfrm>
          <a:prstGeom prst="rect">
            <a:avLst/>
          </a:prstGeom>
          <a:noFill/>
          <a:ln w="0">
            <a:noFill/>
          </a:ln>
        </p:spPr>
        <p:txBody>
          <a:bodyPr wrap="square" lIns="0" tIns="0" rIns="0" bIns="0" anchor="t">
            <a:noAutofit/>
          </a:bodyPr>
          <a:lstStyle/>
          <a:p>
            <a:pPr algn="r" rtl="1">
              <a:defRPr sz="2700" b="1">
                <a:solidFill>
                  <a:srgbClr val="F2F4FF"/>
                </a:solidFill>
                <a:latin typeface="Readex Pro"/>
                <a:ea typeface="Readex Pro"/>
                <a:cs typeface="Readex Pro"/>
              </a:defRPr>
            </a:pPr>
            <a:r>
              <a:rPr lang="ar-SA" altLang="en-US" sz="2700" b="1">
                <a:solidFill>
                  <a:srgbClr val="F2F4FF"/>
                </a:solidFill>
                <a:latin typeface="Readex Pro"/>
                <a:ea typeface="Readex Pro"/>
                <a:cs typeface="Readex Pro"/>
              </a:rPr>
              <a:t>اختيار الرحمة وحسن الخلق</a:t>
            </a:r>
          </a:p>
        </p:txBody>
      </p:sp>
      <p:sp>
        <p:nvSpPr>
          <p:cNvPr id="905" name="text-lte5jf-5">
            <a:extLst>
              <a:ext uri="{FF2B5EF4-FFF2-40B4-BE49-F238E27FC236}">
                <a16:creationId xmlns:a16="http://schemas.microsoft.com/office/drawing/2014/main" id="{9FAFF757-C467-4CD3-B8C8-243096673E0A}"/>
              </a:ext>
            </a:extLst>
          </p:cNvPr>
          <p:cNvSpPr>
            <a:spLocks noGrp="1"/>
          </p:cNvSpPr>
          <p:nvPr/>
        </p:nvSpPr>
        <p:spPr>
          <a:xfrm>
            <a:off x="1428750" y="3476625"/>
            <a:ext cx="5667375" cy="1047750"/>
          </a:xfrm>
          <a:prstGeom prst="rect">
            <a:avLst/>
          </a:prstGeom>
          <a:noFill/>
          <a:ln w="0">
            <a:noFill/>
          </a:ln>
        </p:spPr>
        <p:txBody>
          <a:bodyPr wrap="square" lIns="0" tIns="0" rIns="0" bIns="0" anchor="t">
            <a:noAutofit/>
          </a:bodyPr>
          <a:lstStyle/>
          <a:p>
            <a:pPr algn="r" rtl="1">
              <a:defRPr sz="2250" b="0">
                <a:solidFill>
                  <a:srgbClr val="CBCFE6"/>
                </a:solidFill>
                <a:latin typeface="Readex Pro"/>
                <a:ea typeface="Readex Pro"/>
                <a:cs typeface="Readex Pro"/>
              </a:defRPr>
            </a:pPr>
            <a:r>
              <a:rPr lang="ar-SA" altLang="en-US" sz="2250" b="0">
                <a:solidFill>
                  <a:srgbClr val="CBCFE6"/>
                </a:solidFill>
                <a:latin typeface="Readex Pro"/>
                <a:ea typeface="Readex Pro"/>
                <a:cs typeface="Readex Pro"/>
              </a:rPr>
              <a:t>جمهور متعرّف على الإسلام، وصيغة سؤال وجواب.</a:t>
            </a:r>
          </a:p>
        </p:txBody>
      </p:sp>
      <p:sp>
        <p:nvSpPr>
          <p:cNvPr id="906" name="text-lte5jf-6">
            <a:extLst>
              <a:ext uri="{FF2B5EF4-FFF2-40B4-BE49-F238E27FC236}">
                <a16:creationId xmlns:a16="http://schemas.microsoft.com/office/drawing/2014/main" id="{51AABAD9-E613-49CC-8DE0-445719B47694}"/>
              </a:ext>
            </a:extLst>
          </p:cNvPr>
          <p:cNvSpPr>
            <a:spLocks noGrp="1"/>
          </p:cNvSpPr>
          <p:nvPr/>
        </p:nvSpPr>
        <p:spPr>
          <a:xfrm>
            <a:off x="13430250" y="4857750"/>
            <a:ext cx="3238500" cy="552450"/>
          </a:xfrm>
          <a:prstGeom prst="rect">
            <a:avLst/>
          </a:prstGeom>
          <a:noFill/>
          <a:ln w="0">
            <a:noFill/>
          </a:ln>
        </p:spPr>
        <p:txBody>
          <a:bodyPr wrap="square" lIns="0" tIns="0" rIns="0" bIns="0" anchor="t">
            <a:noAutofit/>
          </a:bodyPr>
          <a:lstStyle/>
          <a:p>
            <a:pPr algn="r" rtl="1">
              <a:defRPr sz="2325" b="1">
                <a:solidFill>
                  <a:srgbClr val="2EF2C2"/>
                </a:solidFill>
                <a:latin typeface="Readex Pro"/>
                <a:ea typeface="Readex Pro"/>
                <a:cs typeface="Readex Pro"/>
              </a:defRPr>
            </a:pPr>
            <a:r>
              <a:rPr lang="ar-SA" altLang="en-US" sz="2325" b="1">
                <a:solidFill>
                  <a:srgbClr val="2EF2C2"/>
                </a:solidFill>
                <a:latin typeface="Readex Pro"/>
                <a:ea typeface="Readex Pro"/>
                <a:cs typeface="Readex Pro"/>
              </a:rPr>
              <a:t>٢٠–٤٥ ثانية</a:t>
            </a:r>
          </a:p>
        </p:txBody>
      </p:sp>
      <p:sp>
        <p:nvSpPr>
          <p:cNvPr id="907" name="text-lte5jf-7">
            <a:extLst>
              <a:ext uri="{FF2B5EF4-FFF2-40B4-BE49-F238E27FC236}">
                <a16:creationId xmlns:a16="http://schemas.microsoft.com/office/drawing/2014/main" id="{1163A9D3-F856-4266-952D-74825AE562D0}"/>
              </a:ext>
            </a:extLst>
          </p:cNvPr>
          <p:cNvSpPr>
            <a:spLocks noGrp="1"/>
          </p:cNvSpPr>
          <p:nvPr/>
        </p:nvSpPr>
        <p:spPr>
          <a:xfrm>
            <a:off x="7620000" y="4857750"/>
            <a:ext cx="5238750" cy="590550"/>
          </a:xfrm>
          <a:prstGeom prst="rect">
            <a:avLst/>
          </a:prstGeom>
          <a:noFill/>
          <a:ln w="0">
            <a:noFill/>
          </a:ln>
        </p:spPr>
        <p:txBody>
          <a:bodyPr wrap="square" lIns="0" tIns="0" rIns="0" bIns="0" anchor="t">
            <a:noAutofit/>
          </a:bodyPr>
          <a:lstStyle/>
          <a:p>
            <a:pPr algn="r" rtl="1">
              <a:defRPr sz="2700" b="1">
                <a:solidFill>
                  <a:srgbClr val="F2F4FF"/>
                </a:solidFill>
                <a:latin typeface="Readex Pro"/>
                <a:ea typeface="Readex Pro"/>
                <a:cs typeface="Readex Pro"/>
              </a:defRPr>
            </a:pPr>
            <a:r>
              <a:rPr lang="ar-SA" altLang="en-US" sz="2700" b="1">
                <a:solidFill>
                  <a:srgbClr val="F2F4FF"/>
                </a:solidFill>
                <a:latin typeface="Readex Pro"/>
                <a:ea typeface="Readex Pro"/>
                <a:cs typeface="Readex Pro"/>
              </a:rPr>
              <a:t>فتح الشاهد ومصدره</a:t>
            </a:r>
          </a:p>
        </p:txBody>
      </p:sp>
      <p:sp>
        <p:nvSpPr>
          <p:cNvPr id="908" name="text-lte5jf-8">
            <a:extLst>
              <a:ext uri="{FF2B5EF4-FFF2-40B4-BE49-F238E27FC236}">
                <a16:creationId xmlns:a16="http://schemas.microsoft.com/office/drawing/2014/main" id="{A751F110-F7AD-4E1B-8C2C-9675D533B975}"/>
              </a:ext>
            </a:extLst>
          </p:cNvPr>
          <p:cNvSpPr>
            <a:spLocks noGrp="1"/>
          </p:cNvSpPr>
          <p:nvPr/>
        </p:nvSpPr>
        <p:spPr>
          <a:xfrm>
            <a:off x="1428750" y="4857750"/>
            <a:ext cx="5667375" cy="1047750"/>
          </a:xfrm>
          <a:prstGeom prst="rect">
            <a:avLst/>
          </a:prstGeom>
          <a:noFill/>
          <a:ln w="0">
            <a:noFill/>
          </a:ln>
        </p:spPr>
        <p:txBody>
          <a:bodyPr wrap="square" lIns="0" tIns="0" rIns="0" bIns="0" anchor="t">
            <a:noAutofit/>
          </a:bodyPr>
          <a:lstStyle/>
          <a:p>
            <a:pPr algn="r" rtl="1">
              <a:defRPr sz="2250" b="0">
                <a:solidFill>
                  <a:srgbClr val="CBCFE6"/>
                </a:solidFill>
                <a:latin typeface="Readex Pro"/>
                <a:ea typeface="Readex Pro"/>
                <a:cs typeface="Readex Pro"/>
              </a:defRPr>
            </a:pPr>
            <a:r>
              <a:rPr lang="ar-SA" altLang="en-US" sz="2250" b="0">
                <a:solidFill>
                  <a:srgbClr val="CBCFE6"/>
                </a:solidFill>
                <a:latin typeface="Readex Pro"/>
                <a:ea typeface="Readex Pro"/>
                <a:cs typeface="Readex Pro"/>
              </a:rPr>
              <a:t>نطابق النص ونقرأ حالة المراجعة والتغطية.</a:t>
            </a:r>
          </a:p>
        </p:txBody>
      </p:sp>
      <p:sp>
        <p:nvSpPr>
          <p:cNvPr id="909" name="text-lte5jf-9">
            <a:extLst>
              <a:ext uri="{FF2B5EF4-FFF2-40B4-BE49-F238E27FC236}">
                <a16:creationId xmlns:a16="http://schemas.microsoft.com/office/drawing/2014/main" id="{EB9BE477-710D-4B44-BA0C-5D0B76001853}"/>
              </a:ext>
            </a:extLst>
          </p:cNvPr>
          <p:cNvSpPr>
            <a:spLocks noGrp="1"/>
          </p:cNvSpPr>
          <p:nvPr/>
        </p:nvSpPr>
        <p:spPr>
          <a:xfrm>
            <a:off x="13430250" y="6238875"/>
            <a:ext cx="3238500" cy="552450"/>
          </a:xfrm>
          <a:prstGeom prst="rect">
            <a:avLst/>
          </a:prstGeom>
          <a:noFill/>
          <a:ln w="0">
            <a:noFill/>
          </a:ln>
        </p:spPr>
        <p:txBody>
          <a:bodyPr wrap="square" lIns="0" tIns="0" rIns="0" bIns="0" anchor="t">
            <a:noAutofit/>
          </a:bodyPr>
          <a:lstStyle/>
          <a:p>
            <a:pPr algn="r" rtl="1">
              <a:defRPr sz="2325" b="1">
                <a:solidFill>
                  <a:srgbClr val="2EF2C2"/>
                </a:solidFill>
                <a:latin typeface="Readex Pro"/>
                <a:ea typeface="Readex Pro"/>
                <a:cs typeface="Readex Pro"/>
              </a:defRPr>
            </a:pPr>
            <a:r>
              <a:rPr lang="ar-SA" altLang="en-US" sz="2325" b="1">
                <a:solidFill>
                  <a:srgbClr val="2EF2C2"/>
                </a:solidFill>
                <a:latin typeface="Readex Pro"/>
                <a:ea typeface="Readex Pro"/>
                <a:cs typeface="Readex Pro"/>
              </a:rPr>
              <a:t>٤٥–٧٠ ثانية</a:t>
            </a:r>
          </a:p>
        </p:txBody>
      </p:sp>
      <p:sp>
        <p:nvSpPr>
          <p:cNvPr id="910" name="text-lte5jf-10">
            <a:extLst>
              <a:ext uri="{FF2B5EF4-FFF2-40B4-BE49-F238E27FC236}">
                <a16:creationId xmlns:a16="http://schemas.microsoft.com/office/drawing/2014/main" id="{F5FF07E3-79F5-40E7-96EA-58E14C389B1E}"/>
              </a:ext>
            </a:extLst>
          </p:cNvPr>
          <p:cNvSpPr>
            <a:spLocks noGrp="1"/>
          </p:cNvSpPr>
          <p:nvPr/>
        </p:nvSpPr>
        <p:spPr>
          <a:xfrm>
            <a:off x="7620000" y="6238875"/>
            <a:ext cx="5238750" cy="590550"/>
          </a:xfrm>
          <a:prstGeom prst="rect">
            <a:avLst/>
          </a:prstGeom>
          <a:noFill/>
          <a:ln w="0">
            <a:noFill/>
          </a:ln>
        </p:spPr>
        <p:txBody>
          <a:bodyPr wrap="square" lIns="0" tIns="0" rIns="0" bIns="0" anchor="t">
            <a:noAutofit/>
          </a:bodyPr>
          <a:lstStyle/>
          <a:p>
            <a:pPr algn="r" rtl="1">
              <a:defRPr sz="2700" b="1">
                <a:solidFill>
                  <a:srgbClr val="F2F4FF"/>
                </a:solidFill>
                <a:latin typeface="Readex Pro"/>
                <a:ea typeface="Readex Pro"/>
                <a:cs typeface="Readex Pro"/>
              </a:defRPr>
            </a:pPr>
            <a:r>
              <a:rPr lang="ar-SA" altLang="en-US" sz="2700" b="1">
                <a:solidFill>
                  <a:srgbClr val="F2F4FF"/>
                </a:solidFill>
                <a:latin typeface="Readex Pro"/>
                <a:ea typeface="Readex Pro"/>
                <a:cs typeface="Readex Pro"/>
              </a:rPr>
              <a:t>متابعة بلغة طبيعية</a:t>
            </a:r>
          </a:p>
        </p:txBody>
      </p:sp>
      <p:sp>
        <p:nvSpPr>
          <p:cNvPr id="911" name="text-lte5jf-11">
            <a:extLst>
              <a:ext uri="{FF2B5EF4-FFF2-40B4-BE49-F238E27FC236}">
                <a16:creationId xmlns:a16="http://schemas.microsoft.com/office/drawing/2014/main" id="{85076DD0-7108-4EA2-8887-C823B8536D46}"/>
              </a:ext>
            </a:extLst>
          </p:cNvPr>
          <p:cNvSpPr>
            <a:spLocks noGrp="1"/>
          </p:cNvSpPr>
          <p:nvPr/>
        </p:nvSpPr>
        <p:spPr>
          <a:xfrm>
            <a:off x="1428750" y="6238875"/>
            <a:ext cx="5667375" cy="1047750"/>
          </a:xfrm>
          <a:prstGeom prst="rect">
            <a:avLst/>
          </a:prstGeom>
          <a:noFill/>
          <a:ln w="0">
            <a:noFill/>
          </a:ln>
        </p:spPr>
        <p:txBody>
          <a:bodyPr wrap="square" lIns="0" tIns="0" rIns="0" bIns="0" anchor="t">
            <a:noAutofit/>
          </a:bodyPr>
          <a:lstStyle/>
          <a:p>
            <a:pPr algn="r" rtl="1">
              <a:defRPr sz="2250" b="0">
                <a:solidFill>
                  <a:srgbClr val="CBCFE6"/>
                </a:solidFill>
                <a:latin typeface="Readex Pro"/>
                <a:ea typeface="Readex Pro"/>
                <a:cs typeface="Readex Pro"/>
              </a:defRPr>
            </a:pPr>
            <a:r>
              <a:rPr lang="ar-SA" altLang="en-US" sz="2250" b="0">
                <a:solidFill>
                  <a:srgbClr val="CBCFE6"/>
                </a:solidFill>
                <a:latin typeface="Readex Pro"/>
                <a:ea typeface="Readex Pro"/>
                <a:cs typeface="Readex Pro"/>
              </a:rPr>
              <a:t>نطلب شرحًا ميسرًا يلتزم بالشاهد المسترجع.</a:t>
            </a:r>
          </a:p>
        </p:txBody>
      </p:sp>
      <p:sp>
        <p:nvSpPr>
          <p:cNvPr id="912" name="text-lte5jf-12">
            <a:extLst>
              <a:ext uri="{FF2B5EF4-FFF2-40B4-BE49-F238E27FC236}">
                <a16:creationId xmlns:a16="http://schemas.microsoft.com/office/drawing/2014/main" id="{6287D09E-253E-4C01-AE06-F876661F1479}"/>
              </a:ext>
            </a:extLst>
          </p:cNvPr>
          <p:cNvSpPr>
            <a:spLocks noGrp="1"/>
          </p:cNvSpPr>
          <p:nvPr/>
        </p:nvSpPr>
        <p:spPr>
          <a:xfrm>
            <a:off x="13430250" y="7620000"/>
            <a:ext cx="3238500" cy="552450"/>
          </a:xfrm>
          <a:prstGeom prst="rect">
            <a:avLst/>
          </a:prstGeom>
          <a:noFill/>
          <a:ln w="0">
            <a:noFill/>
          </a:ln>
        </p:spPr>
        <p:txBody>
          <a:bodyPr wrap="square" lIns="0" tIns="0" rIns="0" bIns="0" anchor="t">
            <a:noAutofit/>
          </a:bodyPr>
          <a:lstStyle/>
          <a:p>
            <a:pPr algn="r" rtl="1">
              <a:defRPr sz="2325" b="1">
                <a:solidFill>
                  <a:srgbClr val="2EF2C2"/>
                </a:solidFill>
                <a:latin typeface="Readex Pro"/>
                <a:ea typeface="Readex Pro"/>
                <a:cs typeface="Readex Pro"/>
              </a:defRPr>
            </a:pPr>
            <a:r>
              <a:rPr lang="ar-SA" altLang="en-US" sz="2325" b="1">
                <a:solidFill>
                  <a:srgbClr val="2EF2C2"/>
                </a:solidFill>
                <a:latin typeface="Readex Pro"/>
                <a:ea typeface="Readex Pro"/>
                <a:cs typeface="Readex Pro"/>
              </a:rPr>
              <a:t>٧٠–٩٠ ثانية</a:t>
            </a:r>
          </a:p>
        </p:txBody>
      </p:sp>
      <p:sp>
        <p:nvSpPr>
          <p:cNvPr id="913" name="text-lte5jf-13">
            <a:extLst>
              <a:ext uri="{FF2B5EF4-FFF2-40B4-BE49-F238E27FC236}">
                <a16:creationId xmlns:a16="http://schemas.microsoft.com/office/drawing/2014/main" id="{E36EDBCB-1EBE-43C0-945D-6493E06A1602}"/>
              </a:ext>
            </a:extLst>
          </p:cNvPr>
          <p:cNvSpPr>
            <a:spLocks noGrp="1"/>
          </p:cNvSpPr>
          <p:nvPr/>
        </p:nvSpPr>
        <p:spPr>
          <a:xfrm>
            <a:off x="7620000" y="7620000"/>
            <a:ext cx="5238750" cy="590550"/>
          </a:xfrm>
          <a:prstGeom prst="rect">
            <a:avLst/>
          </a:prstGeom>
          <a:noFill/>
          <a:ln w="0">
            <a:noFill/>
          </a:ln>
        </p:spPr>
        <p:txBody>
          <a:bodyPr wrap="square" lIns="0" tIns="0" rIns="0" bIns="0" anchor="t">
            <a:noAutofit/>
          </a:bodyPr>
          <a:lstStyle/>
          <a:p>
            <a:pPr algn="r" rtl="1">
              <a:defRPr sz="2700" b="1">
                <a:solidFill>
                  <a:srgbClr val="F2F4FF"/>
                </a:solidFill>
                <a:latin typeface="Readex Pro"/>
                <a:ea typeface="Readex Pro"/>
                <a:cs typeface="Readex Pro"/>
              </a:defRPr>
            </a:pPr>
            <a:r>
              <a:rPr lang="ar-SA" altLang="en-US" sz="2700" b="1">
                <a:solidFill>
                  <a:srgbClr val="F2F4FF"/>
                </a:solidFill>
                <a:latin typeface="Readex Pro"/>
                <a:ea typeface="Readex Pro"/>
                <a:cs typeface="Readex Pro"/>
              </a:rPr>
              <a:t>الانتقال إلى البحث</a:t>
            </a:r>
          </a:p>
        </p:txBody>
      </p:sp>
      <p:sp>
        <p:nvSpPr>
          <p:cNvPr id="914" name="text-lte5jf-14">
            <a:extLst>
              <a:ext uri="{FF2B5EF4-FFF2-40B4-BE49-F238E27FC236}">
                <a16:creationId xmlns:a16="http://schemas.microsoft.com/office/drawing/2014/main" id="{0C576290-7698-475E-989C-3FFD2D4A3D66}"/>
              </a:ext>
            </a:extLst>
          </p:cNvPr>
          <p:cNvSpPr>
            <a:spLocks noGrp="1"/>
          </p:cNvSpPr>
          <p:nvPr/>
        </p:nvSpPr>
        <p:spPr>
          <a:xfrm>
            <a:off x="1428750" y="7620000"/>
            <a:ext cx="5667375" cy="1047750"/>
          </a:xfrm>
          <a:prstGeom prst="rect">
            <a:avLst/>
          </a:prstGeom>
          <a:noFill/>
          <a:ln w="0">
            <a:noFill/>
          </a:ln>
        </p:spPr>
        <p:txBody>
          <a:bodyPr wrap="square" lIns="0" tIns="0" rIns="0" bIns="0" anchor="t">
            <a:noAutofit/>
          </a:bodyPr>
          <a:lstStyle/>
          <a:p>
            <a:pPr algn="r" rtl="1">
              <a:defRPr sz="2250" b="0">
                <a:solidFill>
                  <a:srgbClr val="CBCFE6"/>
                </a:solidFill>
                <a:latin typeface="Readex Pro"/>
                <a:ea typeface="Readex Pro"/>
                <a:cs typeface="Readex Pro"/>
              </a:defRPr>
            </a:pPr>
            <a:r>
              <a:rPr lang="ar-SA" altLang="en-US" sz="2250" b="0">
                <a:solidFill>
                  <a:srgbClr val="CBCFE6"/>
                </a:solidFill>
                <a:latin typeface="Readex Pro"/>
                <a:ea typeface="Readex Pro"/>
                <a:cs typeface="Readex Pro"/>
              </a:rPr>
              <a:t>نعرض مثال «ح» والقرابة، ثم نفتح دليل الرابط.</a:t>
            </a:r>
          </a:p>
        </p:txBody>
      </p:sp>
    </p:spTree>
    <p:extLst>
      <p:ext uri="{BB962C8B-B14F-4D97-AF65-F5344CB8AC3E}">
        <p14:creationId xmlns:p14="http://schemas.microsoft.com/office/powerpoint/2010/main" val="1124452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B1C6C81E-38B9-7560-621D-5A151A79DF9B}" type="slidenum">
              <a:rPr sz="1800">
                <a:solidFill>
                  <a:srgbClr val="8E99CC"/>
                </a:solidFill>
                <a:latin typeface="Readex Pro"/>
                <a:ea typeface="Readex Pro"/>
                <a:cs typeface="Readex Pro"/>
              </a:rPr>
              <a:t>18</a:t>
            </a:fld>
            <a:endParaRPr/>
          </a:p>
        </p:txBody>
      </p:sp>
      <p:pic>
        <p:nvPicPr>
          <p:cNvPr id="908"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09"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yyhyp3-1">
            <a:extLst>
              <a:ext uri="{FF2B5EF4-FFF2-40B4-BE49-F238E27FC236}">
                <a16:creationId xmlns:a16="http://schemas.microsoft.com/office/drawing/2014/main" id="{2FDF0E9B-B170-4499-997B-1460674D729C}"/>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فريق الهدهد 403</a:t>
            </a:r>
          </a:p>
        </p:txBody>
      </p:sp>
      <p:sp>
        <p:nvSpPr>
          <p:cNvPr id="902" name="slide-title">
            <a:extLst>
              <a:ext uri="{FF2B5EF4-FFF2-40B4-BE49-F238E27FC236}">
                <a16:creationId xmlns:a16="http://schemas.microsoft.com/office/drawing/2014/main" id="{99759909-3762-4ED6-9CFC-A41ED6197609}"/>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بيان السُّنّة</a:t>
            </a:r>
          </a:p>
        </p:txBody>
      </p:sp>
      <p:sp>
        <p:nvSpPr>
          <p:cNvPr id="903" name="text-yyhyp3-3">
            <a:extLst>
              <a:ext uri="{FF2B5EF4-FFF2-40B4-BE49-F238E27FC236}">
                <a16:creationId xmlns:a16="http://schemas.microsoft.com/office/drawing/2014/main" id="{5A0EF3BE-BCCA-4C56-819F-F553058FCCB5}"/>
              </a:ext>
            </a:extLst>
          </p:cNvPr>
          <p:cNvSpPr>
            <a:spLocks noGrp="1"/>
          </p:cNvSpPr>
          <p:nvPr/>
        </p:nvSpPr>
        <p:spPr>
          <a:xfrm>
            <a:off x="2000250" y="3429000"/>
            <a:ext cx="14382750" cy="2286000"/>
          </a:xfrm>
          <a:prstGeom prst="rect">
            <a:avLst/>
          </a:prstGeom>
          <a:noFill/>
          <a:ln w="0">
            <a:noFill/>
          </a:ln>
        </p:spPr>
        <p:txBody>
          <a:bodyPr wrap="square" lIns="0" tIns="0" rIns="0" bIns="0" anchor="t">
            <a:noAutofit/>
          </a:bodyPr>
          <a:lstStyle/>
          <a:p>
            <a:pPr algn="ctr" rtl="1">
              <a:defRPr sz="5250" b="1">
                <a:solidFill>
                  <a:srgbClr val="F2F4FF"/>
                </a:solidFill>
                <a:latin typeface="Readex Pro"/>
                <a:ea typeface="Readex Pro"/>
                <a:cs typeface="Readex Pro"/>
              </a:defRPr>
            </a:pPr>
            <a:r>
              <a:rPr lang="ar-SA" altLang="en-US" sz="5250" b="1">
                <a:solidFill>
                  <a:srgbClr val="F2F4FF"/>
                </a:solidFill>
                <a:latin typeface="Readex Pro"/>
                <a:ea typeface="Readex Pro"/>
                <a:cs typeface="Readex Pro"/>
              </a:rPr>
              <a:t>من سؤال طبيعي</a:t>
            </a:r>
          </a:p>
          <a:p>
            <a:pPr algn="ctr" rtl="1">
              <a:defRPr sz="5250" b="1">
                <a:solidFill>
                  <a:srgbClr val="F2F4FF"/>
                </a:solidFill>
                <a:latin typeface="Readex Pro"/>
                <a:ea typeface="Readex Pro"/>
                <a:cs typeface="Readex Pro"/>
              </a:defRPr>
            </a:pPr>
            <a:r>
              <a:rPr lang="ar-SA" altLang="en-US" sz="5250" b="1">
                <a:solidFill>
                  <a:srgbClr val="F2F4FF"/>
                </a:solidFill>
                <a:latin typeface="Readex Pro"/>
                <a:ea typeface="Readex Pro"/>
                <a:cs typeface="Readex Pro"/>
              </a:rPr>
              <a:t>إلى معرفة يمكن الرجوع إلى دليلها</a:t>
            </a:r>
          </a:p>
        </p:txBody>
      </p:sp>
      <p:sp>
        <p:nvSpPr>
          <p:cNvPr id="904" name="text-yyhyp3-4">
            <a:extLst>
              <a:ext uri="{FF2B5EF4-FFF2-40B4-BE49-F238E27FC236}">
                <a16:creationId xmlns:a16="http://schemas.microsoft.com/office/drawing/2014/main" id="{DF88111C-A25F-4CB8-8BA2-1F5BCD95F305}"/>
              </a:ext>
            </a:extLst>
          </p:cNvPr>
          <p:cNvSpPr>
            <a:spLocks noGrp="1"/>
          </p:cNvSpPr>
          <p:nvPr/>
        </p:nvSpPr>
        <p:spPr>
          <a:xfrm>
            <a:off x="3810000" y="6191250"/>
            <a:ext cx="10572750" cy="762000"/>
          </a:xfrm>
          <a:prstGeom prst="rect">
            <a:avLst/>
          </a:prstGeom>
          <a:noFill/>
          <a:ln w="0">
            <a:noFill/>
          </a:ln>
        </p:spPr>
        <p:txBody>
          <a:bodyPr wrap="square" lIns="0" tIns="0" rIns="0" bIns="0" anchor="t">
            <a:noAutofit/>
          </a:bodyPr>
          <a:lstStyle/>
          <a:p>
            <a:pPr algn="ctr" rtl="1">
              <a:defRPr sz="3300" b="1">
                <a:solidFill>
                  <a:srgbClr val="2EF2C2"/>
                </a:solidFill>
                <a:latin typeface="Readex Pro"/>
                <a:ea typeface="Readex Pro"/>
                <a:cs typeface="Readex Pro"/>
              </a:defRPr>
            </a:pPr>
            <a:r>
              <a:rPr lang="ar-SA" altLang="en-US" sz="3300" b="1">
                <a:solidFill>
                  <a:srgbClr val="2EF2C2"/>
                </a:solidFill>
                <a:latin typeface="Readex Pro"/>
                <a:ea typeface="Readex Pro"/>
                <a:cs typeface="Readex Pro"/>
              </a:rPr>
              <a:t>م. محمد البشتاوي</a:t>
            </a:r>
          </a:p>
        </p:txBody>
      </p:sp>
      <p:sp>
        <p:nvSpPr>
          <p:cNvPr id="905" name="text-yyhyp3-5">
            <a:extLst>
              <a:ext uri="{FF2B5EF4-FFF2-40B4-BE49-F238E27FC236}">
                <a16:creationId xmlns:a16="http://schemas.microsoft.com/office/drawing/2014/main" id="{3C77A294-E108-4B1E-9453-B5AC64F0235B}"/>
              </a:ext>
            </a:extLst>
          </p:cNvPr>
          <p:cNvSpPr>
            <a:spLocks noGrp="1"/>
          </p:cNvSpPr>
          <p:nvPr/>
        </p:nvSpPr>
        <p:spPr>
          <a:xfrm>
            <a:off x="2857500" y="7572375"/>
            <a:ext cx="12477750" cy="762000"/>
          </a:xfrm>
          <a:prstGeom prst="rect">
            <a:avLst/>
          </a:prstGeom>
          <a:noFill/>
          <a:ln w="0">
            <a:noFill/>
          </a:ln>
        </p:spPr>
        <p:txBody>
          <a:bodyPr wrap="square" lIns="0" tIns="0" rIns="0" bIns="0" anchor="t">
            <a:noAutofit/>
          </a:bodyPr>
          <a:lstStyle/>
          <a:p>
            <a:pPr algn="ctr">
              <a:defRPr sz="3600" b="0">
                <a:solidFill>
                  <a:srgbClr val="F2F4FF"/>
                </a:solidFill>
                <a:latin typeface="Readex Pro"/>
                <a:ea typeface="Readex Pro"/>
                <a:cs typeface="Readex Pro"/>
              </a:defRPr>
            </a:pPr>
            <a:r>
              <a:rPr sz="3600" b="0">
                <a:solidFill>
                  <a:srgbClr val="F2F4FF"/>
                </a:solidFill>
                <a:latin typeface="Readex Pro"/>
                <a:ea typeface="Readex Pro"/>
                <a:cs typeface="Readex Pro"/>
                <a:hlinkClick r:id="rId5"/>
              </a:rPr>
              <a:t>github.com/talhodhud/Hadith</a:t>
            </a:r>
          </a:p>
        </p:txBody>
      </p:sp>
      <p:sp>
        <p:nvSpPr>
          <p:cNvPr id="906" name="text-yyhyp3-6">
            <a:extLst>
              <a:ext uri="{FF2B5EF4-FFF2-40B4-BE49-F238E27FC236}">
                <a16:creationId xmlns:a16="http://schemas.microsoft.com/office/drawing/2014/main" id="{DB824B66-1223-4C51-A877-711B20302A8C}"/>
              </a:ext>
            </a:extLst>
          </p:cNvPr>
          <p:cNvSpPr>
            <a:spLocks noGrp="1"/>
          </p:cNvSpPr>
          <p:nvPr/>
        </p:nvSpPr>
        <p:spPr>
          <a:xfrm>
            <a:off x="1714500" y="8763000"/>
            <a:ext cx="14859000" cy="619125"/>
          </a:xfrm>
          <a:prstGeom prst="rect">
            <a:avLst/>
          </a:prstGeom>
          <a:noFill/>
          <a:ln w="0">
            <a:noFill/>
          </a:ln>
        </p:spPr>
        <p:txBody>
          <a:bodyPr wrap="square" lIns="0" tIns="0" rIns="0" bIns="0" anchor="t">
            <a:noAutofit/>
          </a:bodyPr>
          <a:lstStyle/>
          <a:p>
            <a:pPr algn="ctr" rtl="1">
              <a:defRPr sz="2100" b="0">
                <a:solidFill>
                  <a:srgbClr val="CBCFE6"/>
                </a:solidFill>
                <a:latin typeface="Readex Pro"/>
                <a:ea typeface="Readex Pro"/>
                <a:cs typeface="Readex Pro"/>
              </a:defRPr>
            </a:pPr>
            <a:r>
              <a:rPr lang="ar-SA" altLang="en-US" sz="2100" b="0">
                <a:solidFill>
                  <a:srgbClr val="CBCFE6"/>
                </a:solidFill>
                <a:latin typeface="Readex Pro"/>
                <a:ea typeface="Readex Pro"/>
                <a:cs typeface="Readex Pro"/>
              </a:rPr>
              <a:t>المستودع يتيح فحص الكود والأدلة — ويُستكمل برابط نشر عام عند جاهزيته</a:t>
            </a:r>
          </a:p>
        </p:txBody>
      </p:sp>
    </p:spTree>
    <p:extLst>
      <p:ext uri="{BB962C8B-B14F-4D97-AF65-F5344CB8AC3E}">
        <p14:creationId xmlns:p14="http://schemas.microsoft.com/office/powerpoint/2010/main" val="1124452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4"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5"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CCF91274-D221-1BB4-3BF9-836E3AD31EBE}" type="slidenum">
              <a:rPr sz="1800">
                <a:solidFill>
                  <a:srgbClr val="4A5590"/>
                </a:solidFill>
                <a:latin typeface="Readex Pro"/>
                <a:ea typeface="Readex Pro"/>
                <a:cs typeface="Readex Pro"/>
              </a:rPr>
              <a:t>19</a:t>
            </a:fld>
            <a:endParaRPr/>
          </a:p>
        </p:txBody>
      </p:sp>
      <p:sp>
        <p:nvSpPr>
          <p:cNvPr id="911" name="text-x1pyg8-1">
            <a:extLst>
              <a:ext uri="{FF2B5EF4-FFF2-40B4-BE49-F238E27FC236}">
                <a16:creationId xmlns:a16="http://schemas.microsoft.com/office/drawing/2014/main" id="{95BE970A-EC2F-4580-AF41-13F3FAE068EC}"/>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ملحق ١ — مجموع الأوزان ١٠٠ نقطة</a:t>
            </a:r>
          </a:p>
        </p:txBody>
      </p:sp>
      <p:sp>
        <p:nvSpPr>
          <p:cNvPr id="912" name="slide-title">
            <a:extLst>
              <a:ext uri="{FF2B5EF4-FFF2-40B4-BE49-F238E27FC236}">
                <a16:creationId xmlns:a16="http://schemas.microsoft.com/office/drawing/2014/main" id="{097E8A55-FEA9-4CAB-8021-CBDA4BCD7C1D}"/>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مواءمة العرض مع التحكيم النهائي</a:t>
            </a:r>
          </a:p>
        </p:txBody>
      </p:sp>
      <p:graphicFrame>
        <p:nvGraphicFramePr>
          <p:cNvPr id="919" name="Table 918"/>
          <p:cNvGraphicFramePr/>
          <p:nvPr/>
        </p:nvGraphicFramePr>
        <p:xfrm>
          <a:off x="1428750" y="3286125"/>
          <a:ext cx="15240000" cy="6019800"/>
        </p:xfrm>
        <a:graphic>
          <a:graphicData uri="http://schemas.openxmlformats.org/drawingml/2006/table">
            <a:tbl>
              <a:tblPr/>
              <a:tblGrid>
                <a:gridCol w="59531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7762875">
                  <a:extLst>
                    <a:ext uri="{9D8B030D-6E8A-4147-A177-3AD203B41FA5}">
                      <a16:colId xmlns:a16="http://schemas.microsoft.com/office/drawing/2014/main" val="20002"/>
                    </a:ext>
                  </a:extLst>
                </a:gridCol>
              </a:tblGrid>
              <a:tr h="752475">
                <a:tc>
                  <a:txBody>
                    <a:bodyPr/>
                    <a:lstStyle/>
                    <a:p>
                      <a:pPr algn="r" rtl="1"/>
                      <a:r>
                        <a:rPr lang="ar-SA" altLang="en-US" sz="2175" b="1">
                          <a:solidFill>
                            <a:srgbClr val="F2F4FF"/>
                          </a:solidFill>
                          <a:latin typeface="Readex Pro"/>
                          <a:ea typeface="Readex Pro"/>
                          <a:cs typeface="Readex Pro"/>
                        </a:rPr>
                        <a:t>موضع الدليل في العرض</a:t>
                      </a:r>
                    </a:p>
                  </a:txBody>
                  <a:tcPr anchor="ctr">
                    <a:solidFill>
                      <a:srgbClr val="6150EA"/>
                    </a:solidFill>
                  </a:tcPr>
                </a:tc>
                <a:tc>
                  <a:txBody>
                    <a:bodyPr/>
                    <a:lstStyle/>
                    <a:p>
                      <a:pPr algn="r" rtl="1"/>
                      <a:r>
                        <a:rPr lang="ar-SA" altLang="en-US" sz="2175" b="1">
                          <a:solidFill>
                            <a:srgbClr val="F2F4FF"/>
                          </a:solidFill>
                          <a:latin typeface="Readex Pro"/>
                          <a:ea typeface="Readex Pro"/>
                          <a:cs typeface="Readex Pro"/>
                        </a:rPr>
                        <a:t>الوزن</a:t>
                      </a:r>
                    </a:p>
                  </a:txBody>
                  <a:tcPr anchor="ctr">
                    <a:solidFill>
                      <a:srgbClr val="6150EA"/>
                    </a:solidFill>
                  </a:tcPr>
                </a:tc>
                <a:tc>
                  <a:txBody>
                    <a:bodyPr/>
                    <a:lstStyle/>
                    <a:p>
                      <a:pPr algn="r" rtl="1"/>
                      <a:r>
                        <a:rPr lang="ar-SA" altLang="en-US" sz="2175" b="1">
                          <a:solidFill>
                            <a:srgbClr val="F2F4FF"/>
                          </a:solidFill>
                          <a:latin typeface="Readex Pro"/>
                          <a:ea typeface="Readex Pro"/>
                          <a:cs typeface="Readex Pro"/>
                        </a:rPr>
                        <a:t>المعيار</a:t>
                      </a:r>
                    </a:p>
                  </a:txBody>
                  <a:tcPr anchor="ctr">
                    <a:solidFill>
                      <a:srgbClr val="6150EA"/>
                    </a:solidFill>
                  </a:tcPr>
                </a:tc>
                <a:extLst>
                  <a:ext uri="{0D108BD9-81ED-4DB2-BD59-A6C34878D82A}">
                    <a16:rowId xmlns:a16="http://schemas.microsoft.com/office/drawing/2014/main" val="10000"/>
                  </a:ext>
                </a:extLst>
              </a:tr>
              <a:tr h="752475">
                <a:tc>
                  <a:txBody>
                    <a:bodyPr/>
                    <a:lstStyle/>
                    <a:p>
                      <a:pPr algn="r" rtl="1"/>
                      <a:r>
                        <a:rPr lang="ar-SA" altLang="en-US" sz="2175" b="0">
                          <a:solidFill>
                            <a:srgbClr val="12183F"/>
                          </a:solidFill>
                          <a:latin typeface="Readex Pro"/>
                          <a:ea typeface="Readex Pro"/>
                          <a:cs typeface="Readex Pro"/>
                        </a:rPr>
                        <a:t>العمارة والأدوات وحالات الاستخدام</a:t>
                      </a:r>
                    </a:p>
                  </a:txBody>
                  <a:tcPr anchor="ctr">
                    <a:solidFill>
                      <a:srgbClr val="F2F4FF"/>
                    </a:solidFill>
                  </a:tcPr>
                </a:tc>
                <a:tc>
                  <a:txBody>
                    <a:bodyPr/>
                    <a:lstStyle/>
                    <a:p>
                      <a:pPr algn="r"/>
                      <a:r>
                        <a:rPr sz="2175" b="0">
                          <a:solidFill>
                            <a:srgbClr val="12183F"/>
                          </a:solidFill>
                          <a:latin typeface="Readex Pro"/>
                          <a:ea typeface="Readex Pro"/>
                          <a:cs typeface="Readex Pro"/>
                        </a:rPr>
                        <a:t>25%</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جودة الحل التقني وتوظيف الذكاء الاصطناعي</a:t>
                      </a:r>
                    </a:p>
                  </a:txBody>
                  <a:tcPr anchor="ctr">
                    <a:solidFill>
                      <a:srgbClr val="F2F4FF"/>
                    </a:solidFill>
                  </a:tcPr>
                </a:tc>
                <a:extLst>
                  <a:ext uri="{0D108BD9-81ED-4DB2-BD59-A6C34878D82A}">
                    <a16:rowId xmlns:a16="http://schemas.microsoft.com/office/drawing/2014/main" val="10001"/>
                  </a:ext>
                </a:extLst>
              </a:tr>
              <a:tr h="752475">
                <a:tc>
                  <a:txBody>
                    <a:bodyPr/>
                    <a:lstStyle/>
                    <a:p>
                      <a:pPr algn="r" rtl="1"/>
                      <a:r>
                        <a:rPr lang="ar-SA" altLang="en-US" sz="2175" b="0">
                          <a:solidFill>
                            <a:srgbClr val="12183F"/>
                          </a:solidFill>
                          <a:latin typeface="Readex Pro"/>
                          <a:ea typeface="Readex Pro"/>
                          <a:cs typeface="Readex Pro"/>
                        </a:rPr>
                        <a:t>طبقات التحقق والمصادر وحدود النتائج</a:t>
                      </a:r>
                    </a:p>
                  </a:txBody>
                  <a:tcPr anchor="ctr">
                    <a:solidFill>
                      <a:srgbClr val="EAE7FB"/>
                    </a:solidFill>
                  </a:tcPr>
                </a:tc>
                <a:tc>
                  <a:txBody>
                    <a:bodyPr/>
                    <a:lstStyle/>
                    <a:p>
                      <a:pPr algn="r"/>
                      <a:r>
                        <a:rPr sz="2175" b="0">
                          <a:solidFill>
                            <a:srgbClr val="12183F"/>
                          </a:solidFill>
                          <a:latin typeface="Readex Pro"/>
                          <a:ea typeface="Readex Pro"/>
                          <a:cs typeface="Readex Pro"/>
                        </a:rPr>
                        <a:t>15%</a:t>
                      </a:r>
                    </a:p>
                  </a:txBody>
                  <a:tcPr anchor="ctr">
                    <a:solidFill>
                      <a:srgbClr val="EAE7FB"/>
                    </a:solidFill>
                  </a:tcPr>
                </a:tc>
                <a:tc>
                  <a:txBody>
                    <a:bodyPr/>
                    <a:lstStyle/>
                    <a:p>
                      <a:pPr algn="r" rtl="1"/>
                      <a:r>
                        <a:rPr lang="ar-SA" altLang="en-US" sz="2175" b="0">
                          <a:solidFill>
                            <a:srgbClr val="12183F"/>
                          </a:solidFill>
                          <a:latin typeface="Readex Pro"/>
                          <a:ea typeface="Readex Pro"/>
                          <a:cs typeface="Readex Pro"/>
                        </a:rPr>
                        <a:t>الموثوقية والسلامة العلمية</a:t>
                      </a:r>
                    </a:p>
                  </a:txBody>
                  <a:tcPr anchor="ctr">
                    <a:solidFill>
                      <a:srgbClr val="EAE7FB"/>
                    </a:solidFill>
                  </a:tcPr>
                </a:tc>
                <a:extLst>
                  <a:ext uri="{0D108BD9-81ED-4DB2-BD59-A6C34878D82A}">
                    <a16:rowId xmlns:a16="http://schemas.microsoft.com/office/drawing/2014/main" val="10002"/>
                  </a:ext>
                </a:extLst>
              </a:tr>
              <a:tr h="752475">
                <a:tc>
                  <a:txBody>
                    <a:bodyPr/>
                    <a:lstStyle/>
                    <a:p>
                      <a:pPr algn="r" rtl="1"/>
                      <a:r>
                        <a:rPr lang="ar-SA" altLang="en-US" sz="2175" b="0">
                          <a:solidFill>
                            <a:srgbClr val="12183F"/>
                          </a:solidFill>
                          <a:latin typeface="Readex Pro"/>
                          <a:ea typeface="Readex Pro"/>
                          <a:cs typeface="Readex Pro"/>
                        </a:rPr>
                        <a:t>ثلاثة مستويات وقصة الإسناد البصرية</a:t>
                      </a:r>
                    </a:p>
                  </a:txBody>
                  <a:tcPr anchor="ctr">
                    <a:solidFill>
                      <a:srgbClr val="F2F4FF"/>
                    </a:solidFill>
                  </a:tcPr>
                </a:tc>
                <a:tc>
                  <a:txBody>
                    <a:bodyPr/>
                    <a:lstStyle/>
                    <a:p>
                      <a:pPr algn="r"/>
                      <a:r>
                        <a:rPr sz="2175" b="0">
                          <a:solidFill>
                            <a:srgbClr val="12183F"/>
                          </a:solidFill>
                          <a:latin typeface="Readex Pro"/>
                          <a:ea typeface="Readex Pro"/>
                          <a:cs typeface="Readex Pro"/>
                        </a:rPr>
                        <a:t>15%</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الابتكار والقيمة المضافة</a:t>
                      </a:r>
                    </a:p>
                  </a:txBody>
                  <a:tcPr anchor="ctr">
                    <a:solidFill>
                      <a:srgbClr val="F2F4FF"/>
                    </a:solidFill>
                  </a:tcPr>
                </a:tc>
                <a:extLst>
                  <a:ext uri="{0D108BD9-81ED-4DB2-BD59-A6C34878D82A}">
                    <a16:rowId xmlns:a16="http://schemas.microsoft.com/office/drawing/2014/main" val="10003"/>
                  </a:ext>
                </a:extLst>
              </a:tr>
              <a:tr h="752475">
                <a:tc>
                  <a:txBody>
                    <a:bodyPr/>
                    <a:lstStyle/>
                    <a:p>
                      <a:pPr algn="r" rtl="1"/>
                      <a:r>
                        <a:rPr lang="ar-SA" altLang="en-US" sz="2175" b="0">
                          <a:solidFill>
                            <a:srgbClr val="12183F"/>
                          </a:solidFill>
                          <a:latin typeface="Readex Pro"/>
                          <a:ea typeface="Readex Pro"/>
                          <a:cs typeface="Readex Pro"/>
                        </a:rPr>
                        <a:t>الواجهة ورحلة الهاتف والجمهور والصيغة</a:t>
                      </a:r>
                    </a:p>
                  </a:txBody>
                  <a:tcPr anchor="ctr">
                    <a:solidFill>
                      <a:srgbClr val="EAE7FB"/>
                    </a:solidFill>
                  </a:tcPr>
                </a:tc>
                <a:tc>
                  <a:txBody>
                    <a:bodyPr/>
                    <a:lstStyle/>
                    <a:p>
                      <a:pPr algn="r"/>
                      <a:r>
                        <a:rPr sz="2175" b="0">
                          <a:solidFill>
                            <a:srgbClr val="12183F"/>
                          </a:solidFill>
                          <a:latin typeface="Readex Pro"/>
                          <a:ea typeface="Readex Pro"/>
                          <a:cs typeface="Readex Pro"/>
                        </a:rPr>
                        <a:t>10%</a:t>
                      </a:r>
                    </a:p>
                  </a:txBody>
                  <a:tcPr anchor="ctr">
                    <a:solidFill>
                      <a:srgbClr val="EAE7FB"/>
                    </a:solidFill>
                  </a:tcPr>
                </a:tc>
                <a:tc>
                  <a:txBody>
                    <a:bodyPr/>
                    <a:lstStyle/>
                    <a:p>
                      <a:pPr algn="r" rtl="1"/>
                      <a:r>
                        <a:rPr lang="ar-SA" altLang="en-US" sz="2175" b="0">
                          <a:solidFill>
                            <a:srgbClr val="12183F"/>
                          </a:solidFill>
                          <a:latin typeface="Readex Pro"/>
                          <a:ea typeface="Readex Pro"/>
                          <a:cs typeface="Readex Pro"/>
                        </a:rPr>
                        <a:t>تجربة المستفيد والتواصل والإتاحة</a:t>
                      </a:r>
                    </a:p>
                  </a:txBody>
                  <a:tcPr anchor="ctr">
                    <a:solidFill>
                      <a:srgbClr val="EAE7FB"/>
                    </a:solidFill>
                  </a:tcPr>
                </a:tc>
                <a:extLst>
                  <a:ext uri="{0D108BD9-81ED-4DB2-BD59-A6C34878D82A}">
                    <a16:rowId xmlns:a16="http://schemas.microsoft.com/office/drawing/2014/main" val="10004"/>
                  </a:ext>
                </a:extLst>
              </a:tr>
              <a:tr h="752475">
                <a:tc>
                  <a:txBody>
                    <a:bodyPr/>
                    <a:lstStyle/>
                    <a:p>
                      <a:pPr algn="r" rtl="1"/>
                      <a:r>
                        <a:rPr lang="ar-SA" altLang="en-US" sz="2175" b="0">
                          <a:solidFill>
                            <a:srgbClr val="12183F"/>
                          </a:solidFill>
                          <a:latin typeface="Readex Pro"/>
                          <a:ea typeface="Readex Pro"/>
                          <a:cs typeface="Readex Pro"/>
                        </a:rPr>
                        <a:t>الدليل الفعلي وخطة قياس المهمة</a:t>
                      </a:r>
                    </a:p>
                  </a:txBody>
                  <a:tcPr anchor="ctr">
                    <a:solidFill>
                      <a:srgbClr val="F2F4FF"/>
                    </a:solidFill>
                  </a:tcPr>
                </a:tc>
                <a:tc>
                  <a:txBody>
                    <a:bodyPr/>
                    <a:lstStyle/>
                    <a:p>
                      <a:pPr algn="r"/>
                      <a:r>
                        <a:rPr sz="2175" b="0">
                          <a:solidFill>
                            <a:srgbClr val="12183F"/>
                          </a:solidFill>
                          <a:latin typeface="Readex Pro"/>
                          <a:ea typeface="Readex Pro"/>
                          <a:cs typeface="Readex Pro"/>
                        </a:rPr>
                        <a:t>20%</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تحقيق النفع وفق معيار نجاح المسار</a:t>
                      </a:r>
                    </a:p>
                  </a:txBody>
                  <a:tcPr anchor="ctr">
                    <a:solidFill>
                      <a:srgbClr val="F2F4FF"/>
                    </a:solidFill>
                  </a:tcPr>
                </a:tc>
                <a:extLst>
                  <a:ext uri="{0D108BD9-81ED-4DB2-BD59-A6C34878D82A}">
                    <a16:rowId xmlns:a16="http://schemas.microsoft.com/office/drawing/2014/main" val="10005"/>
                  </a:ext>
                </a:extLst>
              </a:tr>
              <a:tr h="752475">
                <a:tc>
                  <a:txBody>
                    <a:bodyPr/>
                    <a:lstStyle/>
                    <a:p>
                      <a:pPr algn="r" rtl="1"/>
                      <a:r>
                        <a:rPr lang="ar-SA" altLang="en-US" sz="2175" b="0">
                          <a:solidFill>
                            <a:srgbClr val="12183F"/>
                          </a:solidFill>
                          <a:latin typeface="Readex Pro"/>
                          <a:ea typeface="Readex Pro"/>
                          <a:cs typeface="Readex Pro"/>
                        </a:rPr>
                        <a:t>مخرجات قبول وخطة تثبيت ونشر</a:t>
                      </a:r>
                    </a:p>
                  </a:txBody>
                  <a:tcPr anchor="ctr">
                    <a:solidFill>
                      <a:srgbClr val="EAE7FB"/>
                    </a:solidFill>
                  </a:tcPr>
                </a:tc>
                <a:tc>
                  <a:txBody>
                    <a:bodyPr/>
                    <a:lstStyle/>
                    <a:p>
                      <a:pPr algn="r"/>
                      <a:r>
                        <a:rPr sz="2175" b="0">
                          <a:solidFill>
                            <a:srgbClr val="12183F"/>
                          </a:solidFill>
                          <a:latin typeface="Readex Pro"/>
                          <a:ea typeface="Readex Pro"/>
                          <a:cs typeface="Readex Pro"/>
                        </a:rPr>
                        <a:t>10%</a:t>
                      </a:r>
                    </a:p>
                  </a:txBody>
                  <a:tcPr anchor="ctr">
                    <a:solidFill>
                      <a:srgbClr val="EAE7FB"/>
                    </a:solidFill>
                  </a:tcPr>
                </a:tc>
                <a:tc>
                  <a:txBody>
                    <a:bodyPr/>
                    <a:lstStyle/>
                    <a:p>
                      <a:pPr algn="r" rtl="1"/>
                      <a:r>
                        <a:rPr lang="ar-SA" altLang="en-US" sz="2175" b="0">
                          <a:solidFill>
                            <a:srgbClr val="12183F"/>
                          </a:solidFill>
                          <a:latin typeface="Readex Pro"/>
                          <a:ea typeface="Readex Pro"/>
                          <a:cs typeface="Readex Pro"/>
                        </a:rPr>
                        <a:t>واقعية التشغيل والاستكمال</a:t>
                      </a:r>
                    </a:p>
                  </a:txBody>
                  <a:tcPr anchor="ctr">
                    <a:solidFill>
                      <a:srgbClr val="EAE7FB"/>
                    </a:solidFill>
                  </a:tcPr>
                </a:tc>
                <a:extLst>
                  <a:ext uri="{0D108BD9-81ED-4DB2-BD59-A6C34878D82A}">
                    <a16:rowId xmlns:a16="http://schemas.microsoft.com/office/drawing/2014/main" val="10006"/>
                  </a:ext>
                </a:extLst>
              </a:tr>
              <a:tr h="752475">
                <a:tc>
                  <a:txBody>
                    <a:bodyPr/>
                    <a:lstStyle/>
                    <a:p>
                      <a:pPr algn="r" rtl="1"/>
                      <a:r>
                        <a:rPr lang="ar-SA" altLang="en-US" sz="2175" b="0">
                          <a:solidFill>
                            <a:srgbClr val="12183F"/>
                          </a:solidFill>
                          <a:latin typeface="Readex Pro"/>
                          <a:ea typeface="Readex Pro"/>
                          <a:cs typeface="Readex Pro"/>
                        </a:rPr>
                        <a:t>سيناريو العرض والمستودع والمصادر</a:t>
                      </a:r>
                    </a:p>
                  </a:txBody>
                  <a:tcPr anchor="ctr">
                    <a:solidFill>
                      <a:srgbClr val="F2F4FF"/>
                    </a:solidFill>
                  </a:tcPr>
                </a:tc>
                <a:tc>
                  <a:txBody>
                    <a:bodyPr/>
                    <a:lstStyle/>
                    <a:p>
                      <a:pPr algn="r"/>
                      <a:r>
                        <a:rPr sz="2175" b="0">
                          <a:solidFill>
                            <a:srgbClr val="12183F"/>
                          </a:solidFill>
                          <a:latin typeface="Readex Pro"/>
                          <a:ea typeface="Readex Pro"/>
                          <a:cs typeface="Readex Pro"/>
                        </a:rPr>
                        <a:t>5%</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وضوح العرض وإتاحة التحقق</a:t>
                      </a:r>
                    </a:p>
                  </a:txBody>
                  <a:tcPr anchor="ctr">
                    <a:solidFill>
                      <a:srgbClr val="F2F4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055686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4"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15"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844E025A-983C-6D44-79C6-4612AACD43FC}" type="slidenum">
              <a:rPr sz="1800">
                <a:solidFill>
                  <a:srgbClr val="4A5590"/>
                </a:solidFill>
                <a:latin typeface="Readex Pro"/>
                <a:ea typeface="Readex Pro"/>
                <a:cs typeface="Readex Pro"/>
              </a:rPr>
              <a:t>20</a:t>
            </a:fld>
            <a:endParaRPr/>
          </a:p>
        </p:txBody>
      </p:sp>
      <p:sp>
        <p:nvSpPr>
          <p:cNvPr id="911" name="text-hbtupi-1">
            <a:extLst>
              <a:ext uri="{FF2B5EF4-FFF2-40B4-BE49-F238E27FC236}">
                <a16:creationId xmlns:a16="http://schemas.microsoft.com/office/drawing/2014/main" id="{30EC1DDD-11A7-4B06-94D9-8DFD35BF8700}"/>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ملحق ٢ — حالة المكونات</a:t>
            </a:r>
          </a:p>
        </p:txBody>
      </p:sp>
      <p:sp>
        <p:nvSpPr>
          <p:cNvPr id="912" name="slide-title">
            <a:extLst>
              <a:ext uri="{FF2B5EF4-FFF2-40B4-BE49-F238E27FC236}">
                <a16:creationId xmlns:a16="http://schemas.microsoft.com/office/drawing/2014/main" id="{6FF8F11C-E5D6-4AB5-B0B2-02F8BD466727}"/>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ما يعمل وما يحتاج تفعيلًا إضافيًا</a:t>
            </a:r>
          </a:p>
        </p:txBody>
      </p:sp>
      <p:graphicFrame>
        <p:nvGraphicFramePr>
          <p:cNvPr id="919" name="Table 918"/>
          <p:cNvGraphicFramePr/>
          <p:nvPr/>
        </p:nvGraphicFramePr>
        <p:xfrm>
          <a:off x="1428750" y="3286125"/>
          <a:ext cx="15240000" cy="5734050"/>
        </p:xfrm>
        <a:graphic>
          <a:graphicData uri="http://schemas.openxmlformats.org/drawingml/2006/table">
            <a:tbl>
              <a:tblPr/>
              <a:tblGrid>
                <a:gridCol w="1076325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tblGrid>
              <a:tr h="819150">
                <a:tc>
                  <a:txBody>
                    <a:bodyPr/>
                    <a:lstStyle/>
                    <a:p>
                      <a:pPr algn="r" rtl="1"/>
                      <a:r>
                        <a:rPr lang="ar-SA" altLang="en-US" sz="2175" b="1">
                          <a:solidFill>
                            <a:srgbClr val="F2F4FF"/>
                          </a:solidFill>
                          <a:latin typeface="Readex Pro"/>
                          <a:ea typeface="Readex Pro"/>
                          <a:cs typeface="Readex Pro"/>
                        </a:rPr>
                        <a:t>الحالة وحدودها</a:t>
                      </a:r>
                    </a:p>
                  </a:txBody>
                  <a:tcPr anchor="ctr">
                    <a:solidFill>
                      <a:srgbClr val="6150EA"/>
                    </a:solidFill>
                  </a:tcPr>
                </a:tc>
                <a:tc>
                  <a:txBody>
                    <a:bodyPr/>
                    <a:lstStyle/>
                    <a:p>
                      <a:pPr algn="r" rtl="1"/>
                      <a:r>
                        <a:rPr lang="ar-SA" altLang="en-US" sz="2175" b="1">
                          <a:solidFill>
                            <a:srgbClr val="F2F4FF"/>
                          </a:solidFill>
                          <a:latin typeface="Readex Pro"/>
                          <a:ea typeface="Readex Pro"/>
                          <a:cs typeface="Readex Pro"/>
                        </a:rPr>
                        <a:t>المكوّن</a:t>
                      </a:r>
                    </a:p>
                  </a:txBody>
                  <a:tcPr anchor="ctr">
                    <a:solidFill>
                      <a:srgbClr val="6150EA"/>
                    </a:solidFill>
                  </a:tcPr>
                </a:tc>
                <a:extLst>
                  <a:ext uri="{0D108BD9-81ED-4DB2-BD59-A6C34878D82A}">
                    <a16:rowId xmlns:a16="http://schemas.microsoft.com/office/drawing/2014/main" val="10000"/>
                  </a:ext>
                </a:extLst>
              </a:tr>
              <a:tr h="819150">
                <a:tc>
                  <a:txBody>
                    <a:bodyPr/>
                    <a:lstStyle/>
                    <a:p>
                      <a:pPr algn="r" rtl="1"/>
                      <a:r>
                        <a:rPr lang="ar-SA" altLang="en-US" sz="2175" b="0">
                          <a:solidFill>
                            <a:srgbClr val="12183F"/>
                          </a:solidFill>
                          <a:latin typeface="Readex Pro"/>
                          <a:ea typeface="Readex Pro"/>
                          <a:cs typeface="Readex Pro"/>
                        </a:rPr>
                        <a:t>موجودة: ثلاثة اختيارات للواجهة ومسارات للمستفيد</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الواجهة + Open WebUI</a:t>
                      </a:r>
                    </a:p>
                  </a:txBody>
                  <a:tcPr anchor="ctr">
                    <a:solidFill>
                      <a:srgbClr val="F2F4FF"/>
                    </a:solidFill>
                  </a:tcPr>
                </a:tc>
                <a:extLst>
                  <a:ext uri="{0D108BD9-81ED-4DB2-BD59-A6C34878D82A}">
                    <a16:rowId xmlns:a16="http://schemas.microsoft.com/office/drawing/2014/main" val="10001"/>
                  </a:ext>
                </a:extLst>
              </a:tr>
              <a:tr h="819150">
                <a:tc>
                  <a:txBody>
                    <a:bodyPr/>
                    <a:lstStyle/>
                    <a:p>
                      <a:pPr algn="r" rtl="1"/>
                      <a:r>
                        <a:rPr lang="ar-SA" altLang="en-US" sz="2175" b="0">
                          <a:solidFill>
                            <a:srgbClr val="12183F"/>
                          </a:solidFill>
                          <a:latin typeface="Readex Pro"/>
                          <a:ea typeface="Readex Pro"/>
                          <a:cs typeface="Readex Pro"/>
                        </a:rPr>
                        <a:t>أدوات أصلية مجرّبة؛ تتطلب النسخ الأخيرة مزامنة تشغيل</a:t>
                      </a:r>
                    </a:p>
                  </a:txBody>
                  <a:tcPr anchor="ctr">
                    <a:solidFill>
                      <a:srgbClr val="EAE7FB"/>
                    </a:solidFill>
                  </a:tcPr>
                </a:tc>
                <a:tc>
                  <a:txBody>
                    <a:bodyPr/>
                    <a:lstStyle/>
                    <a:p>
                      <a:pPr algn="r"/>
                      <a:r>
                        <a:rPr sz="2175" b="0">
                          <a:solidFill>
                            <a:srgbClr val="12183F"/>
                          </a:solidFill>
                          <a:latin typeface="Readex Pro"/>
                          <a:ea typeface="Readex Pro"/>
                          <a:cs typeface="Readex Pro"/>
                        </a:rPr>
                        <a:t>Tools + Model presets</a:t>
                      </a:r>
                    </a:p>
                  </a:txBody>
                  <a:tcPr anchor="ctr">
                    <a:solidFill>
                      <a:srgbClr val="EAE7FB"/>
                    </a:solidFill>
                  </a:tcPr>
                </a:tc>
                <a:extLst>
                  <a:ext uri="{0D108BD9-81ED-4DB2-BD59-A6C34878D82A}">
                    <a16:rowId xmlns:a16="http://schemas.microsoft.com/office/drawing/2014/main" val="10002"/>
                  </a:ext>
                </a:extLst>
              </a:tr>
              <a:tr h="819150">
                <a:tc>
                  <a:txBody>
                    <a:bodyPr/>
                    <a:lstStyle/>
                    <a:p>
                      <a:pPr algn="r" rtl="1"/>
                      <a:r>
                        <a:rPr lang="ar-SA" altLang="en-US" sz="2175" b="0">
                          <a:solidFill>
                            <a:srgbClr val="12183F"/>
                          </a:solidFill>
                          <a:latin typeface="Readex Pro"/>
                          <a:ea typeface="Readex Pro"/>
                          <a:cs typeface="Readex Pro"/>
                        </a:rPr>
                        <a:t>نصوص محلية وAPI للشروح مع حالات تعذّر صريحة</a:t>
                      </a:r>
                    </a:p>
                  </a:txBody>
                  <a:tcPr anchor="ctr">
                    <a:solidFill>
                      <a:srgbClr val="F2F4FF"/>
                    </a:solidFill>
                  </a:tcPr>
                </a:tc>
                <a:tc>
                  <a:txBody>
                    <a:bodyPr/>
                    <a:lstStyle/>
                    <a:p>
                      <a:pPr algn="r" rtl="1"/>
                      <a:r>
                        <a:rPr lang="ar-SA" altLang="en-US" sz="2175" b="0">
                          <a:solidFill>
                            <a:srgbClr val="12183F"/>
                          </a:solidFill>
                          <a:latin typeface="Readex Pro"/>
                          <a:ea typeface="Readex Pro"/>
                          <a:cs typeface="Readex Pro"/>
                        </a:rPr>
                        <a:t>البيانات + API</a:t>
                      </a:r>
                    </a:p>
                  </a:txBody>
                  <a:tcPr anchor="ctr">
                    <a:solidFill>
                      <a:srgbClr val="F2F4FF"/>
                    </a:solidFill>
                  </a:tcPr>
                </a:tc>
                <a:extLst>
                  <a:ext uri="{0D108BD9-81ED-4DB2-BD59-A6C34878D82A}">
                    <a16:rowId xmlns:a16="http://schemas.microsoft.com/office/drawing/2014/main" val="10003"/>
                  </a:ext>
                </a:extLst>
              </a:tr>
              <a:tr h="819150">
                <a:tc>
                  <a:txBody>
                    <a:bodyPr/>
                    <a:lstStyle/>
                    <a:p>
                      <a:pPr algn="r" rtl="1"/>
                      <a:r>
                        <a:rPr lang="ar-SA" altLang="en-US" sz="2175" b="0">
                          <a:solidFill>
                            <a:srgbClr val="12183F"/>
                          </a:solidFill>
                          <a:latin typeface="Readex Pro"/>
                          <a:ea typeface="Readex Pro"/>
                          <a:cs typeface="Readex Pro"/>
                        </a:rPr>
                        <a:t>مسودات محتوى جاهزة؛ ربط المجموعة واعتمادها مستكمل لاحقًا</a:t>
                      </a:r>
                    </a:p>
                  </a:txBody>
                  <a:tcPr anchor="ctr">
                    <a:solidFill>
                      <a:srgbClr val="EAE7FB"/>
                    </a:solidFill>
                  </a:tcPr>
                </a:tc>
                <a:tc>
                  <a:txBody>
                    <a:bodyPr/>
                    <a:lstStyle/>
                    <a:p>
                      <a:pPr algn="r"/>
                      <a:r>
                        <a:rPr sz="2175" b="0">
                          <a:solidFill>
                            <a:srgbClr val="12183F"/>
                          </a:solidFill>
                          <a:latin typeface="Readex Pro"/>
                          <a:ea typeface="Readex Pro"/>
                          <a:cs typeface="Readex Pro"/>
                        </a:rPr>
                        <a:t>Knowledge</a:t>
                      </a:r>
                    </a:p>
                  </a:txBody>
                  <a:tcPr anchor="ctr">
                    <a:solidFill>
                      <a:srgbClr val="EAE7FB"/>
                    </a:solidFill>
                  </a:tcPr>
                </a:tc>
                <a:extLst>
                  <a:ext uri="{0D108BD9-81ED-4DB2-BD59-A6C34878D82A}">
                    <a16:rowId xmlns:a16="http://schemas.microsoft.com/office/drawing/2014/main" val="10004"/>
                  </a:ext>
                </a:extLst>
              </a:tr>
              <a:tr h="819150">
                <a:tc>
                  <a:txBody>
                    <a:bodyPr/>
                    <a:lstStyle/>
                    <a:p>
                      <a:pPr algn="r" rtl="1"/>
                      <a:r>
                        <a:rPr lang="ar-SA" altLang="en-US" sz="2175" b="0">
                          <a:solidFill>
                            <a:srgbClr val="12183F"/>
                          </a:solidFill>
                          <a:latin typeface="Readex Pro"/>
                          <a:ea typeface="Readex Pro"/>
                          <a:cs typeface="Readex Pro"/>
                        </a:rPr>
                        <a:t>مسار توسعة؛ لا يوجد في هذا العرض إثبات تفعيل حي</a:t>
                      </a:r>
                    </a:p>
                  </a:txBody>
                  <a:tcPr anchor="ctr">
                    <a:solidFill>
                      <a:srgbClr val="F2F4FF"/>
                    </a:solidFill>
                  </a:tcPr>
                </a:tc>
                <a:tc>
                  <a:txBody>
                    <a:bodyPr/>
                    <a:lstStyle/>
                    <a:p>
                      <a:pPr algn="r"/>
                      <a:r>
                        <a:rPr sz="2175" b="0">
                          <a:solidFill>
                            <a:srgbClr val="12183F"/>
                          </a:solidFill>
                          <a:latin typeface="Readex Pro"/>
                          <a:ea typeface="Readex Pro"/>
                          <a:cs typeface="Readex Pro"/>
                        </a:rPr>
                        <a:t>MCP</a:t>
                      </a:r>
                    </a:p>
                  </a:txBody>
                  <a:tcPr anchor="ctr">
                    <a:solidFill>
                      <a:srgbClr val="F2F4FF"/>
                    </a:solidFill>
                  </a:tcPr>
                </a:tc>
                <a:extLst>
                  <a:ext uri="{0D108BD9-81ED-4DB2-BD59-A6C34878D82A}">
                    <a16:rowId xmlns:a16="http://schemas.microsoft.com/office/drawing/2014/main" val="10005"/>
                  </a:ext>
                </a:extLst>
              </a:tr>
              <a:tr h="819150">
                <a:tc>
                  <a:txBody>
                    <a:bodyPr/>
                    <a:lstStyle/>
                    <a:p>
                      <a:pPr algn="r" rtl="1"/>
                      <a:r>
                        <a:rPr lang="ar-SA" altLang="en-US" sz="2175" b="0">
                          <a:solidFill>
                            <a:srgbClr val="12183F"/>
                          </a:solidFill>
                          <a:latin typeface="Readex Pro"/>
                          <a:ea typeface="Readex Pro"/>
                          <a:cs typeface="Readex Pro"/>
                        </a:rPr>
                        <a:t>استُخدمت في الإعداد والتطوير؛ لا ندّعي تنسيقًا حيًا مستقلًا</a:t>
                      </a:r>
                    </a:p>
                  </a:txBody>
                  <a:tcPr anchor="ctr">
                    <a:solidFill>
                      <a:srgbClr val="EAE7FB"/>
                    </a:solidFill>
                  </a:tcPr>
                </a:tc>
                <a:tc>
                  <a:txBody>
                    <a:bodyPr/>
                    <a:lstStyle/>
                    <a:p>
                      <a:pPr algn="r"/>
                      <a:r>
                        <a:rPr sz="2175" b="0">
                          <a:solidFill>
                            <a:srgbClr val="12183F"/>
                          </a:solidFill>
                          <a:latin typeface="Readex Pro"/>
                          <a:ea typeface="Readex Pro"/>
                          <a:cs typeface="Readex Pro"/>
                        </a:rPr>
                        <a:t>Agents + Subagents</a:t>
                      </a:r>
                    </a:p>
                  </a:txBody>
                  <a:tcPr anchor="ctr">
                    <a:solidFill>
                      <a:srgbClr val="EAE7FB"/>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55686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6" name="Google Shape;906;p30"/>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27" name="Google Shape;907;p30"/>
          <p:cNvPicPr>
            <a:picLocks noChangeAspect="1"/>
          </p:cNvPicPr>
          <p:nvPr/>
        </p:nvPicPr>
        <p:blipFill>
          <a:blip r:embed="rId4">
            <a:alphaModFix/>
          </a:blip>
          <a:stretch>
            <a:fillRect/>
          </a:stretch>
        </p:blipFill>
        <p:spPr>
          <a:xfrm>
            <a:off x="1015225" y="572270"/>
            <a:ext cx="3490299" cy="1109450"/>
          </a:xfrm>
          <a:prstGeom prst="rect">
            <a:avLst/>
          </a:prstGeom>
          <a:ln>
            <a:noFill/>
          </a:ln>
        </p:spPr>
      </p:pic>
      <p:sp>
        <p:nvSpPr>
          <p:cNvPr id="908" name="Google Shape;908;p30">
            <a:extLst>
              <a:ext uri="{FF2B5EF4-FFF2-40B4-BE49-F238E27FC236}">
                <a16:creationId xmlns:a16="http://schemas.microsoft.com/office/drawing/2014/main" id="{EE4635E9-826A-46F9-A9F2-3B95B1122FB2}"/>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F6DF2BE2-2DFA-1C03-677D-BDC2260D6D92}" type="slidenum">
              <a:rPr sz="1800">
                <a:solidFill>
                  <a:srgbClr val="4A5590"/>
                </a:solidFill>
                <a:latin typeface="Readex Pro"/>
                <a:ea typeface="Readex Pro"/>
                <a:cs typeface="Readex Pro"/>
              </a:rPr>
              <a:t>21</a:t>
            </a:fld>
            <a:endParaRPr/>
          </a:p>
        </p:txBody>
      </p:sp>
      <p:sp>
        <p:nvSpPr>
          <p:cNvPr id="911" name="text-cnwdul-1">
            <a:extLst>
              <a:ext uri="{FF2B5EF4-FFF2-40B4-BE49-F238E27FC236}">
                <a16:creationId xmlns:a16="http://schemas.microsoft.com/office/drawing/2014/main" id="{2FBAEBB2-7E17-4ACC-A619-E5ECF8CB6872}"/>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6150EA"/>
                </a:solidFill>
                <a:latin typeface="Readex Pro"/>
                <a:ea typeface="Readex Pro"/>
                <a:cs typeface="Readex Pro"/>
              </a:defRPr>
            </a:pPr>
            <a:r>
              <a:rPr lang="ar-SA" altLang="en-US" sz="1800" b="0">
                <a:solidFill>
                  <a:srgbClr val="6150EA"/>
                </a:solidFill>
                <a:latin typeface="Readex Pro"/>
                <a:ea typeface="Readex Pro"/>
                <a:cs typeface="Readex Pro"/>
              </a:rPr>
              <a:t>ملحق ٣ — المصادر ونسب المساهمة</a:t>
            </a:r>
          </a:p>
        </p:txBody>
      </p:sp>
      <p:sp>
        <p:nvSpPr>
          <p:cNvPr id="912" name="slide-title">
            <a:extLst>
              <a:ext uri="{FF2B5EF4-FFF2-40B4-BE49-F238E27FC236}">
                <a16:creationId xmlns:a16="http://schemas.microsoft.com/office/drawing/2014/main" id="{0EA73497-46DB-43F9-9252-0ECB81A16CC2}"/>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12183F"/>
                </a:solidFill>
                <a:latin typeface="Readex Pro"/>
                <a:ea typeface="Readex Pro"/>
                <a:cs typeface="Readex Pro"/>
              </a:defRPr>
            </a:pPr>
            <a:r>
              <a:rPr lang="ar-SA" altLang="en-US" sz="4500" b="1">
                <a:solidFill>
                  <a:srgbClr val="12183F"/>
                </a:solidFill>
                <a:latin typeface="Readex Pro"/>
                <a:ea typeface="Readex Pro"/>
                <a:cs typeface="Readex Pro"/>
              </a:rPr>
              <a:t>مراجع يمكن للمحكّم الرجوع إليها</a:t>
            </a:r>
          </a:p>
        </p:txBody>
      </p:sp>
      <p:sp>
        <p:nvSpPr>
          <p:cNvPr id="913" name="text-cnwdul-3">
            <a:extLst>
              <a:ext uri="{FF2B5EF4-FFF2-40B4-BE49-F238E27FC236}">
                <a16:creationId xmlns:a16="http://schemas.microsoft.com/office/drawing/2014/main" id="{9408166E-2E38-4732-9A0A-BBF37BB3FD41}"/>
              </a:ext>
            </a:extLst>
          </p:cNvPr>
          <p:cNvSpPr>
            <a:spLocks noGrp="1"/>
          </p:cNvSpPr>
          <p:nvPr/>
        </p:nvSpPr>
        <p:spPr>
          <a:xfrm>
            <a:off x="9525000" y="3238500"/>
            <a:ext cx="7048500" cy="523875"/>
          </a:xfrm>
          <a:prstGeom prst="rect">
            <a:avLst/>
          </a:prstGeom>
          <a:noFill/>
          <a:ln w="0">
            <a:noFill/>
          </a:ln>
        </p:spPr>
        <p:txBody>
          <a:bodyPr wrap="square" lIns="0" tIns="0" rIns="0" bIns="0" anchor="t">
            <a:noAutofit/>
          </a:bodyPr>
          <a:lstStyle/>
          <a:p>
            <a:pPr algn="r" rtl="1">
              <a:defRPr sz="2400" b="1">
                <a:solidFill>
                  <a:srgbClr val="12183F"/>
                </a:solidFill>
                <a:latin typeface="Readex Pro"/>
                <a:ea typeface="Readex Pro"/>
                <a:cs typeface="Readex Pro"/>
              </a:defRPr>
            </a:pPr>
            <a:r>
              <a:rPr lang="ar-SA" altLang="en-US" sz="2400" b="1">
                <a:solidFill>
                  <a:srgbClr val="12183F"/>
                </a:solidFill>
                <a:latin typeface="Readex Pro"/>
                <a:ea typeface="Readex Pro"/>
                <a:cs typeface="Readex Pro"/>
              </a:rPr>
              <a:t>الدرر السنية</a:t>
            </a:r>
          </a:p>
        </p:txBody>
      </p:sp>
      <p:sp>
        <p:nvSpPr>
          <p:cNvPr id="914" name="text-cnwdul-4">
            <a:extLst>
              <a:ext uri="{FF2B5EF4-FFF2-40B4-BE49-F238E27FC236}">
                <a16:creationId xmlns:a16="http://schemas.microsoft.com/office/drawing/2014/main" id="{78D2E3BB-5CFC-4AFA-951F-B3EEAA2CCEEA}"/>
              </a:ext>
            </a:extLst>
          </p:cNvPr>
          <p:cNvSpPr>
            <a:spLocks noGrp="1"/>
          </p:cNvSpPr>
          <p:nvPr/>
        </p:nvSpPr>
        <p:spPr>
          <a:xfrm>
            <a:off x="1428750" y="3276600"/>
            <a:ext cx="7667625" cy="504825"/>
          </a:xfrm>
          <a:prstGeom prst="rect">
            <a:avLst/>
          </a:prstGeom>
          <a:noFill/>
          <a:ln w="0">
            <a:noFill/>
          </a:ln>
        </p:spPr>
        <p:txBody>
          <a:bodyPr wrap="square" lIns="0" tIns="0" rIns="0" bIns="0" anchor="t">
            <a:noAutofit/>
          </a:bodyPr>
          <a:lstStyle/>
          <a:p>
            <a:pPr algn="l">
              <a:defRPr sz="2100" b="0">
                <a:solidFill>
                  <a:srgbClr val="6150EA"/>
                </a:solidFill>
                <a:latin typeface="Readex Pro"/>
                <a:ea typeface="Readex Pro"/>
                <a:cs typeface="Readex Pro"/>
              </a:defRPr>
            </a:pPr>
            <a:r>
              <a:rPr sz="2100" b="0">
                <a:solidFill>
                  <a:srgbClr val="6150EA"/>
                </a:solidFill>
                <a:latin typeface="Readex Pro"/>
                <a:ea typeface="Readex Pro"/>
                <a:cs typeface="Readex Pro"/>
                <a:hlinkClick r:id="rId5"/>
              </a:rPr>
              <a:t>dorar.net/hadith</a:t>
            </a:r>
          </a:p>
        </p:txBody>
      </p:sp>
      <p:sp>
        <p:nvSpPr>
          <p:cNvPr id="915" name="text-cnwdul-5">
            <a:extLst>
              <a:ext uri="{FF2B5EF4-FFF2-40B4-BE49-F238E27FC236}">
                <a16:creationId xmlns:a16="http://schemas.microsoft.com/office/drawing/2014/main" id="{D976B50D-4CD1-417F-B2D9-AA2BFEFDEB67}"/>
              </a:ext>
            </a:extLst>
          </p:cNvPr>
          <p:cNvSpPr>
            <a:spLocks noGrp="1"/>
          </p:cNvSpPr>
          <p:nvPr/>
        </p:nvSpPr>
        <p:spPr>
          <a:xfrm>
            <a:off x="9525000" y="4191000"/>
            <a:ext cx="7048500" cy="523875"/>
          </a:xfrm>
          <a:prstGeom prst="rect">
            <a:avLst/>
          </a:prstGeom>
          <a:noFill/>
          <a:ln w="0">
            <a:noFill/>
          </a:ln>
        </p:spPr>
        <p:txBody>
          <a:bodyPr wrap="square" lIns="0" tIns="0" rIns="0" bIns="0" anchor="t">
            <a:noAutofit/>
          </a:bodyPr>
          <a:lstStyle/>
          <a:p>
            <a:pPr algn="r" rtl="1">
              <a:defRPr sz="2400" b="1">
                <a:solidFill>
                  <a:srgbClr val="12183F"/>
                </a:solidFill>
                <a:latin typeface="Readex Pro"/>
                <a:ea typeface="Readex Pro"/>
                <a:cs typeface="Readex Pro"/>
              </a:defRPr>
            </a:pPr>
            <a:r>
              <a:rPr lang="ar-SA" altLang="en-US" sz="2400" b="1">
                <a:solidFill>
                  <a:srgbClr val="12183F"/>
                </a:solidFill>
                <a:latin typeface="Readex Pro"/>
                <a:ea typeface="Readex Pro"/>
                <a:cs typeface="Readex Pro"/>
              </a:rPr>
              <a:t>المكتبة الشاملة</a:t>
            </a:r>
          </a:p>
        </p:txBody>
      </p:sp>
      <p:sp>
        <p:nvSpPr>
          <p:cNvPr id="916" name="text-cnwdul-6">
            <a:extLst>
              <a:ext uri="{FF2B5EF4-FFF2-40B4-BE49-F238E27FC236}">
                <a16:creationId xmlns:a16="http://schemas.microsoft.com/office/drawing/2014/main" id="{AD0D45E7-6B13-40C7-9D43-E1EDFFEB9492}"/>
              </a:ext>
            </a:extLst>
          </p:cNvPr>
          <p:cNvSpPr>
            <a:spLocks noGrp="1"/>
          </p:cNvSpPr>
          <p:nvPr/>
        </p:nvSpPr>
        <p:spPr>
          <a:xfrm>
            <a:off x="1428750" y="4229100"/>
            <a:ext cx="7667625" cy="504825"/>
          </a:xfrm>
          <a:prstGeom prst="rect">
            <a:avLst/>
          </a:prstGeom>
          <a:noFill/>
          <a:ln w="0">
            <a:noFill/>
          </a:ln>
        </p:spPr>
        <p:txBody>
          <a:bodyPr wrap="square" lIns="0" tIns="0" rIns="0" bIns="0" anchor="t">
            <a:noAutofit/>
          </a:bodyPr>
          <a:lstStyle/>
          <a:p>
            <a:pPr algn="l">
              <a:defRPr sz="2100" b="0">
                <a:solidFill>
                  <a:srgbClr val="6150EA"/>
                </a:solidFill>
                <a:latin typeface="Readex Pro"/>
                <a:ea typeface="Readex Pro"/>
                <a:cs typeface="Readex Pro"/>
              </a:defRPr>
            </a:pPr>
            <a:r>
              <a:rPr sz="2100" b="0">
                <a:solidFill>
                  <a:srgbClr val="6150EA"/>
                </a:solidFill>
                <a:latin typeface="Readex Pro"/>
                <a:ea typeface="Readex Pro"/>
                <a:cs typeface="Readex Pro"/>
                <a:hlinkClick r:id="rId6"/>
              </a:rPr>
              <a:t>shamela.ws</a:t>
            </a:r>
          </a:p>
        </p:txBody>
      </p:sp>
      <p:sp>
        <p:nvSpPr>
          <p:cNvPr id="917" name="text-cnwdul-7">
            <a:extLst>
              <a:ext uri="{FF2B5EF4-FFF2-40B4-BE49-F238E27FC236}">
                <a16:creationId xmlns:a16="http://schemas.microsoft.com/office/drawing/2014/main" id="{45CDB9A0-4241-4828-A836-2EE7E747C30D}"/>
              </a:ext>
            </a:extLst>
          </p:cNvPr>
          <p:cNvSpPr>
            <a:spLocks noGrp="1"/>
          </p:cNvSpPr>
          <p:nvPr/>
        </p:nvSpPr>
        <p:spPr>
          <a:xfrm>
            <a:off x="9525000" y="5143500"/>
            <a:ext cx="7048500" cy="523875"/>
          </a:xfrm>
          <a:prstGeom prst="rect">
            <a:avLst/>
          </a:prstGeom>
          <a:noFill/>
          <a:ln w="0">
            <a:noFill/>
          </a:ln>
        </p:spPr>
        <p:txBody>
          <a:bodyPr wrap="square" lIns="0" tIns="0" rIns="0" bIns="0" anchor="t">
            <a:noAutofit/>
          </a:bodyPr>
          <a:lstStyle/>
          <a:p>
            <a:pPr algn="r" rtl="1">
              <a:defRPr sz="2400" b="1">
                <a:solidFill>
                  <a:srgbClr val="12183F"/>
                </a:solidFill>
                <a:latin typeface="Readex Pro"/>
                <a:ea typeface="Readex Pro"/>
                <a:cs typeface="Readex Pro"/>
              </a:defRPr>
            </a:pPr>
            <a:r>
              <a:rPr lang="ar-SA" altLang="en-US" sz="2400" b="1">
                <a:solidFill>
                  <a:srgbClr val="12183F"/>
                </a:solidFill>
                <a:latin typeface="Readex Pro"/>
                <a:ea typeface="Readex Pro"/>
                <a:cs typeface="Readex Pro"/>
              </a:rPr>
              <a:t>موسوعة الأحاديث النبوية — API</a:t>
            </a:r>
          </a:p>
        </p:txBody>
      </p:sp>
      <p:sp>
        <p:nvSpPr>
          <p:cNvPr id="918" name="text-cnwdul-8">
            <a:extLst>
              <a:ext uri="{FF2B5EF4-FFF2-40B4-BE49-F238E27FC236}">
                <a16:creationId xmlns:a16="http://schemas.microsoft.com/office/drawing/2014/main" id="{964285B9-DEC6-41CD-BB71-7EB40168BF17}"/>
              </a:ext>
            </a:extLst>
          </p:cNvPr>
          <p:cNvSpPr>
            <a:spLocks noGrp="1"/>
          </p:cNvSpPr>
          <p:nvPr/>
        </p:nvSpPr>
        <p:spPr>
          <a:xfrm>
            <a:off x="1428750" y="5181600"/>
            <a:ext cx="7667625" cy="504825"/>
          </a:xfrm>
          <a:prstGeom prst="rect">
            <a:avLst/>
          </a:prstGeom>
          <a:noFill/>
          <a:ln w="0">
            <a:noFill/>
          </a:ln>
        </p:spPr>
        <p:txBody>
          <a:bodyPr wrap="square" lIns="0" tIns="0" rIns="0" bIns="0" anchor="t">
            <a:noAutofit/>
          </a:bodyPr>
          <a:lstStyle/>
          <a:p>
            <a:pPr algn="l">
              <a:defRPr sz="2100" b="0">
                <a:solidFill>
                  <a:srgbClr val="6150EA"/>
                </a:solidFill>
                <a:latin typeface="Readex Pro"/>
                <a:ea typeface="Readex Pro"/>
                <a:cs typeface="Readex Pro"/>
              </a:defRPr>
            </a:pPr>
            <a:r>
              <a:rPr sz="2100" b="0">
                <a:solidFill>
                  <a:srgbClr val="6150EA"/>
                </a:solidFill>
                <a:latin typeface="Readex Pro"/>
                <a:ea typeface="Readex Pro"/>
                <a:cs typeface="Readex Pro"/>
                <a:hlinkClick r:id="rId7"/>
              </a:rPr>
              <a:t>hadeethenc.com/api-docs/</a:t>
            </a:r>
          </a:p>
        </p:txBody>
      </p:sp>
      <p:sp>
        <p:nvSpPr>
          <p:cNvPr id="919" name="text-cnwdul-9">
            <a:extLst>
              <a:ext uri="{FF2B5EF4-FFF2-40B4-BE49-F238E27FC236}">
                <a16:creationId xmlns:a16="http://schemas.microsoft.com/office/drawing/2014/main" id="{B6EB0AE8-1514-4E6B-990D-4090B2D80A5E}"/>
              </a:ext>
            </a:extLst>
          </p:cNvPr>
          <p:cNvSpPr>
            <a:spLocks noGrp="1"/>
          </p:cNvSpPr>
          <p:nvPr/>
        </p:nvSpPr>
        <p:spPr>
          <a:xfrm>
            <a:off x="9525000" y="6096000"/>
            <a:ext cx="7048500" cy="523875"/>
          </a:xfrm>
          <a:prstGeom prst="rect">
            <a:avLst/>
          </a:prstGeom>
          <a:noFill/>
          <a:ln w="0">
            <a:noFill/>
          </a:ln>
        </p:spPr>
        <p:txBody>
          <a:bodyPr wrap="square" lIns="0" tIns="0" rIns="0" bIns="0" anchor="t">
            <a:noAutofit/>
          </a:bodyPr>
          <a:lstStyle/>
          <a:p>
            <a:pPr algn="r" rtl="1">
              <a:defRPr sz="2400" b="1">
                <a:solidFill>
                  <a:srgbClr val="12183F"/>
                </a:solidFill>
                <a:latin typeface="Readex Pro"/>
                <a:ea typeface="Readex Pro"/>
                <a:cs typeface="Readex Pro"/>
              </a:defRPr>
            </a:pPr>
            <a:r>
              <a:rPr lang="ar-SA" altLang="en-US" sz="2400" b="1">
                <a:solidFill>
                  <a:srgbClr val="12183F"/>
                </a:solidFill>
                <a:latin typeface="Readex Pro"/>
                <a:ea typeface="Readex Pro"/>
                <a:cs typeface="Readex Pro"/>
              </a:rPr>
              <a:t>Itqan — بنية البيانات</a:t>
            </a:r>
          </a:p>
        </p:txBody>
      </p:sp>
      <p:sp>
        <p:nvSpPr>
          <p:cNvPr id="920" name="text-cnwdul-10">
            <a:extLst>
              <a:ext uri="{FF2B5EF4-FFF2-40B4-BE49-F238E27FC236}">
                <a16:creationId xmlns:a16="http://schemas.microsoft.com/office/drawing/2014/main" id="{BB845FBD-A612-403E-AC34-8C470FCE69D2}"/>
              </a:ext>
            </a:extLst>
          </p:cNvPr>
          <p:cNvSpPr>
            <a:spLocks noGrp="1"/>
          </p:cNvSpPr>
          <p:nvPr/>
        </p:nvSpPr>
        <p:spPr>
          <a:xfrm>
            <a:off x="1428750" y="6134100"/>
            <a:ext cx="7667625" cy="504825"/>
          </a:xfrm>
          <a:prstGeom prst="rect">
            <a:avLst/>
          </a:prstGeom>
          <a:noFill/>
          <a:ln w="0">
            <a:noFill/>
          </a:ln>
        </p:spPr>
        <p:txBody>
          <a:bodyPr wrap="square" lIns="0" tIns="0" rIns="0" bIns="0" anchor="t">
            <a:noAutofit/>
          </a:bodyPr>
          <a:lstStyle/>
          <a:p>
            <a:pPr algn="l">
              <a:defRPr sz="2100" b="0">
                <a:solidFill>
                  <a:srgbClr val="6150EA"/>
                </a:solidFill>
                <a:latin typeface="Readex Pro"/>
                <a:ea typeface="Readex Pro"/>
                <a:cs typeface="Readex Pro"/>
              </a:defRPr>
            </a:pPr>
            <a:r>
              <a:rPr sz="2100" b="0">
                <a:solidFill>
                  <a:srgbClr val="6150EA"/>
                </a:solidFill>
                <a:latin typeface="Readex Pro"/>
                <a:ea typeface="Readex Pro"/>
                <a:cs typeface="Readex Pro"/>
                <a:hlinkClick r:id="rId8"/>
              </a:rPr>
              <a:t>github.com/R3GENESI5/Itqan</a:t>
            </a:r>
          </a:p>
        </p:txBody>
      </p:sp>
      <p:sp>
        <p:nvSpPr>
          <p:cNvPr id="921" name="text-cnwdul-11">
            <a:extLst>
              <a:ext uri="{FF2B5EF4-FFF2-40B4-BE49-F238E27FC236}">
                <a16:creationId xmlns:a16="http://schemas.microsoft.com/office/drawing/2014/main" id="{E3D989B8-7711-4727-956F-D25998CD457A}"/>
              </a:ext>
            </a:extLst>
          </p:cNvPr>
          <p:cNvSpPr>
            <a:spLocks noGrp="1"/>
          </p:cNvSpPr>
          <p:nvPr/>
        </p:nvSpPr>
        <p:spPr>
          <a:xfrm>
            <a:off x="9525000" y="7048500"/>
            <a:ext cx="7048500" cy="523875"/>
          </a:xfrm>
          <a:prstGeom prst="rect">
            <a:avLst/>
          </a:prstGeom>
          <a:noFill/>
          <a:ln w="0">
            <a:noFill/>
          </a:ln>
        </p:spPr>
        <p:txBody>
          <a:bodyPr wrap="square" lIns="0" tIns="0" rIns="0" bIns="0" anchor="t">
            <a:noAutofit/>
          </a:bodyPr>
          <a:lstStyle/>
          <a:p>
            <a:pPr algn="r" rtl="1">
              <a:defRPr sz="2400" b="1">
                <a:solidFill>
                  <a:srgbClr val="12183F"/>
                </a:solidFill>
                <a:latin typeface="Readex Pro"/>
                <a:ea typeface="Readex Pro"/>
                <a:cs typeface="Readex Pro"/>
              </a:defRPr>
            </a:pPr>
            <a:r>
              <a:rPr lang="ar-SA" altLang="en-US" sz="2400" b="1">
                <a:solidFill>
                  <a:srgbClr val="12183F"/>
                </a:solidFill>
                <a:latin typeface="Readex Pro"/>
                <a:ea typeface="Readex Pro"/>
                <a:cs typeface="Readex Pro"/>
              </a:rPr>
              <a:t>Open WebUI — منصة المحادثة</a:t>
            </a:r>
          </a:p>
        </p:txBody>
      </p:sp>
      <p:sp>
        <p:nvSpPr>
          <p:cNvPr id="922" name="text-cnwdul-12">
            <a:extLst>
              <a:ext uri="{FF2B5EF4-FFF2-40B4-BE49-F238E27FC236}">
                <a16:creationId xmlns:a16="http://schemas.microsoft.com/office/drawing/2014/main" id="{9FACE340-2158-4123-AB0E-A5B4CFF18622}"/>
              </a:ext>
            </a:extLst>
          </p:cNvPr>
          <p:cNvSpPr>
            <a:spLocks noGrp="1"/>
          </p:cNvSpPr>
          <p:nvPr/>
        </p:nvSpPr>
        <p:spPr>
          <a:xfrm>
            <a:off x="1428750" y="7086600"/>
            <a:ext cx="7667625" cy="504825"/>
          </a:xfrm>
          <a:prstGeom prst="rect">
            <a:avLst/>
          </a:prstGeom>
          <a:noFill/>
          <a:ln w="0">
            <a:noFill/>
          </a:ln>
        </p:spPr>
        <p:txBody>
          <a:bodyPr wrap="square" lIns="0" tIns="0" rIns="0" bIns="0" anchor="t">
            <a:noAutofit/>
          </a:bodyPr>
          <a:lstStyle/>
          <a:p>
            <a:pPr algn="l">
              <a:defRPr sz="2100" b="0">
                <a:solidFill>
                  <a:srgbClr val="6150EA"/>
                </a:solidFill>
                <a:latin typeface="Readex Pro"/>
                <a:ea typeface="Readex Pro"/>
                <a:cs typeface="Readex Pro"/>
              </a:defRPr>
            </a:pPr>
            <a:r>
              <a:rPr sz="2100" b="0">
                <a:solidFill>
                  <a:srgbClr val="6150EA"/>
                </a:solidFill>
                <a:latin typeface="Readex Pro"/>
                <a:ea typeface="Readex Pro"/>
                <a:cs typeface="Readex Pro"/>
                <a:hlinkClick r:id="rId9"/>
              </a:rPr>
              <a:t>docs.openwebui.com/</a:t>
            </a:r>
          </a:p>
        </p:txBody>
      </p:sp>
      <p:sp>
        <p:nvSpPr>
          <p:cNvPr id="923" name="text-cnwdul-13">
            <a:extLst>
              <a:ext uri="{FF2B5EF4-FFF2-40B4-BE49-F238E27FC236}">
                <a16:creationId xmlns:a16="http://schemas.microsoft.com/office/drawing/2014/main" id="{7F9B10BA-8510-40C6-9D7D-8AF47EAA6C9B}"/>
              </a:ext>
            </a:extLst>
          </p:cNvPr>
          <p:cNvSpPr>
            <a:spLocks noGrp="1"/>
          </p:cNvSpPr>
          <p:nvPr/>
        </p:nvSpPr>
        <p:spPr>
          <a:xfrm>
            <a:off x="9525000" y="8001000"/>
            <a:ext cx="7048500" cy="523875"/>
          </a:xfrm>
          <a:prstGeom prst="rect">
            <a:avLst/>
          </a:prstGeom>
          <a:noFill/>
          <a:ln w="0">
            <a:noFill/>
          </a:ln>
        </p:spPr>
        <p:txBody>
          <a:bodyPr wrap="square" lIns="0" tIns="0" rIns="0" bIns="0" anchor="t">
            <a:noAutofit/>
          </a:bodyPr>
          <a:lstStyle/>
          <a:p>
            <a:pPr algn="r" rtl="1">
              <a:defRPr sz="2400" b="1">
                <a:solidFill>
                  <a:srgbClr val="12183F"/>
                </a:solidFill>
                <a:latin typeface="Readex Pro"/>
                <a:ea typeface="Readex Pro"/>
                <a:cs typeface="Readex Pro"/>
              </a:defRPr>
            </a:pPr>
            <a:r>
              <a:rPr lang="ar-SA" altLang="en-US" sz="2400" b="1">
                <a:solidFill>
                  <a:srgbClr val="12183F"/>
                </a:solidFill>
                <a:latin typeface="Readex Pro"/>
                <a:ea typeface="Readex Pro"/>
                <a:cs typeface="Readex Pro"/>
              </a:rPr>
              <a:t>بيان السُّنّة — مستودع الفريق</a:t>
            </a:r>
          </a:p>
        </p:txBody>
      </p:sp>
      <p:sp>
        <p:nvSpPr>
          <p:cNvPr id="924" name="text-cnwdul-14">
            <a:extLst>
              <a:ext uri="{FF2B5EF4-FFF2-40B4-BE49-F238E27FC236}">
                <a16:creationId xmlns:a16="http://schemas.microsoft.com/office/drawing/2014/main" id="{EB4647CE-9BD1-46F7-93DD-CFD05DF270B8}"/>
              </a:ext>
            </a:extLst>
          </p:cNvPr>
          <p:cNvSpPr>
            <a:spLocks noGrp="1"/>
          </p:cNvSpPr>
          <p:nvPr/>
        </p:nvSpPr>
        <p:spPr>
          <a:xfrm>
            <a:off x="1428750" y="8039100"/>
            <a:ext cx="7667625" cy="504825"/>
          </a:xfrm>
          <a:prstGeom prst="rect">
            <a:avLst/>
          </a:prstGeom>
          <a:noFill/>
          <a:ln w="0">
            <a:noFill/>
          </a:ln>
        </p:spPr>
        <p:txBody>
          <a:bodyPr wrap="square" lIns="0" tIns="0" rIns="0" bIns="0" anchor="t">
            <a:noAutofit/>
          </a:bodyPr>
          <a:lstStyle/>
          <a:p>
            <a:pPr algn="l">
              <a:defRPr sz="2100" b="0">
                <a:solidFill>
                  <a:srgbClr val="6150EA"/>
                </a:solidFill>
                <a:latin typeface="Readex Pro"/>
                <a:ea typeface="Readex Pro"/>
                <a:cs typeface="Readex Pro"/>
              </a:defRPr>
            </a:pPr>
            <a:r>
              <a:rPr sz="2100" b="0">
                <a:solidFill>
                  <a:srgbClr val="6150EA"/>
                </a:solidFill>
                <a:latin typeface="Readex Pro"/>
                <a:ea typeface="Readex Pro"/>
                <a:cs typeface="Readex Pro"/>
                <a:hlinkClick r:id="rId10"/>
              </a:rPr>
              <a:t>github.com/talhodhud/Hadith</a:t>
            </a:r>
          </a:p>
        </p:txBody>
      </p:sp>
      <p:sp>
        <p:nvSpPr>
          <p:cNvPr id="925" name="text-cnwdul-15">
            <a:extLst>
              <a:ext uri="{FF2B5EF4-FFF2-40B4-BE49-F238E27FC236}">
                <a16:creationId xmlns:a16="http://schemas.microsoft.com/office/drawing/2014/main" id="{FCE8D6A8-86D3-44FA-A7A1-2865A895B89B}"/>
              </a:ext>
            </a:extLst>
          </p:cNvPr>
          <p:cNvSpPr>
            <a:spLocks noGrp="1"/>
          </p:cNvSpPr>
          <p:nvPr/>
        </p:nvSpPr>
        <p:spPr>
          <a:xfrm>
            <a:off x="1524000" y="9429750"/>
            <a:ext cx="15049500" cy="381000"/>
          </a:xfrm>
          <a:prstGeom prst="rect">
            <a:avLst/>
          </a:prstGeom>
          <a:noFill/>
          <a:ln w="0">
            <a:noFill/>
          </a:ln>
        </p:spPr>
        <p:txBody>
          <a:bodyPr wrap="square" lIns="0" tIns="0" rIns="0" bIns="0" anchor="t">
            <a:noAutofit/>
          </a:bodyPr>
          <a:lstStyle/>
          <a:p>
            <a:pPr algn="r" rtl="1">
              <a:defRPr sz="1800" b="0">
                <a:solidFill>
                  <a:srgbClr val="323D68"/>
                </a:solidFill>
                <a:latin typeface="Readex Pro"/>
                <a:ea typeface="Readex Pro"/>
                <a:cs typeface="Readex Pro"/>
              </a:defRPr>
            </a:pPr>
            <a:r>
              <a:rPr lang="ar-SA" altLang="en-US" sz="1800" b="0">
                <a:solidFill>
                  <a:srgbClr val="323D68"/>
                </a:solidFill>
                <a:latin typeface="Readex Pro"/>
                <a:ea typeface="Readex Pro"/>
                <a:cs typeface="Readex Pro"/>
              </a:rPr>
              <a:t>الهوية والشعارات من قالب التحدي المرفق؛ صور الواجهة من النموذج المحلي</a:t>
            </a:r>
          </a:p>
        </p:txBody>
      </p:sp>
    </p:spTree>
    <p:extLst>
      <p:ext uri="{BB962C8B-B14F-4D97-AF65-F5344CB8AC3E}">
        <p14:creationId xmlns:p14="http://schemas.microsoft.com/office/powerpoint/2010/main" val="1055686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Google Shape;898;p29">
            <a:extLst>
              <a:ext uri="{FF2B5EF4-FFF2-40B4-BE49-F238E27FC236}">
                <a16:creationId xmlns:a16="http://schemas.microsoft.com/office/drawing/2014/main" id="{A01D0C21-801A-495A-B1D4-290F27336A06}"/>
              </a:ext>
            </a:extLst>
          </p:cNvPr>
          <p:cNvSpPr>
            <a:spLocks noGrp="1"/>
          </p:cNvSpPr>
          <p:nvPr>
            <p:ph type="sldNum" idx="12"/>
          </p:nvPr>
        </p:nvSpPr>
        <p:spPr>
          <a:xfrm>
            <a:off x="1066800" y="9467850"/>
            <a:ext cx="952500" cy="400050"/>
          </a:xfrm>
          <a:prstGeom prst="rect">
            <a:avLst/>
          </a:prstGeom>
          <a:noFill/>
          <a:ln>
            <a:noFill/>
          </a:ln>
        </p:spPr>
        <p:txBody>
          <a:bodyPr spcFirstLastPara="1" wrap="square" lIns="0" tIns="0" rIns="0" bIns="0" anchor="t">
            <a:noAutofit/>
          </a:bodyPr>
          <a:lstStyle/>
          <a:p>
            <a:pPr marL="0" lvl="0" indent="0" algn="l">
              <a:spcBef>
                <a:spcPts val="0"/>
              </a:spcBef>
              <a:spcAft>
                <a:spcPts val="0"/>
              </a:spcAft>
              <a:buNone/>
            </a:pPr>
            <a:fld id="{0BB18BA8-60F4-C50D-CD9B-1BB87D3E8506}" type="slidenum">
              <a:rPr sz="1800">
                <a:solidFill>
                  <a:srgbClr val="8E99CC"/>
                </a:solidFill>
                <a:latin typeface="Readex Pro"/>
                <a:ea typeface="Readex Pro"/>
                <a:cs typeface="Readex Pro"/>
              </a:rPr>
              <a:t>22</a:t>
            </a:fld>
            <a:endParaRPr/>
          </a:p>
        </p:txBody>
      </p:sp>
      <p:pic>
        <p:nvPicPr>
          <p:cNvPr id="907" name="Google Shape;899;p29"/>
          <p:cNvPicPr>
            <a:picLocks noChangeAspect="1"/>
          </p:cNvPicPr>
          <p:nvPr/>
        </p:nvPicPr>
        <p:blipFill>
          <a:blip r:embed="rId3">
            <a:alphaModFix/>
          </a:blip>
          <a:stretch>
            <a:fillRect/>
          </a:stretch>
        </p:blipFill>
        <p:spPr>
          <a:xfrm>
            <a:off x="0" y="0"/>
            <a:ext cx="18288000" cy="10287000"/>
          </a:xfrm>
          <a:prstGeom prst="rect">
            <a:avLst/>
          </a:prstGeom>
          <a:ln>
            <a:noFill/>
          </a:ln>
        </p:spPr>
      </p:pic>
      <p:pic>
        <p:nvPicPr>
          <p:cNvPr id="908" name="Google Shape;900;p29"/>
          <p:cNvPicPr>
            <a:picLocks noChangeAspect="1"/>
          </p:cNvPicPr>
          <p:nvPr/>
        </p:nvPicPr>
        <p:blipFill rotWithShape="1">
          <a:blip r:embed="rId4">
            <a:alphaModFix/>
          </a:blip>
          <a:srcRect/>
          <a:stretch/>
        </p:blipFill>
        <p:spPr>
          <a:xfrm>
            <a:off x="1066800" y="693967"/>
            <a:ext cx="3429002" cy="879015"/>
          </a:xfrm>
          <a:prstGeom prst="rect">
            <a:avLst/>
          </a:prstGeom>
          <a:ln>
            <a:noFill/>
          </a:ln>
        </p:spPr>
      </p:pic>
      <p:sp>
        <p:nvSpPr>
          <p:cNvPr id="901" name="text-a42dzf-1">
            <a:extLst>
              <a:ext uri="{FF2B5EF4-FFF2-40B4-BE49-F238E27FC236}">
                <a16:creationId xmlns:a16="http://schemas.microsoft.com/office/drawing/2014/main" id="{76F73B1A-9C60-4364-BF73-E6FF1C705F52}"/>
              </a:ext>
            </a:extLst>
          </p:cNvPr>
          <p:cNvSpPr>
            <a:spLocks noGrp="1"/>
          </p:cNvSpPr>
          <p:nvPr/>
        </p:nvSpPr>
        <p:spPr>
          <a:xfrm>
            <a:off x="13049250" y="857250"/>
            <a:ext cx="3619500" cy="361950"/>
          </a:xfrm>
          <a:prstGeom prst="rect">
            <a:avLst/>
          </a:prstGeom>
          <a:noFill/>
          <a:ln w="0">
            <a:noFill/>
          </a:ln>
        </p:spPr>
        <p:txBody>
          <a:bodyPr wrap="square" lIns="0" tIns="0" rIns="0" bIns="0" anchor="t">
            <a:noAutofit/>
          </a:bodyPr>
          <a:lstStyle/>
          <a:p>
            <a:pPr algn="r" rtl="1">
              <a:defRPr sz="1800" b="0">
                <a:solidFill>
                  <a:srgbClr val="2EF2C2"/>
                </a:solidFill>
                <a:latin typeface="Readex Pro"/>
                <a:ea typeface="Readex Pro"/>
                <a:cs typeface="Readex Pro"/>
              </a:defRPr>
            </a:pPr>
            <a:r>
              <a:rPr lang="ar-SA" altLang="en-US" sz="1800" b="0">
                <a:solidFill>
                  <a:srgbClr val="2EF2C2"/>
                </a:solidFill>
                <a:latin typeface="Readex Pro"/>
                <a:ea typeface="Readex Pro"/>
                <a:cs typeface="Readex Pro"/>
              </a:rPr>
              <a:t>ملحق ٤ — دليل قابل لإعادة الفحص</a:t>
            </a:r>
          </a:p>
        </p:txBody>
      </p:sp>
      <p:sp>
        <p:nvSpPr>
          <p:cNvPr id="902" name="slide-title">
            <a:extLst>
              <a:ext uri="{FF2B5EF4-FFF2-40B4-BE49-F238E27FC236}">
                <a16:creationId xmlns:a16="http://schemas.microsoft.com/office/drawing/2014/main" id="{455EB70B-0FCF-4506-9E01-1C85AC2C6FB0}"/>
              </a:ext>
            </a:extLst>
          </p:cNvPr>
          <p:cNvSpPr>
            <a:spLocks noGrp="1"/>
          </p:cNvSpPr>
          <p:nvPr/>
        </p:nvSpPr>
        <p:spPr>
          <a:xfrm>
            <a:off x="1238250" y="1619250"/>
            <a:ext cx="15430500" cy="952500"/>
          </a:xfrm>
          <a:prstGeom prst="rect">
            <a:avLst/>
          </a:prstGeom>
          <a:noFill/>
          <a:ln w="0">
            <a:noFill/>
          </a:ln>
        </p:spPr>
        <p:txBody>
          <a:bodyPr wrap="square" lIns="0" tIns="0" rIns="0" bIns="0" anchor="t">
            <a:noAutofit/>
          </a:bodyPr>
          <a:lstStyle/>
          <a:p>
            <a:pPr algn="r" rtl="1">
              <a:defRPr sz="4500" b="1">
                <a:solidFill>
                  <a:srgbClr val="F2F4FF"/>
                </a:solidFill>
                <a:latin typeface="Readex Pro"/>
                <a:ea typeface="Readex Pro"/>
                <a:cs typeface="Readex Pro"/>
              </a:defRPr>
            </a:pPr>
            <a:r>
              <a:rPr lang="ar-SA" altLang="en-US" sz="4500" b="1">
                <a:solidFill>
                  <a:srgbClr val="F2F4FF"/>
                </a:solidFill>
                <a:latin typeface="Readex Pro"/>
                <a:ea typeface="Readex Pro"/>
                <a:cs typeface="Readex Pro"/>
              </a:rPr>
              <a:t>النص الذي بُني عليه مثال الإسناد</a:t>
            </a:r>
          </a:p>
        </p:txBody>
      </p:sp>
      <p:sp>
        <p:nvSpPr>
          <p:cNvPr id="903" name="text-a42dzf-3">
            <a:extLst>
              <a:ext uri="{FF2B5EF4-FFF2-40B4-BE49-F238E27FC236}">
                <a16:creationId xmlns:a16="http://schemas.microsoft.com/office/drawing/2014/main" id="{C60A3ED1-BBEE-4627-B7CB-521B2BED8358}"/>
              </a:ext>
            </a:extLst>
          </p:cNvPr>
          <p:cNvSpPr>
            <a:spLocks noGrp="1"/>
          </p:cNvSpPr>
          <p:nvPr/>
        </p:nvSpPr>
        <p:spPr>
          <a:xfrm>
            <a:off x="1619250" y="3619500"/>
            <a:ext cx="14859000" cy="3333750"/>
          </a:xfrm>
          <a:prstGeom prst="rect">
            <a:avLst/>
          </a:prstGeom>
          <a:noFill/>
          <a:ln w="0">
            <a:noFill/>
          </a:ln>
        </p:spPr>
        <p:txBody>
          <a:bodyPr wrap="square" lIns="0" tIns="0" rIns="0" bIns="0" anchor="t">
            <a:noAutofit/>
          </a:bodyPr>
          <a:lstStyle/>
          <a:p>
            <a:pPr algn="r" rtl="1">
              <a:defRPr sz="3000" b="0">
                <a:solidFill>
                  <a:srgbClr val="F2F4FF"/>
                </a:solidFill>
                <a:latin typeface="Readex Pro"/>
                <a:ea typeface="Readex Pro"/>
                <a:cs typeface="Readex Pro"/>
              </a:defRPr>
            </a:pPr>
            <a:r>
              <a:rPr lang="ar-SA" altLang="en-US" sz="3000" b="0">
                <a:solidFill>
                  <a:srgbClr val="F2F4FF"/>
                </a:solidFill>
                <a:latin typeface="Readex Pro"/>
                <a:ea typeface="Readex Pro"/>
                <a:cs typeface="Readex Pro"/>
              </a:rPr>
              <a:t>«وَحَدَّثَنَا مُحَمَّدُ بْنُ عَبَّادٍ، حَدَّثَنَا سُفْيَانُ، عَنْ عَمْرٍو، ح</a:t>
            </a:r>
          </a:p>
          <a:p>
            <a:pPr algn="r" rtl="1">
              <a:defRPr sz="3000" b="0">
                <a:solidFill>
                  <a:srgbClr val="F2F4FF"/>
                </a:solidFill>
                <a:latin typeface="Readex Pro"/>
                <a:ea typeface="Readex Pro"/>
                <a:cs typeface="Readex Pro"/>
              </a:defRPr>
            </a:pPr>
            <a:r>
              <a:rPr lang="ar-SA" altLang="en-US" sz="3000" b="0">
                <a:solidFill>
                  <a:srgbClr val="F2F4FF"/>
                </a:solidFill>
                <a:latin typeface="Readex Pro"/>
                <a:ea typeface="Readex Pro"/>
                <a:cs typeface="Readex Pro"/>
              </a:rPr>
              <a:t>وَحَدَّثَنَا إِسْحَاقُ بْنُ إِبْرَاهِيمَ، وَابْنُ أَبِي خَلَفٍ عَنْ زَكَرِيَّاءَ بْنِ عَدِيٍّ،</a:t>
            </a:r>
          </a:p>
          <a:p>
            <a:pPr algn="r" rtl="1">
              <a:defRPr sz="3000" b="0">
                <a:solidFill>
                  <a:srgbClr val="F2F4FF"/>
                </a:solidFill>
                <a:latin typeface="Readex Pro"/>
                <a:ea typeface="Readex Pro"/>
                <a:cs typeface="Readex Pro"/>
              </a:defRPr>
            </a:pPr>
            <a:r>
              <a:rPr lang="ar-SA" altLang="en-US" sz="3000" b="0">
                <a:solidFill>
                  <a:srgbClr val="F2F4FF"/>
                </a:solidFill>
                <a:latin typeface="Readex Pro"/>
                <a:ea typeface="Readex Pro"/>
                <a:cs typeface="Readex Pro"/>
              </a:rPr>
              <a:t>أَخْبَرَنَا عُبَيْدُ اللَّهِ، عَنْ زَيْدِ بْنِ أَبِي أُنَيْسَةَ،</a:t>
            </a:r>
          </a:p>
          <a:p>
            <a:pPr algn="r" rtl="1">
              <a:defRPr sz="3000" b="0">
                <a:solidFill>
                  <a:srgbClr val="F2F4FF"/>
                </a:solidFill>
                <a:latin typeface="Readex Pro"/>
                <a:ea typeface="Readex Pro"/>
                <a:cs typeface="Readex Pro"/>
              </a:defRPr>
            </a:pPr>
            <a:r>
              <a:rPr lang="ar-SA" altLang="en-US" sz="3000" b="0">
                <a:solidFill>
                  <a:srgbClr val="F2F4FF"/>
                </a:solidFill>
                <a:latin typeface="Readex Pro"/>
                <a:ea typeface="Readex Pro"/>
                <a:cs typeface="Readex Pro"/>
              </a:rPr>
              <a:t>كِلاَهُمَا عَنْ سَعِيدِ بْنِ أَبِي بُرْدَةَ، عَنْ أَبِيهِ، عَنْ جَدِّهِ،</a:t>
            </a:r>
          </a:p>
          <a:p>
            <a:pPr algn="r" rtl="1">
              <a:defRPr sz="3000" b="0">
                <a:solidFill>
                  <a:srgbClr val="F2F4FF"/>
                </a:solidFill>
                <a:latin typeface="Readex Pro"/>
                <a:ea typeface="Readex Pro"/>
                <a:cs typeface="Readex Pro"/>
              </a:defRPr>
            </a:pPr>
            <a:r>
              <a:rPr lang="ar-SA" altLang="en-US" sz="3000" b="0">
                <a:solidFill>
                  <a:srgbClr val="F2F4FF"/>
                </a:solidFill>
                <a:latin typeface="Readex Pro"/>
                <a:ea typeface="Readex Pro"/>
                <a:cs typeface="Readex Pro"/>
              </a:rPr>
              <a:t>عَنِ النَّبِيِّ صلى الله عليه وسلم»</a:t>
            </a:r>
          </a:p>
        </p:txBody>
      </p:sp>
      <p:sp>
        <p:nvSpPr>
          <p:cNvPr id="904" name="text-a42dzf-4">
            <a:extLst>
              <a:ext uri="{FF2B5EF4-FFF2-40B4-BE49-F238E27FC236}">
                <a16:creationId xmlns:a16="http://schemas.microsoft.com/office/drawing/2014/main" id="{18FAC5D7-1D60-4489-8E14-59C73E96A1ED}"/>
              </a:ext>
            </a:extLst>
          </p:cNvPr>
          <p:cNvSpPr>
            <a:spLocks noGrp="1"/>
          </p:cNvSpPr>
          <p:nvPr/>
        </p:nvSpPr>
        <p:spPr>
          <a:xfrm>
            <a:off x="1809750" y="7620000"/>
            <a:ext cx="14668500" cy="619125"/>
          </a:xfrm>
          <a:prstGeom prst="rect">
            <a:avLst/>
          </a:prstGeom>
          <a:noFill/>
          <a:ln w="0">
            <a:noFill/>
          </a:ln>
        </p:spPr>
        <p:txBody>
          <a:bodyPr wrap="square" lIns="0" tIns="0" rIns="0" bIns="0" anchor="t">
            <a:noAutofit/>
          </a:bodyPr>
          <a:lstStyle/>
          <a:p>
            <a:pPr algn="ctr">
              <a:defRPr sz="2775" b="0">
                <a:solidFill>
                  <a:srgbClr val="2EF2C2"/>
                </a:solidFill>
                <a:latin typeface="Readex Pro"/>
                <a:ea typeface="Readex Pro"/>
                <a:cs typeface="Readex Pro"/>
              </a:defRPr>
            </a:pPr>
            <a:r>
              <a:rPr sz="2775" b="0">
                <a:solidFill>
                  <a:srgbClr val="2EF2C2"/>
                </a:solidFill>
                <a:latin typeface="Readex Pro"/>
                <a:ea typeface="Readex Pro"/>
                <a:cs typeface="Readex Pro"/>
              </a:rPr>
              <a:t>itqan:muslim:32:8:6900c9057c27</a:t>
            </a:r>
          </a:p>
        </p:txBody>
      </p:sp>
      <p:sp>
        <p:nvSpPr>
          <p:cNvPr id="905" name="text-a42dzf-5">
            <a:extLst>
              <a:ext uri="{FF2B5EF4-FFF2-40B4-BE49-F238E27FC236}">
                <a16:creationId xmlns:a16="http://schemas.microsoft.com/office/drawing/2014/main" id="{A1FF78CB-856F-45EA-80F1-7763A17DFDFB}"/>
              </a:ext>
            </a:extLst>
          </p:cNvPr>
          <p:cNvSpPr>
            <a:spLocks noGrp="1"/>
          </p:cNvSpPr>
          <p:nvPr/>
        </p:nvSpPr>
        <p:spPr>
          <a:xfrm>
            <a:off x="1619250" y="8620125"/>
            <a:ext cx="14859000" cy="714375"/>
          </a:xfrm>
          <a:prstGeom prst="rect">
            <a:avLst/>
          </a:prstGeom>
          <a:noFill/>
          <a:ln w="0">
            <a:noFill/>
          </a:ln>
        </p:spPr>
        <p:txBody>
          <a:bodyPr wrap="square" lIns="0" tIns="0" rIns="0" bIns="0" anchor="t">
            <a:noAutofit/>
          </a:bodyPr>
          <a:lstStyle/>
          <a:p>
            <a:pPr algn="ctr" rtl="1">
              <a:defRPr sz="2250" b="0">
                <a:solidFill>
                  <a:srgbClr val="CBCFE6"/>
                </a:solidFill>
                <a:latin typeface="Readex Pro"/>
                <a:ea typeface="Readex Pro"/>
                <a:cs typeface="Readex Pro"/>
              </a:defRPr>
            </a:pPr>
            <a:r>
              <a:rPr lang="ar-SA" altLang="en-US" sz="2250" b="0">
                <a:solidFill>
                  <a:srgbClr val="CBCFE6"/>
                </a:solidFill>
                <a:latin typeface="Readex Pro"/>
                <a:ea typeface="Readex Pro"/>
                <a:cs typeface="Readex Pro"/>
              </a:rPr>
              <a:t>المعرف موضع داخل نسخة البيانات؛ لا يُقدَّم باعتباره ترقيمًا موحّدًا لكل الطبعات</a:t>
            </a:r>
          </a:p>
        </p:txBody>
      </p:sp>
    </p:spTree>
    <p:extLst>
      <p:ext uri="{BB962C8B-B14F-4D97-AF65-F5344CB8AC3E}">
        <p14:creationId xmlns:p14="http://schemas.microsoft.com/office/powerpoint/2010/main" val="112445206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3779</Words>
  <Application>Microsoft Office PowerPoint</Application>
  <DocSecurity>0</DocSecurity>
  <PresentationFormat>Custom</PresentationFormat>
  <Paragraphs>549</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Readex Pro Light</vt:lpstr>
      <vt:lpstr>Readex Pro</vt:lpstr>
      <vt:lpstr>Arial</vt:lpstr>
      <vt:lpstr>Office Theme</vt:lpstr>
      <vt:lpstr>بيان السُّنّة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Mohd Al-bishtawi</cp:lastModifiedBy>
  <cp:revision>1</cp:revision>
  <dcterms:created xsi:type="dcterms:W3CDTF">2026-10-06T07:44:09Z</dcterms:created>
  <dcterms:modified xsi:type="dcterms:W3CDTF">2026-10-06T07:55:43Z</dcterms:modified>
</cp:coreProperties>
</file>